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Vai trò</c:v>
                </c:pt>
              </c:strCache>
            </c:strRef>
          </c:tx>
          <c:spPr>
            <a:solidFill>
              <a:schemeClr val="accent1"/>
            </a:solidFill>
            <a:ln w="9525" cap="flat">
              <a:solidFill>
                <a:srgbClr val="F9F9F9"/>
              </a:solidFill>
              <a:prstDash val="solid"/>
              <a:round/>
            </a:ln>
            <a:effectLst/>
          </c:spPr>
          <c:dPt>
            <c:idx val="0"/>
            <c:bubble3D val="0"/>
            <c:spPr>
              <a:solidFill>
                <a:srgbClr val="0B2E4F"/>
              </a:solidFill>
              <a:effectLst/>
            </c:spPr>
          </c:dPt>
          <c:dPt>
            <c:idx val="1"/>
            <c:bubble3D val="0"/>
            <c:spPr>
              <a:solidFill>
                <a:srgbClr val="0A6EBD"/>
              </a:solidFill>
              <a:effectLst/>
            </c:spPr>
          </c:dPt>
          <c:dPt>
            <c:idx val="2"/>
            <c:bubble3D val="0"/>
            <c:spPr>
              <a:solidFill>
                <a:srgbClr val="6FA8DC"/>
              </a:solidFill>
              <a:effectLst/>
            </c:spPr>
          </c:dPt>
          <c:dPt>
            <c:idx val="3"/>
            <c:bubble3D val="0"/>
            <c:spPr>
              <a:solidFill>
                <a:srgbClr val="E8590C"/>
              </a:solidFill>
              <a:effectLst/>
            </c:spPr>
          </c:dPt>
          <c:dLbls>
            <c:dLbl>
              <c:idx val="0"/>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Nhân viên order</c:v>
                </c:pt>
                <c:pt idx="1">
                  <c:v>Thu ngân</c:v>
                </c:pt>
                <c:pt idx="2">
                  <c:v>Nhân viên bếp</c:v>
                </c:pt>
                <c:pt idx="3">
                  <c:v>Chủ/Quản lý</c:v>
                </c:pt>
              </c:strCache>
            </c:strRef>
          </c:cat>
          <c:val>
            <c:numRef>
              <c:f>Sheet1!$B$2:$B$5</c:f>
              <c:numCache>
                <c:ptCount val="4"/>
                <c:pt idx="0">
                  <c:v>20</c:v>
                </c:pt>
                <c:pt idx="1">
                  <c:v>14</c:v>
                </c:pt>
                <c:pt idx="2">
                  <c:v>10</c:v>
                </c:pt>
                <c:pt idx="3">
                  <c:v>7</c:v>
                </c:pt>
              </c:numCache>
            </c:numRef>
          </c:val>
        </c:ser>
        <c:firstSliceAng val="0"/>
        <c:holeSize val="58"/>
      </c:doughnutChart>
      <c:spPr>
        <a:noFill/>
        <a:ln>
          <a:noFill/>
        </a:ln>
        <a:effectLst/>
      </c:spPr>
    </c:plotArea>
    <c:legend>
      <c:legendPos val="r"/>
      <c:overlay val="0"/>
      <c:txPr>
        <a:bodyPr/>
        <a:lstStyle/>
        <a:p>
          <a:pPr>
            <a:defRPr sz="1200">
              <a:solidFill>
                <a:srgbClr val="1F2933"/>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Tỷ lệ</c:v>
                </c:pt>
              </c:strCache>
            </c:strRef>
          </c:tx>
          <c:spPr>
            <a:solidFill>
              <a:srgbClr val="0A6EBD"/>
            </a:solidFill>
            <a:effectLst/>
          </c:spPr>
          <c:invertIfNegative val="0"/>
          <c:dLbls>
            <c:numFmt formatCode="0&quot;%&quot;" sourceLinked="0"/>
            <c:txPr>
              <a:bodyPr/>
              <a:lstStyle/>
              <a:p>
                <a:pPr>
                  <a:defRPr b="1" i="0" strike="noStrike" sz="1300" u="none">
                    <a:solidFill>
                      <a:srgbClr val="0B2E4F"/>
                    </a:solidFill>
                    <a:latin typeface="Arial"/>
                  </a:defRPr>
                </a:pPr>
              </a:p>
            </c:txPr>
            <c:showLegendKey val="0"/>
            <c:showVal val="1"/>
            <c:showCatName val="0"/>
            <c:showSerName val="0"/>
            <c:showPercent val="0"/>
            <c:showBubbleSize val="0"/>
            <c:showLeaderLines val="0"/>
          </c:dLbls>
          <c:cat>
            <c:multiLvlStrRef>
              <c:f>Sheet1!$A$2:$A$7</c:f>
              <c:multiLvlStrCache>
                <c:ptCount val="6"/>
                <c:lvl>
                  <c:pt idx="0">
                    <c:v>Ghi order bằng sổ hoặc phiếu giấy (B1)</c:v>
                  </c:pt>
                  <c:pt idx="1">
                    <c:v>Trợ lý AI “rất cần” hoặc “cần” (G7)</c:v>
                  </c:pt>
                  <c:pt idx="2">
                    <c:v>Công thức chỉ ghi sổ tay hoặc nằm trong đầu bếp (E1)</c:v>
                  </c:pt>
                  <c:pt idx="3">
                    <c:v>Từng gặp khách báo đã trả QR nhưng chưa ghi nhận (C4)</c:v>
                  </c:pt>
                  <c:pt idx="4">
                    <c:v>Xác nhận QR bằng cách tự xem app ngân hàng (C3)</c:v>
                  </c:pt>
                  <c:pt idx="5">
                    <c:v>Cần giới hạn quyền xem dữ liệu theo vai trò (G6)</c:v>
                  </c:pt>
                </c:lvl>
              </c:multiLvlStrCache>
            </c:multiLvlStrRef>
          </c:cat>
          <c:val>
            <c:numRef>
              <c:f>Sheet1!$B$2:$B$7</c:f>
              <c:numCache>
                <c:formatCode>General</c:formatCode>
                <c:ptCount val="6"/>
                <c:pt idx="0">
                  <c:v>56</c:v>
                </c:pt>
                <c:pt idx="1">
                  <c:v>82</c:v>
                </c:pt>
                <c:pt idx="2">
                  <c:v>82</c:v>
                </c:pt>
                <c:pt idx="3">
                  <c:v>85</c:v>
                </c:pt>
                <c:pt idx="4">
                  <c:v>94</c:v>
                </c:pt>
                <c:pt idx="5">
                  <c:v>96</c:v>
                </c:pt>
              </c:numCache>
            </c:numRef>
          </c:val>
        </c:ser>
        <c:dLbls>
          <c:numFmt formatCode="0&quot;%&quot;" sourceLinked="0"/>
          <c:txPr>
            <a:bodyPr/>
            <a:lstStyle/>
            <a:p>
              <a:pPr>
                <a:defRPr b="1" i="0" strike="noStrike" sz="1300" u="none">
                  <a:solidFill>
                    <a:srgbClr val="0B2E4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Số FR</c:v>
                </c:pt>
              </c:strCache>
            </c:strRef>
          </c:tx>
          <c:spPr>
            <a:solidFill>
              <a:srgbClr val="0A6EBD"/>
            </a:solidFill>
            <a:effectLst/>
          </c:spPr>
          <c:invertIfNegative val="0"/>
          <c:dLbls>
            <c:numFmt formatCode="#,##0" sourceLinked="0"/>
            <c:txPr>
              <a:bodyPr/>
              <a:lstStyle/>
              <a:p>
                <a:pPr>
                  <a:defRPr b="1" i="0" strike="noStrike" sz="1400" u="none">
                    <a:solidFill>
                      <a:srgbClr val="0B2E4F"/>
                    </a:solidFill>
                    <a:latin typeface="Arial"/>
                  </a:defRPr>
                </a:pPr>
              </a:p>
            </c:txPr>
            <c:showLegendKey val="0"/>
            <c:showVal val="1"/>
            <c:showCatName val="0"/>
            <c:showSerName val="0"/>
            <c:showPercent val="0"/>
            <c:showBubbleSize val="0"/>
            <c:showLeaderLines val="0"/>
          </c:dLbls>
          <c:cat>
            <c:multiLvlStrRef>
              <c:f>Sheet1!$A$2:$A$7</c:f>
              <c:multiLvlStrCache>
                <c:ptCount val="6"/>
                <c:lvl>
                  <c:pt idx="0">
                    <c:v>Danh mục</c:v>
                  </c:pt>
                  <c:pt idx="1">
                    <c:v>Bán hàng</c:v>
                  </c:pt>
                  <c:pt idx="2">
                    <c:v>Kho</c:v>
                  </c:pt>
                  <c:pt idx="3">
                    <c:v>Báo cáo</c:v>
                  </c:pt>
                  <c:pt idx="4">
                    <c:v>Cài đặt</c:v>
                  </c:pt>
                  <c:pt idx="5">
                    <c:v>AI Assistant</c:v>
                  </c:pt>
                </c:lvl>
              </c:multiLvlStrCache>
            </c:multiLvlStrRef>
          </c:cat>
          <c:val>
            <c:numRef>
              <c:f>Sheet1!$B$2:$B$7</c:f>
              <c:numCache>
                <c:formatCode>General</c:formatCode>
                <c:ptCount val="6"/>
                <c:pt idx="0">
                  <c:v>28</c:v>
                </c:pt>
                <c:pt idx="1">
                  <c:v>29</c:v>
                </c:pt>
                <c:pt idx="2">
                  <c:v>14</c:v>
                </c:pt>
                <c:pt idx="3">
                  <c:v>10</c:v>
                </c:pt>
                <c:pt idx="4">
                  <c:v>9</c:v>
                </c:pt>
                <c:pt idx="5">
                  <c:v>10</c:v>
                </c:pt>
              </c:numCache>
            </c:numRef>
          </c:val>
        </c:ser>
        <c:dLbls>
          <c:numFmt formatCode="#,##0" sourceLinked="0"/>
          <c:txPr>
            <a:bodyPr/>
            <a:lstStyle/>
            <a:p>
              <a:pPr>
                <a:defRPr b="1" i="0" strike="noStrike" sz="1400" u="none">
                  <a:solidFill>
                    <a:srgbClr val="0B2E4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Chào hội đồng, giới thiệu tên đề tài, ba thành viên và giảng viên hướng dẫn. Chỉ vào khung bên phải: toàn bộ đề tài xoay quanh một ý – chủ nhà hàng hỏi bằng tiếng Việt và nhận câu trả lời lấy từ dữ liệu kinh doanh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Nêu ba vấn đề (mục 1.2 báo cáo). Nhấn ý: dữ liệu đã có sẵn trong phần mềm bán hàng, cái thiếu là cách khai thác nhanh. Đó là lý do đề tài vừa làm phần nghiệp vụ, vừa thêm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Đọc nhanh MT1, MT2, MT6. Dừng ở MT3–MT5 (tô cam): đây là phần nghiên cứu chính. Nhấn các con số của MT5 vì cuối bài sẽ quay lại chúng trong kế hoạch thực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Phạm vi: một nhà hàng, ba vai trò, sáu nhóm chức năng. Giới thiệu phân công theo Bảng 1 của báo cáo; cả ba thành viên cùng tham gia kiểm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Bốn sản phẩm đều giải quyết tốt phần vận hành; khác biệt nằm ở dòng cuối. Lưu ý dùng đúng chữ 'chưa ghi nhận' theo thông tin công khai, không khẳng định họ không có. Sau đó chuyển sang khoảng trống nghiên cứu – đây là cơ sở cho bộ dữ liệu đánh giá (MT4).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51 phiếu hợp lệ, cơ cấu như biểu đồ. Nói rõ ngưỡng 30% để hội đồng thấy nhóm không lấy ý kiến lẻ làm yêu cầu. Chủ động nêu hạn chế mẫu thuận tiện và cách nhóm đối chiếu với báo cáo iPOS (mục 2.2.5–2.2.6).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Đi từ dưới lên: 96% cần phân quyền → thiết kế phân quyền và view riêng cho AI. 94% và 85% về QR → luồng webhook và đối soát. 82% công thức không ghi chép → quản lý công thức và trừ kho theo công thức. 0/17 theo dõi tồn → module kho theo lô. Nhắc: tỷ lệ mô tả vấn đề, không phải tỷ lệ đồng ý với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Hai luồng chính của mục 2.3. Ở luồng bán hàng, nhấn hai điểm: kho bị trừ ngay khi submit, và phiếu tạm tính không phải hóa đơn. Ở luồng kho, nhấn FIFO theo lô và kiểm kê cuối ngày. Luồng thanh toán QR có nhiều nhánh nên được tách riêng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Hùng.
Đi theo đường chính trước: Chờ xác nhận → webhook → Thành công → hóa đơn. Sau đó nhánh ngoại lệ: quá 10 phút thành Hết hạn; khách báo đã trả thì Chờ đối soát; Quản lý xác nhận hoặc chuyển Tranh chấp; từ Tranh chấp có thể mở lại thanh toán hoặc chốt thất thoát. Nguyên tắc: hệ thống không bao giờ tự xác nhận thanh toán chỉ dựa vào lời khai của khách. Căn cứ: 85% từng gặp giao dịch chưa ghi nhận (C4).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Tổng 100 FR theo Bảng 6; bán hàng và danh mục nhiều nhất vì chứa nhiều quy tắc ngoại lệ. Phân loại ưu tiên MoSCoW. Bên phải là 5 NFR tiêu biểu – NFR-06 là ràng buộc quan trọng nhất cho phần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Ba tác nhân người dùng và hai hệ thống ngoài. Nhấn quan hệ kế thừa: Quản lý làm được mọi việc của Thu ngân và Bếp. Nếu hội đồng hỏi chi tiết từng module, mở slide phụ lục.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Chọn 2–3 quy tắc để giải thích kỹ, ví dụ: vì sao cần phiên bản giá (đổi giá giữa tháng mà báo cáo tháng trước vẫn đúng), và vì sao Business Date không bắt đầu lúc 0 giờ (quán mở tới khuya). Các quy tắc còn lại chỉ lướt.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Hùng.
29 lớp chia 5 nhóm; module Báo cáo không có lớp riêng mà đọc từ các lớp khác. Dùng sơ đồ bán hàng bên phải để giải thích: ORDER có nhiều CHI_TIET_ORDER, nhiều lần thử thanh toán, tối đa một HOA_DON. Các sơ đồ còn lại ở phụ lục.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Ba tầng, client–server, backend chia module theo nghiệp vụ. Nhấn hai điểm tô cam: AI Assistant là một module trong backend, và tầng dữ liệu có ba view riêng cho ba vai trò. Model LLM đổi được qua cấu hình mà không đổi nghiệp vụ hay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Hùng.
Bốn nguyên tắc thiết kế ở mục 4.2. Điểm muốn nhấn là sổ cái kho: số tồn không bị ghi đè mà được suy ra từ các giao dịch, nên luôn truy ngược được vì sao tồn lại là con số đó. Kiểm kê cũng điều chỉnh bằng giao dịch, không sửa thẳng số tồn.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Hùng.
Đây là slide quan trọng nhất. Đi qua 6 bước theo SD-05. Dừng ở bước 4 (tô cam): SQL do LLM sinh ra không được chạy thẳng, luôn phải qua kiểm duyệt. Ví dụ bên dưới chỉ để minh họa. Quy tắc chọn biểu đồ cố định: theo thời gian dùng line, so sánh nhóm dùng bar, cơ cấu dùng doughnut, còn lại chỉ bảng (FR-AI-07).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Hùng.
Nguyên tắc: không tin vào một lớp duy nhất. Kể cả khi LLM sinh sai và qua được lớp kiểm duyệt, tài khoản CSDL vẫn chỉ đọc được đúng view của vai trò. Bên phải là 5 rủi ro ở Phụ lục 5 của báo cáo và cách xử lý tương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Hùng.
Ma trận rút gọn từ Bảng 38–39. Thu ngân không vào màn hình báo cáo, chỉ tra doanh thu và hóa đơn qua AI của mình; Bếp không thấy doanh thu hay giá vốn. Thao tác Quản lý làm theo quyền kế thừa vẫn ghi audit log đúng người thực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Khánh.
Phần này là cam kết cho giai đoạn sau, trình bày theo mục 5.2 và Phụ lục 4. Nhấn: câu trả lời chỉ tính là đúng khi cả bảng số liệu và phần diễn giải đều khớp đáp án. Cấu hình B là giả thuyết chính của nhóm: few-shot và chuẩn hóa tiếng Việt sẽ cải thiện rõ so với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Tổng kết những gì đã làm ở giai đoạn phân tích – thiết kế. Nêu thẳng các giới hạn: phạm vi nghiệp vụ, và hạn chế của mẫu khảo sát. Mức đáp ứng MT5 và MT6 chỉ kết luận được sau khi có kết quả thực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Minh.
Hai mốc đầu đã xong và là nội dung buổi hôm nay. Mốc xây dựng module đang thực hiện. Khung dưới là cam kết cụ thể cho buổi báo cáo tiếp theo, gắn với MT2, MT5, MT6.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Khi được hỏi chi tiết về sơ đồ, chuyển sang các slide phụ lục phía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nmh/work/Mac/NMHx/Personal/KLTN/docs/Images/image1.png">    </p:cNvPr>
          <p:cNvPicPr>
            <a:picLocks noChangeAspect="1"/>
          </p:cNvPicPr>
          <p:nvPr/>
        </p:nvPicPr>
        <p:blipFill>
          <a:blip r:embed="rId1"/>
          <a:stretch>
            <a:fillRect/>
          </a:stretch>
        </p:blipFill>
        <p:spPr>
          <a:xfrm>
            <a:off x="548640" y="502920"/>
            <a:ext cx="713232" cy="769035"/>
          </a:xfrm>
          <a:prstGeom prst="rect">
            <a:avLst/>
          </a:prstGeom>
        </p:spPr>
      </p:pic>
      <p:sp>
        <p:nvSpPr>
          <p:cNvPr id="3" name="Text 0"/>
          <p:cNvSpPr txBox="1"/>
          <p:nvPr/>
        </p:nvSpPr>
        <p:spPr>
          <a:xfrm>
            <a:off x="1417320" y="658368"/>
            <a:ext cx="4572000" cy="548640"/>
          </a:xfrm>
          <a:prstGeom prst="rect">
            <a:avLst/>
          </a:prstGeom>
          <a:noFill/>
          <a:ln/>
        </p:spPr>
        <p:txBody>
          <a:bodyPr wrap="square" lIns="0" tIns="0" rIns="0" bIns="0" rtlCol="0" anchor="t"/>
          <a:lstStyle/>
          <a:p>
            <a:pPr indent="0" marL="0">
              <a:buNone/>
            </a:pPr>
            <a:r>
              <a:rPr lang="en-US" sz="1200" b="1" dirty="0">
                <a:solidFill>
                  <a:srgbClr val="0B2E4F"/>
                </a:solidFill>
                <a:latin typeface="Arial" pitchFamily="34" charset="0"/>
                <a:ea typeface="Arial" pitchFamily="34" charset="-122"/>
                <a:cs typeface="Arial" pitchFamily="34" charset="-120"/>
              </a:rPr>
              <a:t>TRƯỜNG ĐẠI HỌC MỞ HÀ NỘI</a:t>
            </a:r>
            <a:endParaRPr lang="en-US" sz="1200" dirty="0"/>
          </a:p>
          <a:p>
            <a:pPr indent="0" marL="0">
              <a:buNone/>
            </a:pPr>
            <a:r>
              <a:rPr lang="en-US" sz="1200" dirty="0">
                <a:solidFill>
                  <a:srgbClr val="0B2E4F"/>
                </a:solidFill>
                <a:latin typeface="Arial" pitchFamily="34" charset="0"/>
                <a:ea typeface="Arial" pitchFamily="34" charset="-122"/>
                <a:cs typeface="Arial" pitchFamily="34" charset="-120"/>
              </a:rPr>
              <a:t>KHOA CÔNG NGHỆ THÔNG TIN</a:t>
            </a:r>
            <a:endParaRPr lang="en-US" sz="1200" dirty="0"/>
          </a:p>
        </p:txBody>
      </p:sp>
      <p:sp>
        <p:nvSpPr>
          <p:cNvPr id="4" name="Text 1"/>
          <p:cNvSpPr txBox="1"/>
          <p:nvPr/>
        </p:nvSpPr>
        <p:spPr>
          <a:xfrm>
            <a:off x="548640" y="1874520"/>
            <a:ext cx="6949440" cy="274320"/>
          </a:xfrm>
          <a:prstGeom prst="rect">
            <a:avLst/>
          </a:prstGeom>
          <a:noFill/>
          <a:ln/>
        </p:spPr>
        <p:txBody>
          <a:bodyPr wrap="square" lIns="0" tIns="0" rIns="0" bIns="0" rtlCol="0" anchor="t"/>
          <a:lstStyle/>
          <a:p>
            <a:pPr indent="0" marL="0">
              <a:buNone/>
            </a:pPr>
            <a:r>
              <a:rPr lang="en-US" sz="1100" b="1" spc="100" kern="0" dirty="0">
                <a:solidFill>
                  <a:srgbClr val="0A6EBD"/>
                </a:solidFill>
                <a:latin typeface="Arial" pitchFamily="34" charset="0"/>
                <a:ea typeface="Arial" pitchFamily="34" charset="-122"/>
                <a:cs typeface="Arial" pitchFamily="34" charset="-120"/>
              </a:rPr>
              <a:t>KHÓA LUẬN TỐT NGHIỆP ĐẠI HỌC  ·  NGÀNH CÔNG NGHỆ THÔNG TIN</a:t>
            </a:r>
            <a:endParaRPr lang="en-US" sz="1100" dirty="0"/>
          </a:p>
        </p:txBody>
      </p:sp>
      <p:sp>
        <p:nvSpPr>
          <p:cNvPr id="5" name="Text 2"/>
          <p:cNvSpPr txBox="1"/>
          <p:nvPr/>
        </p:nvSpPr>
        <p:spPr>
          <a:xfrm>
            <a:off x="548640" y="2240280"/>
            <a:ext cx="6949440" cy="1737360"/>
          </a:xfrm>
          <a:prstGeom prst="rect">
            <a:avLst/>
          </a:prstGeom>
          <a:noFill/>
          <a:ln/>
        </p:spPr>
        <p:txBody>
          <a:bodyPr wrap="square" lIns="0" tIns="0" rIns="0" bIns="0" rtlCol="0" anchor="t"/>
          <a:lstStyle/>
          <a:p>
            <a:pPr indent="0" marL="0">
              <a:buNone/>
            </a:pPr>
            <a:r>
              <a:rPr lang="en-US" sz="3600" b="1" dirty="0">
                <a:solidFill>
                  <a:srgbClr val="0B2E4F"/>
                </a:solidFill>
                <a:latin typeface="Arial" pitchFamily="34" charset="0"/>
                <a:ea typeface="Arial" pitchFamily="34" charset="-122"/>
                <a:cs typeface="Arial" pitchFamily="34" charset="-120"/>
              </a:rPr>
              <a:t>Hệ thống quản lý nhà hàng tích hợp AI hỗ trợ hoạt động kinh doanh</a:t>
            </a:r>
            <a:endParaRPr lang="en-US" sz="3600" dirty="0"/>
          </a:p>
        </p:txBody>
      </p:sp>
      <p:sp>
        <p:nvSpPr>
          <p:cNvPr id="6" name="Shape 3"/>
          <p:cNvSpPr/>
          <p:nvPr/>
        </p:nvSpPr>
        <p:spPr>
          <a:xfrm>
            <a:off x="548640" y="4343400"/>
            <a:ext cx="6766560" cy="0"/>
          </a:xfrm>
          <a:prstGeom prst="line">
            <a:avLst/>
          </a:prstGeom>
          <a:noFill/>
          <a:ln w="9525">
            <a:solidFill>
              <a:srgbClr val="D5DCE4"/>
            </a:solidFill>
            <a:prstDash val="solid"/>
          </a:ln>
        </p:spPr>
      </p:sp>
      <p:sp>
        <p:nvSpPr>
          <p:cNvPr id="7" name="Text 4"/>
          <p:cNvSpPr txBox="1"/>
          <p:nvPr/>
        </p:nvSpPr>
        <p:spPr>
          <a:xfrm>
            <a:off x="548640" y="4526280"/>
            <a:ext cx="3200400" cy="27432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Sinh viên thực hiện</a:t>
            </a:r>
            <a:endParaRPr lang="en-US" sz="1100" dirty="0"/>
          </a:p>
        </p:txBody>
      </p:sp>
      <p:sp>
        <p:nvSpPr>
          <p:cNvPr id="8" name="Text 5"/>
          <p:cNvSpPr txBox="1"/>
          <p:nvPr/>
        </p:nvSpPr>
        <p:spPr>
          <a:xfrm>
            <a:off x="548640" y="4828032"/>
            <a:ext cx="3200400" cy="914400"/>
          </a:xfrm>
          <a:prstGeom prst="rect">
            <a:avLst/>
          </a:prstGeom>
          <a:noFill/>
          <a:ln/>
        </p:spPr>
        <p:txBody>
          <a:bodyPr wrap="square" lIns="0" tIns="0" rIns="0" bIns="0" rtlCol="0" anchor="t"/>
          <a:lstStyle/>
          <a:p>
            <a:pPr indent="0" marL="0">
              <a:spcAft>
                <a:spcPts val="300"/>
              </a:spcAft>
              <a:buNone/>
            </a:pPr>
            <a:r>
              <a:rPr lang="en-US" sz="1500" b="1" dirty="0">
                <a:solidFill>
                  <a:srgbClr val="1F2933"/>
                </a:solidFill>
                <a:latin typeface="Arial" pitchFamily="34" charset="0"/>
                <a:ea typeface="Arial" pitchFamily="34" charset="-122"/>
                <a:cs typeface="Arial" pitchFamily="34" charset="-120"/>
              </a:rPr>
              <a:t>Lê Nam Khánh</a:t>
            </a:r>
            <a:endParaRPr lang="en-US" sz="1500" dirty="0"/>
          </a:p>
          <a:p>
            <a:pPr indent="0" marL="0">
              <a:spcAft>
                <a:spcPts val="300"/>
              </a:spcAft>
              <a:buNone/>
            </a:pPr>
            <a:r>
              <a:rPr lang="en-US" sz="1500" b="1" dirty="0">
                <a:solidFill>
                  <a:srgbClr val="1F2933"/>
                </a:solidFill>
                <a:latin typeface="Arial" pitchFamily="34" charset="0"/>
                <a:ea typeface="Arial" pitchFamily="34" charset="-122"/>
                <a:cs typeface="Arial" pitchFamily="34" charset="-120"/>
              </a:rPr>
              <a:t>Nguyễn Mạnh Hùng</a:t>
            </a:r>
            <a:endParaRPr lang="en-US" sz="1500" dirty="0"/>
          </a:p>
          <a:p>
            <a:pPr indent="0" marL="0">
              <a:spcAft>
                <a:spcPts val="300"/>
              </a:spcAft>
              <a:buNone/>
            </a:pPr>
            <a:r>
              <a:rPr lang="en-US" sz="1500" b="1" dirty="0">
                <a:solidFill>
                  <a:srgbClr val="1F2933"/>
                </a:solidFill>
                <a:latin typeface="Arial" pitchFamily="34" charset="0"/>
                <a:ea typeface="Arial" pitchFamily="34" charset="-122"/>
                <a:cs typeface="Arial" pitchFamily="34" charset="-120"/>
              </a:rPr>
              <a:t>Lê Nho Minh</a:t>
            </a:r>
            <a:endParaRPr lang="en-US" sz="1500" dirty="0"/>
          </a:p>
        </p:txBody>
      </p:sp>
      <p:sp>
        <p:nvSpPr>
          <p:cNvPr id="9" name="Text 6"/>
          <p:cNvSpPr txBox="1"/>
          <p:nvPr/>
        </p:nvSpPr>
        <p:spPr>
          <a:xfrm>
            <a:off x="4114800" y="4526280"/>
            <a:ext cx="3200400" cy="27432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Giảng viên hướng dẫn</a:t>
            </a:r>
            <a:endParaRPr lang="en-US" sz="1100" dirty="0"/>
          </a:p>
        </p:txBody>
      </p:sp>
      <p:sp>
        <p:nvSpPr>
          <p:cNvPr id="10" name="Text 7"/>
          <p:cNvSpPr txBox="1"/>
          <p:nvPr/>
        </p:nvSpPr>
        <p:spPr>
          <a:xfrm>
            <a:off x="4114800" y="4828032"/>
            <a:ext cx="3200400" cy="320040"/>
          </a:xfrm>
          <a:prstGeom prst="rect">
            <a:avLst/>
          </a:prstGeom>
          <a:noFill/>
          <a:ln/>
        </p:spPr>
        <p:txBody>
          <a:bodyPr wrap="square" lIns="0" tIns="0" rIns="0" bIns="0" rtlCol="0" anchor="t"/>
          <a:lstStyle/>
          <a:p>
            <a:pPr indent="0" marL="0">
              <a:buNone/>
            </a:pPr>
            <a:r>
              <a:rPr lang="en-US" sz="1500" b="1" dirty="0">
                <a:solidFill>
                  <a:srgbClr val="1F2933"/>
                </a:solidFill>
                <a:latin typeface="Arial" pitchFamily="34" charset="0"/>
                <a:ea typeface="Arial" pitchFamily="34" charset="-122"/>
                <a:cs typeface="Arial" pitchFamily="34" charset="-120"/>
              </a:rPr>
              <a:t>ThS. Trịnh Thị Xuân</a:t>
            </a:r>
            <a:endParaRPr lang="en-US" sz="1500" dirty="0"/>
          </a:p>
        </p:txBody>
      </p:sp>
      <p:sp>
        <p:nvSpPr>
          <p:cNvPr id="11" name="Text 8"/>
          <p:cNvSpPr txBox="1"/>
          <p:nvPr/>
        </p:nvSpPr>
        <p:spPr>
          <a:xfrm>
            <a:off x="4114800" y="5257800"/>
            <a:ext cx="3200400" cy="27432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Hà Nội, 2026</a:t>
            </a:r>
            <a:endParaRPr lang="en-US" sz="1200" dirty="0"/>
          </a:p>
        </p:txBody>
      </p:sp>
      <p:sp>
        <p:nvSpPr>
          <p:cNvPr id="12" name="Shape 9"/>
          <p:cNvSpPr/>
          <p:nvPr/>
        </p:nvSpPr>
        <p:spPr>
          <a:xfrm>
            <a:off x="8001000" y="0"/>
            <a:ext cx="4190695" cy="6858000"/>
          </a:xfrm>
          <a:prstGeom prst="rect">
            <a:avLst/>
          </a:prstGeom>
          <a:solidFill>
            <a:srgbClr val="0B2E4F"/>
          </a:solidFill>
          <a:ln/>
        </p:spPr>
      </p:sp>
      <p:sp>
        <p:nvSpPr>
          <p:cNvPr id="13" name="Text 10"/>
          <p:cNvSpPr txBox="1"/>
          <p:nvPr/>
        </p:nvSpPr>
        <p:spPr>
          <a:xfrm>
            <a:off x="8458200" y="822960"/>
            <a:ext cx="3230575" cy="274320"/>
          </a:xfrm>
          <a:prstGeom prst="rect">
            <a:avLst/>
          </a:prstGeom>
          <a:noFill/>
          <a:ln/>
        </p:spPr>
        <p:txBody>
          <a:bodyPr wrap="square" lIns="0" tIns="0" rIns="0" bIns="0" rtlCol="0" anchor="t"/>
          <a:lstStyle/>
          <a:p>
            <a:pPr indent="0" marL="0">
              <a:buNone/>
            </a:pPr>
            <a:r>
              <a:rPr lang="en-US" sz="1100" b="1" spc="200" kern="0" dirty="0">
                <a:solidFill>
                  <a:srgbClr val="BFD7EE"/>
                </a:solidFill>
                <a:latin typeface="Arial" pitchFamily="34" charset="0"/>
                <a:ea typeface="Arial" pitchFamily="34" charset="-122"/>
                <a:cs typeface="Arial" pitchFamily="34" charset="-120"/>
              </a:rPr>
              <a:t>Ý TƯỞNG CHÍNH</a:t>
            </a:r>
            <a:endParaRPr lang="en-US" sz="1100" dirty="0"/>
          </a:p>
        </p:txBody>
      </p:sp>
      <p:sp>
        <p:nvSpPr>
          <p:cNvPr id="14" name="Shape 11"/>
          <p:cNvSpPr/>
          <p:nvPr/>
        </p:nvSpPr>
        <p:spPr>
          <a:xfrm>
            <a:off x="9006840" y="1325880"/>
            <a:ext cx="2681935" cy="868680"/>
          </a:xfrm>
          <a:prstGeom prst="roundRect">
            <a:avLst>
              <a:gd name="adj" fmla="val 12632"/>
            </a:avLst>
          </a:prstGeom>
          <a:solidFill>
            <a:srgbClr val="0A6EBD"/>
          </a:solidFill>
          <a:ln/>
        </p:spPr>
      </p:sp>
      <p:sp>
        <p:nvSpPr>
          <p:cNvPr id="15" name="Text 12"/>
          <p:cNvSpPr txBox="1"/>
          <p:nvPr/>
        </p:nvSpPr>
        <p:spPr>
          <a:xfrm>
            <a:off x="9189720" y="1325880"/>
            <a:ext cx="2316175" cy="86868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“Tuần này doanh thu mỗi ngày là bao nhiêu?”</a:t>
            </a:r>
            <a:endParaRPr lang="en-US" sz="1500" dirty="0"/>
          </a:p>
        </p:txBody>
      </p:sp>
      <p:sp>
        <p:nvSpPr>
          <p:cNvPr id="16" name="Text 13"/>
          <p:cNvSpPr txBox="1"/>
          <p:nvPr/>
        </p:nvSpPr>
        <p:spPr>
          <a:xfrm>
            <a:off x="9006840" y="2240280"/>
            <a:ext cx="2681935" cy="274320"/>
          </a:xfrm>
          <a:prstGeom prst="rect">
            <a:avLst/>
          </a:prstGeom>
          <a:noFill/>
          <a:ln/>
        </p:spPr>
        <p:txBody>
          <a:bodyPr wrap="square" lIns="0" tIns="0" rIns="0" bIns="0" rtlCol="0" anchor="t"/>
          <a:lstStyle/>
          <a:p>
            <a:pPr algn="r" indent="0" marL="0">
              <a:buNone/>
            </a:pPr>
            <a:r>
              <a:rPr lang="en-US" sz="1000" dirty="0">
                <a:solidFill>
                  <a:srgbClr val="BFD7EE"/>
                </a:solidFill>
                <a:latin typeface="Arial" pitchFamily="34" charset="0"/>
                <a:ea typeface="Arial" pitchFamily="34" charset="-122"/>
                <a:cs typeface="Arial" pitchFamily="34" charset="-120"/>
              </a:rPr>
              <a:t>Chủ quán hỏi bằng tiếng Việt</a:t>
            </a:r>
            <a:endParaRPr lang="en-US" sz="1000" dirty="0"/>
          </a:p>
        </p:txBody>
      </p:sp>
      <p:sp>
        <p:nvSpPr>
          <p:cNvPr id="17" name="Shape 14"/>
          <p:cNvSpPr/>
          <p:nvPr/>
        </p:nvSpPr>
        <p:spPr>
          <a:xfrm>
            <a:off x="8458200" y="2743200"/>
            <a:ext cx="3230575" cy="1234440"/>
          </a:xfrm>
          <a:prstGeom prst="roundRect">
            <a:avLst>
              <a:gd name="adj" fmla="val 5926"/>
            </a:avLst>
          </a:prstGeom>
          <a:solidFill>
            <a:srgbClr val="123A60"/>
          </a:solidFill>
          <a:ln w="12700">
            <a:solidFill>
              <a:srgbClr val="2A5680"/>
            </a:solidFill>
            <a:prstDash val="solid"/>
          </a:ln>
        </p:spPr>
      </p:sp>
      <p:sp>
        <p:nvSpPr>
          <p:cNvPr id="18" name="Text 15"/>
          <p:cNvSpPr txBox="1"/>
          <p:nvPr/>
        </p:nvSpPr>
        <p:spPr>
          <a:xfrm>
            <a:off x="8641080" y="2852928"/>
            <a:ext cx="2864815" cy="1005840"/>
          </a:xfrm>
          <a:prstGeom prst="rect">
            <a:avLst/>
          </a:prstGeom>
          <a:noFill/>
          <a:ln/>
        </p:spPr>
        <p:txBody>
          <a:bodyPr wrap="square" lIns="0" tIns="0" rIns="0" bIns="0" rtlCol="0" anchor="t"/>
          <a:lstStyle/>
          <a:p>
            <a:pPr indent="0" marL="0">
              <a:buNone/>
            </a:pPr>
            <a:r>
              <a:rPr lang="en-US" sz="1100" dirty="0">
                <a:solidFill>
                  <a:srgbClr val="CFE3F5"/>
                </a:solidFill>
                <a:latin typeface="Courier New" pitchFamily="34" charset="0"/>
                <a:ea typeface="Courier New" pitchFamily="34" charset="-122"/>
                <a:cs typeface="Courier New" pitchFamily="34" charset="-120"/>
              </a:rPr>
              <a:t>SELECT BusinessDate, SUM(TongTien)</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FROM vw_ai_quanly</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WHERE BusinessDate &gt;= ...</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GROUP BY BusinessDate</a:t>
            </a:r>
            <a:endParaRPr lang="en-US" sz="1100" dirty="0"/>
          </a:p>
        </p:txBody>
      </p:sp>
      <p:sp>
        <p:nvSpPr>
          <p:cNvPr id="19" name="Text 16"/>
          <p:cNvSpPr txBox="1"/>
          <p:nvPr/>
        </p:nvSpPr>
        <p:spPr>
          <a:xfrm>
            <a:off x="8458200" y="4023360"/>
            <a:ext cx="3230575" cy="274320"/>
          </a:xfrm>
          <a:prstGeom prst="rect">
            <a:avLst/>
          </a:prstGeom>
          <a:noFill/>
          <a:ln/>
        </p:spPr>
        <p:txBody>
          <a:bodyPr wrap="square" lIns="0" tIns="0" rIns="0" bIns="0" rtlCol="0" anchor="t"/>
          <a:lstStyle/>
          <a:p>
            <a:pPr indent="0" marL="0">
              <a:buNone/>
            </a:pPr>
            <a:r>
              <a:rPr lang="en-US" sz="1000" dirty="0">
                <a:solidFill>
                  <a:srgbClr val="BFD7EE"/>
                </a:solidFill>
                <a:latin typeface="Arial" pitchFamily="34" charset="0"/>
                <a:ea typeface="Arial" pitchFamily="34" charset="-122"/>
                <a:cs typeface="Arial" pitchFamily="34" charset="-120"/>
              </a:rPr>
              <a:t>Hệ thống sinh SQL, kiểm duyệt rồi mới chạy</a:t>
            </a:r>
            <a:endParaRPr lang="en-US" sz="1000" dirty="0"/>
          </a:p>
        </p:txBody>
      </p:sp>
      <p:sp>
        <p:nvSpPr>
          <p:cNvPr id="20" name="Shape 17"/>
          <p:cNvSpPr/>
          <p:nvPr/>
        </p:nvSpPr>
        <p:spPr>
          <a:xfrm>
            <a:off x="8458200" y="4526280"/>
            <a:ext cx="2681935" cy="1005840"/>
          </a:xfrm>
          <a:prstGeom prst="roundRect">
            <a:avLst>
              <a:gd name="adj" fmla="val 10909"/>
            </a:avLst>
          </a:prstGeom>
          <a:solidFill>
            <a:srgbClr val="FFFFFF"/>
          </a:solidFill>
          <a:ln/>
        </p:spPr>
      </p:sp>
      <p:sp>
        <p:nvSpPr>
          <p:cNvPr id="21" name="Text 18"/>
          <p:cNvSpPr txBox="1"/>
          <p:nvPr/>
        </p:nvSpPr>
        <p:spPr>
          <a:xfrm>
            <a:off x="8641080" y="4526280"/>
            <a:ext cx="2316175" cy="1005840"/>
          </a:xfrm>
          <a:prstGeom prst="rect">
            <a:avLst/>
          </a:prstGeom>
          <a:noFill/>
          <a:ln/>
        </p:spPr>
        <p:txBody>
          <a:bodyPr wrap="square" lIns="0" tIns="0" rIns="0" bIns="0" rtlCol="0" anchor="ctr"/>
          <a:lstStyle/>
          <a:p>
            <a:pPr indent="0" marL="0">
              <a:buNone/>
            </a:pPr>
            <a:r>
              <a:rPr lang="en-US" sz="1400" b="1" dirty="0">
                <a:solidFill>
                  <a:srgbClr val="0B2E4F"/>
                </a:solidFill>
                <a:latin typeface="Arial" pitchFamily="34" charset="0"/>
                <a:ea typeface="Arial" pitchFamily="34" charset="-122"/>
                <a:cs typeface="Arial" pitchFamily="34" charset="-120"/>
              </a:rPr>
              <a:t>Trả lời bằng tiếng Việt, kèm bảng số liệu gốc và biểu đồ</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01  GIỚI THIỆU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Bối cảnh và vấn đề</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2 / 22</a:t>
            </a:r>
            <a:endParaRPr lang="en-US" sz="900" dirty="0"/>
          </a:p>
        </p:txBody>
      </p:sp>
      <p:sp>
        <p:nvSpPr>
          <p:cNvPr id="6" name="Text 4"/>
          <p:cNvSpPr txBox="1"/>
          <p:nvPr/>
        </p:nvSpPr>
        <p:spPr>
          <a:xfrm>
            <a:off x="548640" y="1691640"/>
            <a:ext cx="4937760" cy="2194560"/>
          </a:xfrm>
          <a:prstGeom prst="rect">
            <a:avLst/>
          </a:prstGeom>
          <a:noFill/>
          <a:ln/>
        </p:spPr>
        <p:txBody>
          <a:bodyPr wrap="square" lIns="0" tIns="0" rIns="0" bIns="0" rtlCol="0" anchor="t"/>
          <a:lstStyle/>
          <a:p>
            <a:pPr indent="0" marL="0">
              <a:buNone/>
            </a:pPr>
            <a:r>
              <a:rPr lang="en-US" sz="2400" b="1" dirty="0">
                <a:solidFill>
                  <a:srgbClr val="0B2E4F"/>
                </a:solidFill>
                <a:latin typeface="Arial" pitchFamily="34" charset="0"/>
                <a:ea typeface="Arial" pitchFamily="34" charset="-122"/>
                <a:cs typeface="Arial" pitchFamily="34" charset="-120"/>
              </a:rPr>
              <a:t>Nhà hàng vừa và nhỏ đã có dữ liệu bán hàng, nhưng chủ quán vẫn phải tự tổng hợp để trả lời những câu hỏi rất cơ bản.</a:t>
            </a:r>
            <a:endParaRPr lang="en-US" sz="2400" dirty="0"/>
          </a:p>
        </p:txBody>
      </p:sp>
      <p:sp>
        <p:nvSpPr>
          <p:cNvPr id="7" name="Text 5"/>
          <p:cNvSpPr txBox="1"/>
          <p:nvPr/>
        </p:nvSpPr>
        <p:spPr>
          <a:xfrm>
            <a:off x="548640" y="4069080"/>
            <a:ext cx="4754880" cy="82296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Ngành F&amp;B Việt Nam: nhà hàng, quán ăn vừa và nhỏ chiếm tỷ trọng chủ yếu, nguồn lực công nghệ hạn chế.</a:t>
            </a:r>
            <a:endParaRPr lang="en-US" sz="1300" dirty="0"/>
          </a:p>
        </p:txBody>
      </p:sp>
      <p:sp>
        <p:nvSpPr>
          <p:cNvPr id="8" name="Text 6"/>
          <p:cNvSpPr txBox="1"/>
          <p:nvPr/>
        </p:nvSpPr>
        <p:spPr>
          <a:xfrm>
            <a:off x="6217920" y="1691640"/>
            <a:ext cx="640080" cy="457200"/>
          </a:xfrm>
          <a:prstGeom prst="rect">
            <a:avLst/>
          </a:prstGeom>
          <a:noFill/>
          <a:ln/>
        </p:spPr>
        <p:txBody>
          <a:bodyPr wrap="square" lIns="0" tIns="0" rIns="0" bIns="0" rtlCol="0" anchor="t"/>
          <a:lstStyle/>
          <a:p>
            <a:pPr indent="0" marL="0">
              <a:buNone/>
            </a:pPr>
            <a:r>
              <a:rPr lang="en-US" sz="2200" b="1" dirty="0">
                <a:solidFill>
                  <a:srgbClr val="E8590C"/>
                </a:solidFill>
                <a:latin typeface="Arial" pitchFamily="34" charset="0"/>
                <a:ea typeface="Arial" pitchFamily="34" charset="-122"/>
                <a:cs typeface="Arial" pitchFamily="34" charset="-120"/>
              </a:rPr>
              <a:t>01</a:t>
            </a:r>
            <a:endParaRPr lang="en-US" sz="2200" dirty="0"/>
          </a:p>
        </p:txBody>
      </p:sp>
      <p:sp>
        <p:nvSpPr>
          <p:cNvPr id="9" name="Text 7"/>
          <p:cNvSpPr txBox="1"/>
          <p:nvPr/>
        </p:nvSpPr>
        <p:spPr>
          <a:xfrm>
            <a:off x="6949440" y="1691640"/>
            <a:ext cx="4693615"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Quyết định dựa vào kinh nghiệm</a:t>
            </a:r>
            <a:endParaRPr lang="en-US" sz="1600" dirty="0"/>
          </a:p>
        </p:txBody>
      </p:sp>
      <p:sp>
        <p:nvSpPr>
          <p:cNvPr id="10" name="Text 8"/>
          <p:cNvSpPr txBox="1"/>
          <p:nvPr/>
        </p:nvSpPr>
        <p:spPr>
          <a:xfrm>
            <a:off x="6949440" y="2075688"/>
            <a:ext cx="4693615" cy="64008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Chủ quán ra quyết định chủ yếu theo kinh nghiệm cá nhân, thiếu số liệu đối chiếu.</a:t>
            </a:r>
            <a:endParaRPr lang="en-US" sz="1300" dirty="0"/>
          </a:p>
        </p:txBody>
      </p:sp>
      <p:sp>
        <p:nvSpPr>
          <p:cNvPr id="11" name="Shape 9"/>
          <p:cNvSpPr/>
          <p:nvPr/>
        </p:nvSpPr>
        <p:spPr>
          <a:xfrm>
            <a:off x="6217920" y="2761488"/>
            <a:ext cx="5425135" cy="0"/>
          </a:xfrm>
          <a:prstGeom prst="line">
            <a:avLst/>
          </a:prstGeom>
          <a:noFill/>
          <a:ln w="9525">
            <a:solidFill>
              <a:srgbClr val="D5DCE4"/>
            </a:solidFill>
            <a:prstDash val="solid"/>
          </a:ln>
        </p:spPr>
      </p:sp>
      <p:sp>
        <p:nvSpPr>
          <p:cNvPr id="12" name="Text 10"/>
          <p:cNvSpPr txBox="1"/>
          <p:nvPr/>
        </p:nvSpPr>
        <p:spPr>
          <a:xfrm>
            <a:off x="6217920" y="2880360"/>
            <a:ext cx="640080" cy="457200"/>
          </a:xfrm>
          <a:prstGeom prst="rect">
            <a:avLst/>
          </a:prstGeom>
          <a:noFill/>
          <a:ln/>
        </p:spPr>
        <p:txBody>
          <a:bodyPr wrap="square" lIns="0" tIns="0" rIns="0" bIns="0" rtlCol="0" anchor="t"/>
          <a:lstStyle/>
          <a:p>
            <a:pPr indent="0" marL="0">
              <a:buNone/>
            </a:pPr>
            <a:r>
              <a:rPr lang="en-US" sz="2200" b="1" dirty="0">
                <a:solidFill>
                  <a:srgbClr val="E8590C"/>
                </a:solidFill>
                <a:latin typeface="Arial" pitchFamily="34" charset="0"/>
                <a:ea typeface="Arial" pitchFamily="34" charset="-122"/>
                <a:cs typeface="Arial" pitchFamily="34" charset="-120"/>
              </a:rPr>
              <a:t>02</a:t>
            </a:r>
            <a:endParaRPr lang="en-US" sz="2200" dirty="0"/>
          </a:p>
        </p:txBody>
      </p:sp>
      <p:sp>
        <p:nvSpPr>
          <p:cNvPr id="13" name="Text 11"/>
          <p:cNvSpPr txBox="1"/>
          <p:nvPr/>
        </p:nvSpPr>
        <p:spPr>
          <a:xfrm>
            <a:off x="6949440" y="2880360"/>
            <a:ext cx="4693615"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Chưa bám theo khung giờ cao điểm</a:t>
            </a:r>
            <a:endParaRPr lang="en-US" sz="1600" dirty="0"/>
          </a:p>
        </p:txBody>
      </p:sp>
      <p:sp>
        <p:nvSpPr>
          <p:cNvPr id="14" name="Text 12"/>
          <p:cNvSpPr txBox="1"/>
          <p:nvPr/>
        </p:nvSpPr>
        <p:spPr>
          <a:xfrm>
            <a:off x="6949440" y="3264408"/>
            <a:ext cx="4693615" cy="64008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Bố trí nhân sự, nguyên liệu chưa dựa trên phân bố đơn hàng theo giờ, theo ngày.</a:t>
            </a:r>
            <a:endParaRPr lang="en-US" sz="1300" dirty="0"/>
          </a:p>
        </p:txBody>
      </p:sp>
      <p:sp>
        <p:nvSpPr>
          <p:cNvPr id="15" name="Shape 13"/>
          <p:cNvSpPr/>
          <p:nvPr/>
        </p:nvSpPr>
        <p:spPr>
          <a:xfrm>
            <a:off x="6217920" y="3950208"/>
            <a:ext cx="5425135" cy="0"/>
          </a:xfrm>
          <a:prstGeom prst="line">
            <a:avLst/>
          </a:prstGeom>
          <a:noFill/>
          <a:ln w="9525">
            <a:solidFill>
              <a:srgbClr val="D5DCE4"/>
            </a:solidFill>
            <a:prstDash val="solid"/>
          </a:ln>
        </p:spPr>
      </p:sp>
      <p:sp>
        <p:nvSpPr>
          <p:cNvPr id="16" name="Text 14"/>
          <p:cNvSpPr txBox="1"/>
          <p:nvPr/>
        </p:nvSpPr>
        <p:spPr>
          <a:xfrm>
            <a:off x="6217920" y="4069080"/>
            <a:ext cx="640080" cy="457200"/>
          </a:xfrm>
          <a:prstGeom prst="rect">
            <a:avLst/>
          </a:prstGeom>
          <a:noFill/>
          <a:ln/>
        </p:spPr>
        <p:txBody>
          <a:bodyPr wrap="square" lIns="0" tIns="0" rIns="0" bIns="0" rtlCol="0" anchor="t"/>
          <a:lstStyle/>
          <a:p>
            <a:pPr indent="0" marL="0">
              <a:buNone/>
            </a:pPr>
            <a:r>
              <a:rPr lang="en-US" sz="2200" b="1" dirty="0">
                <a:solidFill>
                  <a:srgbClr val="E8590C"/>
                </a:solidFill>
                <a:latin typeface="Arial" pitchFamily="34" charset="0"/>
                <a:ea typeface="Arial" pitchFamily="34" charset="-122"/>
                <a:cs typeface="Arial" pitchFamily="34" charset="-120"/>
              </a:rPr>
              <a:t>03</a:t>
            </a:r>
            <a:endParaRPr lang="en-US" sz="2200" dirty="0"/>
          </a:p>
        </p:txBody>
      </p:sp>
      <p:sp>
        <p:nvSpPr>
          <p:cNvPr id="17" name="Text 15"/>
          <p:cNvSpPr txBox="1"/>
          <p:nvPr/>
        </p:nvSpPr>
        <p:spPr>
          <a:xfrm>
            <a:off x="6949440" y="4069080"/>
            <a:ext cx="4693615"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Báo cáo POS cố định</a:t>
            </a:r>
            <a:endParaRPr lang="en-US" sz="1600" dirty="0"/>
          </a:p>
        </p:txBody>
      </p:sp>
      <p:sp>
        <p:nvSpPr>
          <p:cNvPr id="18" name="Text 16"/>
          <p:cNvSpPr txBox="1"/>
          <p:nvPr/>
        </p:nvSpPr>
        <p:spPr>
          <a:xfrm>
            <a:off x="6949440" y="4453128"/>
            <a:ext cx="4693615" cy="64008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Phần mềm hiện có chỉ hiển thị bảng biểu định sẵn; muốn phân tích sâu phải tự làm thủ công.</a:t>
            </a:r>
            <a:endParaRPr lang="en-US" sz="1300" dirty="0"/>
          </a:p>
        </p:txBody>
      </p:sp>
      <p:sp>
        <p:nvSpPr>
          <p:cNvPr id="19" name="Shape 17"/>
          <p:cNvSpPr/>
          <p:nvPr/>
        </p:nvSpPr>
        <p:spPr>
          <a:xfrm>
            <a:off x="548640" y="5257800"/>
            <a:ext cx="11094415" cy="868680"/>
          </a:xfrm>
          <a:prstGeom prst="roundRect">
            <a:avLst>
              <a:gd name="adj" fmla="val 6316"/>
            </a:avLst>
          </a:prstGeom>
          <a:solidFill>
            <a:srgbClr val="E8F1FA"/>
          </a:solidFill>
          <a:ln/>
        </p:spPr>
      </p:sp>
      <p:sp>
        <p:nvSpPr>
          <p:cNvPr id="20" name="Text 18"/>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1500" b="1" dirty="0">
                <a:solidFill>
                  <a:srgbClr val="0A6EBD"/>
                </a:solidFill>
                <a:latin typeface="Arial" pitchFamily="34" charset="0"/>
                <a:ea typeface="Arial" pitchFamily="34" charset="-122"/>
                <a:cs typeface="Arial" pitchFamily="34" charset="-120"/>
              </a:rPr>
              <a:t>Hướng của đề tài:  </a:t>
            </a:r>
            <a:pPr indent="0" marL="0">
              <a:buNone/>
            </a:pPr>
            <a:r>
              <a:rPr lang="en-US" sz="1500" dirty="0">
                <a:solidFill>
                  <a:srgbClr val="0B2E4F"/>
                </a:solidFill>
                <a:latin typeface="Arial" pitchFamily="34" charset="0"/>
                <a:ea typeface="Arial" pitchFamily="34" charset="-122"/>
                <a:cs typeface="Arial" pitchFamily="34" charset="-120"/>
              </a:rPr>
              <a:t>quản lý đủ vòng nghiệp vụ nhà hàng, và thêm trợ lý AI để hỏi đáp dữ liệu kinh doanh bằng tiếng Việt, không cần kiến thức kỹ thuật.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01  GIỚI THIỆU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Mục tiêu đề tài</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3 / 22</a:t>
            </a:r>
            <a:endParaRPr lang="en-US" sz="900" dirty="0"/>
          </a:p>
        </p:txBody>
      </p:sp>
      <p:sp>
        <p:nvSpPr>
          <p:cNvPr id="6" name="Text 4"/>
          <p:cNvSpPr txBox="1"/>
          <p:nvPr/>
        </p:nvSpPr>
        <p:spPr>
          <a:xfrm>
            <a:off x="548640" y="1600200"/>
            <a:ext cx="3291840" cy="274320"/>
          </a:xfrm>
          <a:prstGeom prst="rect">
            <a:avLst/>
          </a:prstGeom>
          <a:noFill/>
          <a:ln/>
        </p:spPr>
        <p:txBody>
          <a:bodyPr wrap="square" lIns="0" tIns="0" rIns="0" bIns="0" rtlCol="0" anchor="t"/>
          <a:lstStyle/>
          <a:p>
            <a:pPr indent="0" marL="0">
              <a:buNone/>
            </a:pPr>
            <a:r>
              <a:rPr lang="en-US" sz="1100" b="1" spc="100" kern="0" dirty="0">
                <a:solidFill>
                  <a:srgbClr val="0A6EBD"/>
                </a:solidFill>
                <a:latin typeface="Arial" pitchFamily="34" charset="0"/>
                <a:ea typeface="Arial" pitchFamily="34" charset="-122"/>
                <a:cs typeface="Arial" pitchFamily="34" charset="-120"/>
              </a:rPr>
              <a:t>MỤC TIÊU TỔNG QUÁT</a:t>
            </a:r>
            <a:endParaRPr lang="en-US" sz="1100" dirty="0"/>
          </a:p>
        </p:txBody>
      </p:sp>
      <p:sp>
        <p:nvSpPr>
          <p:cNvPr id="7" name="Text 5"/>
          <p:cNvSpPr txBox="1"/>
          <p:nvPr/>
        </p:nvSpPr>
        <p:spPr>
          <a:xfrm>
            <a:off x="548640" y="1920240"/>
            <a:ext cx="3291840" cy="3200400"/>
          </a:xfrm>
          <a:prstGeom prst="rect">
            <a:avLst/>
          </a:prstGeom>
          <a:noFill/>
          <a:ln/>
        </p:spPr>
        <p:txBody>
          <a:bodyPr wrap="square" lIns="0" tIns="0" rIns="0" bIns="0" rtlCol="0" anchor="t"/>
          <a:lstStyle/>
          <a:p>
            <a:pPr indent="0" marL="0">
              <a:buNone/>
            </a:pPr>
            <a:r>
              <a:rPr lang="en-US" sz="1500" dirty="0">
                <a:solidFill>
                  <a:srgbClr val="0B2E4F"/>
                </a:solidFill>
                <a:latin typeface="Arial" pitchFamily="34" charset="0"/>
                <a:ea typeface="Arial" pitchFamily="34" charset="-122"/>
                <a:cs typeface="Arial" pitchFamily="34" charset="-120"/>
              </a:rPr>
              <a:t>Xây dựng hệ thống quản lý nhà hàng dạng web cho một nhà hàng đơn lẻ, hỗ trợ đủ vòng nghiệp vụ từ danh mục, bán hàng, kho, báo cáo đến cấu hình, có tích hợp trợ lý AI tra cứu và phân tích dữ liệu kinh doanh bằng tiếng Việt.</a:t>
            </a:r>
            <a:endParaRPr lang="en-US" sz="1500" dirty="0"/>
          </a:p>
        </p:txBody>
      </p:sp>
      <p:sp>
        <p:nvSpPr>
          <p:cNvPr id="8" name="Text 6"/>
          <p:cNvSpPr txBox="1"/>
          <p:nvPr/>
        </p:nvSpPr>
        <p:spPr>
          <a:xfrm>
            <a:off x="4389120" y="1600200"/>
            <a:ext cx="822960" cy="640080"/>
          </a:xfrm>
          <a:prstGeom prst="rect">
            <a:avLst/>
          </a:prstGeom>
          <a:noFill/>
          <a:ln/>
        </p:spPr>
        <p:txBody>
          <a:bodyPr wrap="square" lIns="0" tIns="0" rIns="0" bIns="0" rtlCol="0" anchor="ctr"/>
          <a:lstStyle/>
          <a:p>
            <a:pPr indent="0" marL="0">
              <a:buNone/>
            </a:pPr>
            <a:r>
              <a:rPr lang="en-US" sz="1800" b="1" dirty="0">
                <a:solidFill>
                  <a:srgbClr val="0A6EBD"/>
                </a:solidFill>
                <a:latin typeface="Arial" pitchFamily="34" charset="0"/>
                <a:ea typeface="Arial" pitchFamily="34" charset="-122"/>
                <a:cs typeface="Arial" pitchFamily="34" charset="-120"/>
              </a:rPr>
              <a:t>MT1</a:t>
            </a:r>
            <a:endParaRPr lang="en-US" sz="1800" dirty="0"/>
          </a:p>
        </p:txBody>
      </p:sp>
      <p:sp>
        <p:nvSpPr>
          <p:cNvPr id="9" name="Text 7"/>
          <p:cNvSpPr txBox="1"/>
          <p:nvPr/>
        </p:nvSpPr>
        <p:spPr>
          <a:xfrm>
            <a:off x="5303520" y="1600200"/>
            <a:ext cx="6339535" cy="640080"/>
          </a:xfrm>
          <a:prstGeom prst="rect">
            <a:avLst/>
          </a:prstGeom>
          <a:noFill/>
          <a:ln/>
        </p:spPr>
        <p:txBody>
          <a:bodyPr wrap="square" lIns="0" tIns="0" rIns="0" bIns="0" rtlCol="0" anchor="ctr"/>
          <a:lstStyle/>
          <a:p>
            <a:pPr indent="0" marL="0">
              <a:buNone/>
            </a:pPr>
            <a:r>
              <a:rPr lang="en-US" sz="1350" dirty="0">
                <a:solidFill>
                  <a:srgbClr val="1F2933"/>
                </a:solidFill>
                <a:latin typeface="Arial" pitchFamily="34" charset="0"/>
                <a:ea typeface="Arial" pitchFamily="34" charset="-122"/>
                <a:cs typeface="Arial" pitchFamily="34" charset="-120"/>
              </a:rPr>
              <a:t>Khảo sát người có kinh nghiệm nhà hàng; thiết kế kiến trúc và lược đồ CSDL chuẩn hóa.</a:t>
            </a:r>
            <a:endParaRPr lang="en-US" sz="1350" dirty="0"/>
          </a:p>
        </p:txBody>
      </p:sp>
      <p:sp>
        <p:nvSpPr>
          <p:cNvPr id="10" name="Shape 8"/>
          <p:cNvSpPr/>
          <p:nvPr/>
        </p:nvSpPr>
        <p:spPr>
          <a:xfrm>
            <a:off x="4389120" y="2286000"/>
            <a:ext cx="7253935" cy="0"/>
          </a:xfrm>
          <a:prstGeom prst="line">
            <a:avLst/>
          </a:prstGeom>
          <a:noFill/>
          <a:ln w="9525">
            <a:solidFill>
              <a:srgbClr val="D5DCE4"/>
            </a:solidFill>
            <a:prstDash val="solid"/>
          </a:ln>
        </p:spPr>
      </p:sp>
      <p:sp>
        <p:nvSpPr>
          <p:cNvPr id="11" name="Text 9"/>
          <p:cNvSpPr txBox="1"/>
          <p:nvPr/>
        </p:nvSpPr>
        <p:spPr>
          <a:xfrm>
            <a:off x="4389120" y="2331720"/>
            <a:ext cx="822960" cy="640080"/>
          </a:xfrm>
          <a:prstGeom prst="rect">
            <a:avLst/>
          </a:prstGeom>
          <a:noFill/>
          <a:ln/>
        </p:spPr>
        <p:txBody>
          <a:bodyPr wrap="square" lIns="0" tIns="0" rIns="0" bIns="0" rtlCol="0" anchor="ctr"/>
          <a:lstStyle/>
          <a:p>
            <a:pPr indent="0" marL="0">
              <a:buNone/>
            </a:pPr>
            <a:r>
              <a:rPr lang="en-US" sz="1800" b="1" dirty="0">
                <a:solidFill>
                  <a:srgbClr val="0A6EBD"/>
                </a:solidFill>
                <a:latin typeface="Arial" pitchFamily="34" charset="0"/>
                <a:ea typeface="Arial" pitchFamily="34" charset="-122"/>
                <a:cs typeface="Arial" pitchFamily="34" charset="-120"/>
              </a:rPr>
              <a:t>MT2</a:t>
            </a:r>
            <a:endParaRPr lang="en-US" sz="1800" dirty="0"/>
          </a:p>
        </p:txBody>
      </p:sp>
      <p:sp>
        <p:nvSpPr>
          <p:cNvPr id="12" name="Text 10"/>
          <p:cNvSpPr txBox="1"/>
          <p:nvPr/>
        </p:nvSpPr>
        <p:spPr>
          <a:xfrm>
            <a:off x="5303520" y="2331720"/>
            <a:ext cx="6339535" cy="640080"/>
          </a:xfrm>
          <a:prstGeom prst="rect">
            <a:avLst/>
          </a:prstGeom>
          <a:noFill/>
          <a:ln/>
        </p:spPr>
        <p:txBody>
          <a:bodyPr wrap="square" lIns="0" tIns="0" rIns="0" bIns="0" rtlCol="0" anchor="ctr"/>
          <a:lstStyle/>
          <a:p>
            <a:pPr indent="0" marL="0">
              <a:buNone/>
            </a:pPr>
            <a:r>
              <a:rPr lang="en-US" sz="1350" dirty="0">
                <a:solidFill>
                  <a:srgbClr val="1F2933"/>
                </a:solidFill>
                <a:latin typeface="Arial" pitchFamily="34" charset="0"/>
                <a:ea typeface="Arial" pitchFamily="34" charset="-122"/>
                <a:cs typeface="Arial" pitchFamily="34" charset="-120"/>
              </a:rPr>
              <a:t>Xây dựng 5 module nghiệp vụ cốt lõi: danh mục, bán hàng, kho, báo cáo, cài đặt và phân quyền.</a:t>
            </a:r>
            <a:endParaRPr lang="en-US" sz="1350" dirty="0"/>
          </a:p>
        </p:txBody>
      </p:sp>
      <p:sp>
        <p:nvSpPr>
          <p:cNvPr id="13" name="Shape 11"/>
          <p:cNvSpPr/>
          <p:nvPr/>
        </p:nvSpPr>
        <p:spPr>
          <a:xfrm>
            <a:off x="4389120" y="3017520"/>
            <a:ext cx="7253935" cy="0"/>
          </a:xfrm>
          <a:prstGeom prst="line">
            <a:avLst/>
          </a:prstGeom>
          <a:noFill/>
          <a:ln w="9525">
            <a:solidFill>
              <a:srgbClr val="D5DCE4"/>
            </a:solidFill>
            <a:prstDash val="solid"/>
          </a:ln>
        </p:spPr>
      </p:sp>
      <p:sp>
        <p:nvSpPr>
          <p:cNvPr id="14" name="Text 12"/>
          <p:cNvSpPr txBox="1"/>
          <p:nvPr/>
        </p:nvSpPr>
        <p:spPr>
          <a:xfrm>
            <a:off x="4389120" y="3063240"/>
            <a:ext cx="822960" cy="640080"/>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MT3</a:t>
            </a:r>
            <a:endParaRPr lang="en-US" sz="1800" dirty="0"/>
          </a:p>
        </p:txBody>
      </p:sp>
      <p:sp>
        <p:nvSpPr>
          <p:cNvPr id="15" name="Text 13"/>
          <p:cNvSpPr txBox="1"/>
          <p:nvPr/>
        </p:nvSpPr>
        <p:spPr>
          <a:xfrm>
            <a:off x="5303520" y="3063240"/>
            <a:ext cx="5242255" cy="640080"/>
          </a:xfrm>
          <a:prstGeom prst="rect">
            <a:avLst/>
          </a:prstGeom>
          <a:noFill/>
          <a:ln/>
        </p:spPr>
        <p:txBody>
          <a:bodyPr wrap="square" lIns="0" tIns="0" rIns="0" bIns="0" rtlCol="0" anchor="ctr"/>
          <a:lstStyle/>
          <a:p>
            <a:pPr indent="0" marL="0">
              <a:buNone/>
            </a:pPr>
            <a:r>
              <a:rPr lang="en-US" sz="1350" dirty="0">
                <a:solidFill>
                  <a:srgbClr val="1F2933"/>
                </a:solidFill>
                <a:latin typeface="Arial" pitchFamily="34" charset="0"/>
                <a:ea typeface="Arial" pitchFamily="34" charset="-122"/>
                <a:cs typeface="Arial" pitchFamily="34" charset="-120"/>
              </a:rPr>
              <a:t>Xây dựng AI Assistant: LLM kết hợp Text-to-SQL, hỏi đáp và phân tích dữ liệu bằng tiếng Việt.</a:t>
            </a:r>
            <a:endParaRPr lang="en-US" sz="1350" dirty="0"/>
          </a:p>
        </p:txBody>
      </p:sp>
      <p:sp>
        <p:nvSpPr>
          <p:cNvPr id="16" name="Text 14"/>
          <p:cNvSpPr txBox="1"/>
          <p:nvPr/>
        </p:nvSpPr>
        <p:spPr>
          <a:xfrm>
            <a:off x="10682935" y="3246120"/>
            <a:ext cx="960120" cy="274320"/>
          </a:xfrm>
          <a:prstGeom prst="rect">
            <a:avLst/>
          </a:prstGeom>
          <a:noFill/>
          <a:ln/>
        </p:spPr>
        <p:txBody>
          <a:bodyPr wrap="square" lIns="0" tIns="0" rIns="0" bIns="0" rtlCol="0" anchor="t"/>
          <a:lstStyle/>
          <a:p>
            <a:pPr algn="r" indent="0" marL="0">
              <a:buNone/>
            </a:pPr>
            <a:r>
              <a:rPr lang="en-US" sz="1000" b="1" dirty="0">
                <a:solidFill>
                  <a:srgbClr val="E8590C"/>
                </a:solidFill>
                <a:latin typeface="Arial" pitchFamily="34" charset="0"/>
                <a:ea typeface="Arial" pitchFamily="34" charset="-122"/>
                <a:cs typeface="Arial" pitchFamily="34" charset="-120"/>
              </a:rPr>
              <a:t>phần AI</a:t>
            </a:r>
            <a:endParaRPr lang="en-US" sz="1000" dirty="0"/>
          </a:p>
        </p:txBody>
      </p:sp>
      <p:sp>
        <p:nvSpPr>
          <p:cNvPr id="17" name="Shape 15"/>
          <p:cNvSpPr/>
          <p:nvPr/>
        </p:nvSpPr>
        <p:spPr>
          <a:xfrm>
            <a:off x="4389120" y="3749040"/>
            <a:ext cx="7253935" cy="0"/>
          </a:xfrm>
          <a:prstGeom prst="line">
            <a:avLst/>
          </a:prstGeom>
          <a:noFill/>
          <a:ln w="9525">
            <a:solidFill>
              <a:srgbClr val="D5DCE4"/>
            </a:solidFill>
            <a:prstDash val="solid"/>
          </a:ln>
        </p:spPr>
      </p:sp>
      <p:sp>
        <p:nvSpPr>
          <p:cNvPr id="18" name="Text 16"/>
          <p:cNvSpPr txBox="1"/>
          <p:nvPr/>
        </p:nvSpPr>
        <p:spPr>
          <a:xfrm>
            <a:off x="4389120" y="3794760"/>
            <a:ext cx="822960" cy="640080"/>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MT4</a:t>
            </a:r>
            <a:endParaRPr lang="en-US" sz="1800" dirty="0"/>
          </a:p>
        </p:txBody>
      </p:sp>
      <p:sp>
        <p:nvSpPr>
          <p:cNvPr id="19" name="Text 17"/>
          <p:cNvSpPr txBox="1"/>
          <p:nvPr/>
        </p:nvSpPr>
        <p:spPr>
          <a:xfrm>
            <a:off x="5303520" y="3794760"/>
            <a:ext cx="5242255" cy="640080"/>
          </a:xfrm>
          <a:prstGeom prst="rect">
            <a:avLst/>
          </a:prstGeom>
          <a:noFill/>
          <a:ln/>
        </p:spPr>
        <p:txBody>
          <a:bodyPr wrap="square" lIns="0" tIns="0" rIns="0" bIns="0" rtlCol="0" anchor="ctr"/>
          <a:lstStyle/>
          <a:p>
            <a:pPr indent="0" marL="0">
              <a:buNone/>
            </a:pPr>
            <a:r>
              <a:rPr lang="en-US" sz="1350" dirty="0">
                <a:solidFill>
                  <a:srgbClr val="1F2933"/>
                </a:solidFill>
                <a:latin typeface="Arial" pitchFamily="34" charset="0"/>
                <a:ea typeface="Arial" pitchFamily="34" charset="-122"/>
                <a:cs typeface="Arial" pitchFamily="34" charset="-120"/>
              </a:rPr>
              <a:t>Bộ dữ liệu đánh giá 50–100 cặp câu hỏi tiếng Việt – SQL chuẩn, ba mức độ khó.</a:t>
            </a:r>
            <a:endParaRPr lang="en-US" sz="1350" dirty="0"/>
          </a:p>
        </p:txBody>
      </p:sp>
      <p:sp>
        <p:nvSpPr>
          <p:cNvPr id="20" name="Text 18"/>
          <p:cNvSpPr txBox="1"/>
          <p:nvPr/>
        </p:nvSpPr>
        <p:spPr>
          <a:xfrm>
            <a:off x="10682935" y="3977640"/>
            <a:ext cx="960120" cy="274320"/>
          </a:xfrm>
          <a:prstGeom prst="rect">
            <a:avLst/>
          </a:prstGeom>
          <a:noFill/>
          <a:ln/>
        </p:spPr>
        <p:txBody>
          <a:bodyPr wrap="square" lIns="0" tIns="0" rIns="0" bIns="0" rtlCol="0" anchor="t"/>
          <a:lstStyle/>
          <a:p>
            <a:pPr algn="r" indent="0" marL="0">
              <a:buNone/>
            </a:pPr>
            <a:r>
              <a:rPr lang="en-US" sz="1000" b="1" dirty="0">
                <a:solidFill>
                  <a:srgbClr val="E8590C"/>
                </a:solidFill>
                <a:latin typeface="Arial" pitchFamily="34" charset="0"/>
                <a:ea typeface="Arial" pitchFamily="34" charset="-122"/>
                <a:cs typeface="Arial" pitchFamily="34" charset="-120"/>
              </a:rPr>
              <a:t>phần AI</a:t>
            </a:r>
            <a:endParaRPr lang="en-US" sz="1000" dirty="0"/>
          </a:p>
        </p:txBody>
      </p:sp>
      <p:sp>
        <p:nvSpPr>
          <p:cNvPr id="21" name="Shape 19"/>
          <p:cNvSpPr/>
          <p:nvPr/>
        </p:nvSpPr>
        <p:spPr>
          <a:xfrm>
            <a:off x="4389120" y="4480560"/>
            <a:ext cx="7253935" cy="0"/>
          </a:xfrm>
          <a:prstGeom prst="line">
            <a:avLst/>
          </a:prstGeom>
          <a:noFill/>
          <a:ln w="9525">
            <a:solidFill>
              <a:srgbClr val="D5DCE4"/>
            </a:solidFill>
            <a:prstDash val="solid"/>
          </a:ln>
        </p:spPr>
      </p:sp>
      <p:sp>
        <p:nvSpPr>
          <p:cNvPr id="22" name="Text 20"/>
          <p:cNvSpPr txBox="1"/>
          <p:nvPr/>
        </p:nvSpPr>
        <p:spPr>
          <a:xfrm>
            <a:off x="4389120" y="4526280"/>
            <a:ext cx="822960" cy="640080"/>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MT5</a:t>
            </a:r>
            <a:endParaRPr lang="en-US" sz="1800" dirty="0"/>
          </a:p>
        </p:txBody>
      </p:sp>
      <p:sp>
        <p:nvSpPr>
          <p:cNvPr id="23" name="Text 21"/>
          <p:cNvSpPr txBox="1"/>
          <p:nvPr/>
        </p:nvSpPr>
        <p:spPr>
          <a:xfrm>
            <a:off x="5303520" y="4526280"/>
            <a:ext cx="5242255" cy="640080"/>
          </a:xfrm>
          <a:prstGeom prst="rect">
            <a:avLst/>
          </a:prstGeom>
          <a:noFill/>
          <a:ln/>
        </p:spPr>
        <p:txBody>
          <a:bodyPr wrap="square" lIns="0" tIns="0" rIns="0" bIns="0" rtlCol="0" anchor="ctr"/>
          <a:lstStyle/>
          <a:p>
            <a:pPr indent="0" marL="0">
              <a:buNone/>
            </a:pPr>
            <a:r>
              <a:rPr lang="en-US" sz="1350" dirty="0">
                <a:solidFill>
                  <a:srgbClr val="1F2933"/>
                </a:solidFill>
                <a:latin typeface="Arial" pitchFamily="34" charset="0"/>
                <a:ea typeface="Arial" pitchFamily="34" charset="-122"/>
                <a:cs typeface="Arial" pitchFamily="34" charset="-120"/>
              </a:rPr>
              <a:t>Độ chính xác thực thi ≥ 80% (đơn giản, trung bình), ≥ 55% (phức tạp); phản hồi trung bình &lt; 8 giây.</a:t>
            </a:r>
            <a:endParaRPr lang="en-US" sz="1350" dirty="0"/>
          </a:p>
        </p:txBody>
      </p:sp>
      <p:sp>
        <p:nvSpPr>
          <p:cNvPr id="24" name="Text 22"/>
          <p:cNvSpPr txBox="1"/>
          <p:nvPr/>
        </p:nvSpPr>
        <p:spPr>
          <a:xfrm>
            <a:off x="10682935" y="4709160"/>
            <a:ext cx="960120" cy="274320"/>
          </a:xfrm>
          <a:prstGeom prst="rect">
            <a:avLst/>
          </a:prstGeom>
          <a:noFill/>
          <a:ln/>
        </p:spPr>
        <p:txBody>
          <a:bodyPr wrap="square" lIns="0" tIns="0" rIns="0" bIns="0" rtlCol="0" anchor="t"/>
          <a:lstStyle/>
          <a:p>
            <a:pPr algn="r" indent="0" marL="0">
              <a:buNone/>
            </a:pPr>
            <a:r>
              <a:rPr lang="en-US" sz="1000" b="1" dirty="0">
                <a:solidFill>
                  <a:srgbClr val="E8590C"/>
                </a:solidFill>
                <a:latin typeface="Arial" pitchFamily="34" charset="0"/>
                <a:ea typeface="Arial" pitchFamily="34" charset="-122"/>
                <a:cs typeface="Arial" pitchFamily="34" charset="-120"/>
              </a:rPr>
              <a:t>phần AI</a:t>
            </a:r>
            <a:endParaRPr lang="en-US" sz="1000" dirty="0"/>
          </a:p>
        </p:txBody>
      </p:sp>
      <p:sp>
        <p:nvSpPr>
          <p:cNvPr id="25" name="Shape 23"/>
          <p:cNvSpPr/>
          <p:nvPr/>
        </p:nvSpPr>
        <p:spPr>
          <a:xfrm>
            <a:off x="4389120" y="5212080"/>
            <a:ext cx="7253935" cy="0"/>
          </a:xfrm>
          <a:prstGeom prst="line">
            <a:avLst/>
          </a:prstGeom>
          <a:noFill/>
          <a:ln w="9525">
            <a:solidFill>
              <a:srgbClr val="D5DCE4"/>
            </a:solidFill>
            <a:prstDash val="solid"/>
          </a:ln>
        </p:spPr>
      </p:sp>
      <p:sp>
        <p:nvSpPr>
          <p:cNvPr id="26" name="Text 24"/>
          <p:cNvSpPr txBox="1"/>
          <p:nvPr/>
        </p:nvSpPr>
        <p:spPr>
          <a:xfrm>
            <a:off x="4389120" y="5257800"/>
            <a:ext cx="822960" cy="640080"/>
          </a:xfrm>
          <a:prstGeom prst="rect">
            <a:avLst/>
          </a:prstGeom>
          <a:noFill/>
          <a:ln/>
        </p:spPr>
        <p:txBody>
          <a:bodyPr wrap="square" lIns="0" tIns="0" rIns="0" bIns="0" rtlCol="0" anchor="ctr"/>
          <a:lstStyle/>
          <a:p>
            <a:pPr indent="0" marL="0">
              <a:buNone/>
            </a:pPr>
            <a:r>
              <a:rPr lang="en-US" sz="1800" b="1" dirty="0">
                <a:solidFill>
                  <a:srgbClr val="0A6EBD"/>
                </a:solidFill>
                <a:latin typeface="Arial" pitchFamily="34" charset="0"/>
                <a:ea typeface="Arial" pitchFamily="34" charset="-122"/>
                <a:cs typeface="Arial" pitchFamily="34" charset="-120"/>
              </a:rPr>
              <a:t>MT6</a:t>
            </a:r>
            <a:endParaRPr lang="en-US" sz="1800" dirty="0"/>
          </a:p>
        </p:txBody>
      </p:sp>
      <p:sp>
        <p:nvSpPr>
          <p:cNvPr id="27" name="Text 25"/>
          <p:cNvSpPr txBox="1"/>
          <p:nvPr/>
        </p:nvSpPr>
        <p:spPr>
          <a:xfrm>
            <a:off x="5303520" y="5257800"/>
            <a:ext cx="6339535" cy="640080"/>
          </a:xfrm>
          <a:prstGeom prst="rect">
            <a:avLst/>
          </a:prstGeom>
          <a:noFill/>
          <a:ln/>
        </p:spPr>
        <p:txBody>
          <a:bodyPr wrap="square" lIns="0" tIns="0" rIns="0" bIns="0" rtlCol="0" anchor="ctr"/>
          <a:lstStyle/>
          <a:p>
            <a:pPr indent="0" marL="0">
              <a:buNone/>
            </a:pPr>
            <a:r>
              <a:rPr lang="en-US" sz="1350" dirty="0">
                <a:solidFill>
                  <a:srgbClr val="1F2933"/>
                </a:solidFill>
                <a:latin typeface="Arial" pitchFamily="34" charset="0"/>
                <a:ea typeface="Arial" pitchFamily="34" charset="-122"/>
                <a:cs typeface="Arial" pitchFamily="34" charset="-120"/>
              </a:rPr>
              <a:t>Kiểm thử chức năng theo module (cả phân quyền), khảo sát SUS và nghiệm thu UAT.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01  GIỚI THIỆU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Phạm vi và phân công</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4 / 22</a:t>
            </a:r>
            <a:endParaRPr lang="en-US" sz="900" dirty="0"/>
          </a:p>
        </p:txBody>
      </p:sp>
      <p:sp>
        <p:nvSpPr>
          <p:cNvPr id="6" name="Text 4"/>
          <p:cNvSpPr txBox="1"/>
          <p:nvPr/>
        </p:nvSpPr>
        <p:spPr>
          <a:xfrm>
            <a:off x="548640" y="1508760"/>
            <a:ext cx="914400" cy="914400"/>
          </a:xfrm>
          <a:prstGeom prst="rect">
            <a:avLst/>
          </a:prstGeom>
          <a:noFill/>
          <a:ln/>
        </p:spPr>
        <p:txBody>
          <a:bodyPr wrap="square" lIns="0" tIns="0" rIns="0" bIns="0" rtlCol="0" anchor="t"/>
          <a:lstStyle/>
          <a:p>
            <a:pPr indent="0" marL="0">
              <a:buNone/>
            </a:pPr>
            <a:r>
              <a:rPr lang="en-US" sz="5400" b="1" dirty="0">
                <a:solidFill>
                  <a:srgbClr val="0A6EBD"/>
                </a:solidFill>
                <a:latin typeface="Arial" pitchFamily="34" charset="0"/>
                <a:ea typeface="Arial" pitchFamily="34" charset="-122"/>
                <a:cs typeface="Arial" pitchFamily="34" charset="-120"/>
              </a:rPr>
              <a:t>1</a:t>
            </a:r>
            <a:endParaRPr lang="en-US" sz="5400" dirty="0"/>
          </a:p>
        </p:txBody>
      </p:sp>
      <p:sp>
        <p:nvSpPr>
          <p:cNvPr id="7" name="Text 5"/>
          <p:cNvSpPr txBox="1"/>
          <p:nvPr/>
        </p:nvSpPr>
        <p:spPr>
          <a:xfrm>
            <a:off x="1508760" y="1691640"/>
            <a:ext cx="2651760" cy="32004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nhà hàng đơn lẻ</a:t>
            </a:r>
            <a:endParaRPr lang="en-US" sz="1600" dirty="0"/>
          </a:p>
        </p:txBody>
      </p:sp>
      <p:sp>
        <p:nvSpPr>
          <p:cNvPr id="8" name="Text 6"/>
          <p:cNvSpPr txBox="1"/>
          <p:nvPr/>
        </p:nvSpPr>
        <p:spPr>
          <a:xfrm>
            <a:off x="1508760" y="2029968"/>
            <a:ext cx="2651760" cy="45720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chưa mở rộng đa chi nhánh</a:t>
            </a:r>
            <a:endParaRPr lang="en-US" sz="1200" dirty="0"/>
          </a:p>
        </p:txBody>
      </p:sp>
      <p:sp>
        <p:nvSpPr>
          <p:cNvPr id="9" name="Text 7"/>
          <p:cNvSpPr txBox="1"/>
          <p:nvPr/>
        </p:nvSpPr>
        <p:spPr>
          <a:xfrm>
            <a:off x="4297680" y="1508760"/>
            <a:ext cx="914400" cy="914400"/>
          </a:xfrm>
          <a:prstGeom prst="rect">
            <a:avLst/>
          </a:prstGeom>
          <a:noFill/>
          <a:ln/>
        </p:spPr>
        <p:txBody>
          <a:bodyPr wrap="square" lIns="0" tIns="0" rIns="0" bIns="0" rtlCol="0" anchor="t"/>
          <a:lstStyle/>
          <a:p>
            <a:pPr indent="0" marL="0">
              <a:buNone/>
            </a:pPr>
            <a:r>
              <a:rPr lang="en-US" sz="5400" b="1" dirty="0">
                <a:solidFill>
                  <a:srgbClr val="0A6EBD"/>
                </a:solidFill>
                <a:latin typeface="Arial" pitchFamily="34" charset="0"/>
                <a:ea typeface="Arial" pitchFamily="34" charset="-122"/>
                <a:cs typeface="Arial" pitchFamily="34" charset="-120"/>
              </a:rPr>
              <a:t>3</a:t>
            </a:r>
            <a:endParaRPr lang="en-US" sz="5400" dirty="0"/>
          </a:p>
        </p:txBody>
      </p:sp>
      <p:sp>
        <p:nvSpPr>
          <p:cNvPr id="10" name="Text 8"/>
          <p:cNvSpPr txBox="1"/>
          <p:nvPr/>
        </p:nvSpPr>
        <p:spPr>
          <a:xfrm>
            <a:off x="5257800" y="1691640"/>
            <a:ext cx="2651760" cy="32004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vai trò người dùng</a:t>
            </a:r>
            <a:endParaRPr lang="en-US" sz="1600" dirty="0"/>
          </a:p>
        </p:txBody>
      </p:sp>
      <p:sp>
        <p:nvSpPr>
          <p:cNvPr id="11" name="Text 9"/>
          <p:cNvSpPr txBox="1"/>
          <p:nvPr/>
        </p:nvSpPr>
        <p:spPr>
          <a:xfrm>
            <a:off x="5257800" y="2029968"/>
            <a:ext cx="2651760" cy="45720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Quản lý · Thu ngân/NV order · Bếp</a:t>
            </a:r>
            <a:endParaRPr lang="en-US" sz="1200" dirty="0"/>
          </a:p>
        </p:txBody>
      </p:sp>
      <p:sp>
        <p:nvSpPr>
          <p:cNvPr id="12" name="Text 10"/>
          <p:cNvSpPr txBox="1"/>
          <p:nvPr/>
        </p:nvSpPr>
        <p:spPr>
          <a:xfrm>
            <a:off x="8046720" y="1508760"/>
            <a:ext cx="914400" cy="914400"/>
          </a:xfrm>
          <a:prstGeom prst="rect">
            <a:avLst/>
          </a:prstGeom>
          <a:noFill/>
          <a:ln/>
        </p:spPr>
        <p:txBody>
          <a:bodyPr wrap="square" lIns="0" tIns="0" rIns="0" bIns="0" rtlCol="0" anchor="t"/>
          <a:lstStyle/>
          <a:p>
            <a:pPr indent="0" marL="0">
              <a:buNone/>
            </a:pPr>
            <a:r>
              <a:rPr lang="en-US" sz="5400" b="1" dirty="0">
                <a:solidFill>
                  <a:srgbClr val="0A6EBD"/>
                </a:solidFill>
                <a:latin typeface="Arial" pitchFamily="34" charset="0"/>
                <a:ea typeface="Arial" pitchFamily="34" charset="-122"/>
                <a:cs typeface="Arial" pitchFamily="34" charset="-120"/>
              </a:rPr>
              <a:t>6</a:t>
            </a:r>
            <a:endParaRPr lang="en-US" sz="5400" dirty="0"/>
          </a:p>
        </p:txBody>
      </p:sp>
      <p:sp>
        <p:nvSpPr>
          <p:cNvPr id="13" name="Text 11"/>
          <p:cNvSpPr txBox="1"/>
          <p:nvPr/>
        </p:nvSpPr>
        <p:spPr>
          <a:xfrm>
            <a:off x="9006840" y="1691640"/>
            <a:ext cx="2651760" cy="32004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nhóm chức năng</a:t>
            </a:r>
            <a:endParaRPr lang="en-US" sz="1600" dirty="0"/>
          </a:p>
        </p:txBody>
      </p:sp>
      <p:sp>
        <p:nvSpPr>
          <p:cNvPr id="14" name="Text 12"/>
          <p:cNvSpPr txBox="1"/>
          <p:nvPr/>
        </p:nvSpPr>
        <p:spPr>
          <a:xfrm>
            <a:off x="9006840" y="2029968"/>
            <a:ext cx="2651760" cy="45720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5 module nghiệp vụ + AI Assistant</a:t>
            </a:r>
            <a:endParaRPr lang="en-US" sz="1200" dirty="0"/>
          </a:p>
        </p:txBody>
      </p:sp>
      <p:sp>
        <p:nvSpPr>
          <p:cNvPr id="15" name="Text 13"/>
          <p:cNvSpPr txBox="1"/>
          <p:nvPr/>
        </p:nvSpPr>
        <p:spPr>
          <a:xfrm>
            <a:off x="548640" y="2697480"/>
            <a:ext cx="11094415" cy="45720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Kiến trúc ba tầng: Next.js · Python/FastAPI · MySQL. SQL do LLM sinh ra được kiểm duyệt bằng sqlglot trước khi thực thi; model cấu hình qua biến môi trường LLM_MODEL.</a:t>
            </a:r>
            <a:endParaRPr lang="en-US" sz="1300" dirty="0"/>
          </a:p>
        </p:txBody>
      </p:sp>
      <p:sp>
        <p:nvSpPr>
          <p:cNvPr id="16" name="Shape 14"/>
          <p:cNvSpPr/>
          <p:nvPr/>
        </p:nvSpPr>
        <p:spPr>
          <a:xfrm>
            <a:off x="548640" y="3291840"/>
            <a:ext cx="11094415" cy="0"/>
          </a:xfrm>
          <a:prstGeom prst="line">
            <a:avLst/>
          </a:prstGeom>
          <a:noFill/>
          <a:ln w="9525">
            <a:solidFill>
              <a:srgbClr val="D5DCE4"/>
            </a:solidFill>
            <a:prstDash val="solid"/>
          </a:ln>
        </p:spPr>
      </p:sp>
      <p:sp>
        <p:nvSpPr>
          <p:cNvPr id="17" name="Text 15"/>
          <p:cNvSpPr txBox="1"/>
          <p:nvPr/>
        </p:nvSpPr>
        <p:spPr>
          <a:xfrm>
            <a:off x="548640" y="3520440"/>
            <a:ext cx="3474720" cy="365760"/>
          </a:xfrm>
          <a:prstGeom prst="rect">
            <a:avLst/>
          </a:prstGeom>
          <a:noFill/>
          <a:ln/>
        </p:spPr>
        <p:txBody>
          <a:bodyPr wrap="square" lIns="0" tIns="0" rIns="0" bIns="0" rtlCol="0" anchor="t"/>
          <a:lstStyle/>
          <a:p>
            <a:pPr indent="0" marL="0">
              <a:buNone/>
            </a:pPr>
            <a:r>
              <a:rPr lang="en-US" sz="1700" b="1" dirty="0">
                <a:solidFill>
                  <a:srgbClr val="0B2E4F"/>
                </a:solidFill>
                <a:latin typeface="Arial" pitchFamily="34" charset="0"/>
                <a:ea typeface="Arial" pitchFamily="34" charset="-122"/>
                <a:cs typeface="Arial" pitchFamily="34" charset="-120"/>
              </a:rPr>
              <a:t>Lê Nam Khánh</a:t>
            </a:r>
            <a:endParaRPr lang="en-US" sz="1700" dirty="0"/>
          </a:p>
        </p:txBody>
      </p:sp>
      <p:sp>
        <p:nvSpPr>
          <p:cNvPr id="18" name="Text 16"/>
          <p:cNvSpPr txBox="1"/>
          <p:nvPr/>
        </p:nvSpPr>
        <p:spPr>
          <a:xfrm>
            <a:off x="548640" y="3886200"/>
            <a:ext cx="3474720" cy="274320"/>
          </a:xfrm>
          <a:prstGeom prst="rect">
            <a:avLst/>
          </a:prstGeom>
          <a:noFill/>
          <a:ln/>
        </p:spPr>
        <p:txBody>
          <a:bodyPr wrap="square" lIns="0" tIns="0" rIns="0" bIns="0" rtlCol="0" anchor="t"/>
          <a:lstStyle/>
          <a:p>
            <a:pPr indent="0" marL="0">
              <a:buNone/>
            </a:pPr>
            <a:r>
              <a:rPr lang="en-US" sz="1200" b="1" dirty="0">
                <a:solidFill>
                  <a:srgbClr val="E8590C"/>
                </a:solidFill>
                <a:latin typeface="Arial" pitchFamily="34" charset="0"/>
                <a:ea typeface="Arial" pitchFamily="34" charset="-122"/>
                <a:cs typeface="Arial" pitchFamily="34" charset="-120"/>
              </a:rPr>
              <a:t>Khảo sát và phân tích</a:t>
            </a:r>
            <a:endParaRPr lang="en-US" sz="1200" dirty="0"/>
          </a:p>
        </p:txBody>
      </p:sp>
      <p:sp>
        <p:nvSpPr>
          <p:cNvPr id="19" name="Text 17"/>
          <p:cNvSpPr txBox="1"/>
          <p:nvPr/>
        </p:nvSpPr>
        <p:spPr>
          <a:xfrm>
            <a:off x="548640" y="4297680"/>
            <a:ext cx="347472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Thiết kế bảng hỏi, tổ chức khảo sát, phân tích kết quả</a:t>
            </a:r>
            <a:endParaRPr lang="en-US" sz="1250" dirty="0"/>
          </a:p>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Đặc tả chức năng, Use Case, Class Diagram, mô hình dữ liệu</a:t>
            </a:r>
            <a:endParaRPr lang="en-US" sz="1250" dirty="0"/>
          </a:p>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Bộ dữ liệu đánh giá; tổ chức SUS và UAT</a:t>
            </a:r>
            <a:endParaRPr lang="en-US" sz="1250" dirty="0"/>
          </a:p>
        </p:txBody>
      </p:sp>
      <p:sp>
        <p:nvSpPr>
          <p:cNvPr id="20" name="Text 18"/>
          <p:cNvSpPr txBox="1"/>
          <p:nvPr/>
        </p:nvSpPr>
        <p:spPr>
          <a:xfrm>
            <a:off x="4297680" y="3520440"/>
            <a:ext cx="3474720" cy="365760"/>
          </a:xfrm>
          <a:prstGeom prst="rect">
            <a:avLst/>
          </a:prstGeom>
          <a:noFill/>
          <a:ln/>
        </p:spPr>
        <p:txBody>
          <a:bodyPr wrap="square" lIns="0" tIns="0" rIns="0" bIns="0" rtlCol="0" anchor="t"/>
          <a:lstStyle/>
          <a:p>
            <a:pPr indent="0" marL="0">
              <a:buNone/>
            </a:pPr>
            <a:r>
              <a:rPr lang="en-US" sz="1700" b="1" dirty="0">
                <a:solidFill>
                  <a:srgbClr val="0B2E4F"/>
                </a:solidFill>
                <a:latin typeface="Arial" pitchFamily="34" charset="0"/>
                <a:ea typeface="Arial" pitchFamily="34" charset="-122"/>
                <a:cs typeface="Arial" pitchFamily="34" charset="-120"/>
              </a:rPr>
              <a:t>Nguyễn Mạnh Hùng</a:t>
            </a:r>
            <a:endParaRPr lang="en-US" sz="1700" dirty="0"/>
          </a:p>
        </p:txBody>
      </p:sp>
      <p:sp>
        <p:nvSpPr>
          <p:cNvPr id="21" name="Text 19"/>
          <p:cNvSpPr txBox="1"/>
          <p:nvPr/>
        </p:nvSpPr>
        <p:spPr>
          <a:xfrm>
            <a:off x="4297680" y="3886200"/>
            <a:ext cx="3474720" cy="274320"/>
          </a:xfrm>
          <a:prstGeom prst="rect">
            <a:avLst/>
          </a:prstGeom>
          <a:noFill/>
          <a:ln/>
        </p:spPr>
        <p:txBody>
          <a:bodyPr wrap="square" lIns="0" tIns="0" rIns="0" bIns="0" rtlCol="0" anchor="t"/>
          <a:lstStyle/>
          <a:p>
            <a:pPr indent="0" marL="0">
              <a:buNone/>
            </a:pPr>
            <a:r>
              <a:rPr lang="en-US" sz="1200" b="1" dirty="0">
                <a:solidFill>
                  <a:srgbClr val="E8590C"/>
                </a:solidFill>
                <a:latin typeface="Arial" pitchFamily="34" charset="0"/>
                <a:ea typeface="Arial" pitchFamily="34" charset="-122"/>
                <a:cs typeface="Arial" pitchFamily="34" charset="-120"/>
              </a:rPr>
              <a:t>Bán hàng và AI (sinh SQL)</a:t>
            </a:r>
            <a:endParaRPr lang="en-US" sz="1200" dirty="0"/>
          </a:p>
        </p:txBody>
      </p:sp>
      <p:sp>
        <p:nvSpPr>
          <p:cNvPr id="22" name="Text 20"/>
          <p:cNvSpPr txBox="1"/>
          <p:nvPr/>
        </p:nvSpPr>
        <p:spPr>
          <a:xfrm>
            <a:off x="4297680" y="4297680"/>
            <a:ext cx="347472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Module Quản lý danh mục, Quản lý bán hàng</a:t>
            </a:r>
            <a:endParaRPr lang="en-US" sz="1250" dirty="0"/>
          </a:p>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AI: chuẩn hóa câu hỏi, prompt, sinh SQL, lớp kiểm duyệt</a:t>
            </a:r>
            <a:endParaRPr lang="en-US" sz="1250" dirty="0"/>
          </a:p>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DDL, view phân quyền; harness chạy 3 cấu hình A/B/C</a:t>
            </a:r>
            <a:endParaRPr lang="en-US" sz="1250" dirty="0"/>
          </a:p>
        </p:txBody>
      </p:sp>
      <p:sp>
        <p:nvSpPr>
          <p:cNvPr id="23" name="Text 21"/>
          <p:cNvSpPr txBox="1"/>
          <p:nvPr/>
        </p:nvSpPr>
        <p:spPr>
          <a:xfrm>
            <a:off x="8046720" y="3520440"/>
            <a:ext cx="3474720" cy="365760"/>
          </a:xfrm>
          <a:prstGeom prst="rect">
            <a:avLst/>
          </a:prstGeom>
          <a:noFill/>
          <a:ln/>
        </p:spPr>
        <p:txBody>
          <a:bodyPr wrap="square" lIns="0" tIns="0" rIns="0" bIns="0" rtlCol="0" anchor="t"/>
          <a:lstStyle/>
          <a:p>
            <a:pPr indent="0" marL="0">
              <a:buNone/>
            </a:pPr>
            <a:r>
              <a:rPr lang="en-US" sz="1700" b="1" dirty="0">
                <a:solidFill>
                  <a:srgbClr val="0B2E4F"/>
                </a:solidFill>
                <a:latin typeface="Arial" pitchFamily="34" charset="0"/>
                <a:ea typeface="Arial" pitchFamily="34" charset="-122"/>
                <a:cs typeface="Arial" pitchFamily="34" charset="-120"/>
              </a:rPr>
              <a:t>Lê Nho Minh</a:t>
            </a:r>
            <a:endParaRPr lang="en-US" sz="1700" dirty="0"/>
          </a:p>
        </p:txBody>
      </p:sp>
      <p:sp>
        <p:nvSpPr>
          <p:cNvPr id="24" name="Text 22"/>
          <p:cNvSpPr txBox="1"/>
          <p:nvPr/>
        </p:nvSpPr>
        <p:spPr>
          <a:xfrm>
            <a:off x="8046720" y="3886200"/>
            <a:ext cx="3474720" cy="274320"/>
          </a:xfrm>
          <a:prstGeom prst="rect">
            <a:avLst/>
          </a:prstGeom>
          <a:noFill/>
          <a:ln/>
        </p:spPr>
        <p:txBody>
          <a:bodyPr wrap="square" lIns="0" tIns="0" rIns="0" bIns="0" rtlCol="0" anchor="t"/>
          <a:lstStyle/>
          <a:p>
            <a:pPr indent="0" marL="0">
              <a:buNone/>
            </a:pPr>
            <a:r>
              <a:rPr lang="en-US" sz="1200" b="1" dirty="0">
                <a:solidFill>
                  <a:srgbClr val="E8590C"/>
                </a:solidFill>
                <a:latin typeface="Arial" pitchFamily="34" charset="0"/>
                <a:ea typeface="Arial" pitchFamily="34" charset="-122"/>
                <a:cs typeface="Arial" pitchFamily="34" charset="-120"/>
              </a:rPr>
              <a:t>Kho, báo cáo và AI (diễn giải)</a:t>
            </a:r>
            <a:endParaRPr lang="en-US" sz="1200" dirty="0"/>
          </a:p>
        </p:txBody>
      </p:sp>
      <p:sp>
        <p:nvSpPr>
          <p:cNvPr id="25" name="Text 23"/>
          <p:cNvSpPr txBox="1"/>
          <p:nvPr/>
        </p:nvSpPr>
        <p:spPr>
          <a:xfrm>
            <a:off x="8046720" y="4297680"/>
            <a:ext cx="3474720" cy="1737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Module Kho, Báo cáo thống kê, Cài đặt/phân quyền</a:t>
            </a:r>
            <a:endParaRPr lang="en-US" sz="1250" dirty="0"/>
          </a:p>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AI: diễn giải kết quả và sinh biểu đồ</a:t>
            </a:r>
            <a:endParaRPr lang="en-US" sz="1250" dirty="0"/>
          </a:p>
          <a:p>
            <a:pPr marL="177800" indent="-177800">
              <a:spcAft>
                <a:spcPts val="600"/>
              </a:spcAft>
              <a:buSzPct val="100000"/>
              <a:buChar char="•"/>
            </a:pPr>
            <a:r>
              <a:rPr lang="en-US" sz="1250" dirty="0">
                <a:solidFill>
                  <a:srgbClr val="1F2933"/>
                </a:solidFill>
                <a:latin typeface="Arial" pitchFamily="34" charset="0"/>
                <a:ea typeface="Arial" pitchFamily="34" charset="-122"/>
                <a:cs typeface="Arial" pitchFamily="34" charset="-120"/>
              </a:rPr>
              <a:t>Script sinh dữ liệu mô phỏng 12 tháng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02  KHẢO SÁT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Sản phẩm hiện có và khoảng trống</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5 / 22</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862072"/>
                <a:gridCol w="1600200"/>
                <a:gridCol w="1783080"/>
                <a:gridCol w="1508760"/>
                <a:gridCol w="1600200"/>
                <a:gridCol w="1737360"/>
              </a:tblGrid>
              <a:tr h="502920">
                <a:tc>
                  <a:txBody>
                    <a:bodyPr/>
                    <a:lstStyle/>
                    <a:p>
                      <a:pPr algn="l" indent="0" marL="0">
                        <a:buNone/>
                      </a:pPr>
                      <a:r>
                        <a:rPr lang="en-US" sz="1250" b="1" dirty="0">
                          <a:solidFill>
                            <a:srgbClr val="0B2E4F"/>
                          </a:solidFill>
                          <a:latin typeface="Arial" pitchFamily="34" charset="0"/>
                          <a:ea typeface="Arial" pitchFamily="34" charset="-122"/>
                          <a:cs typeface="Arial" pitchFamily="34" charset="-120"/>
                        </a:rPr>
                        <a:t>Tiêu chí</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0B2E4F"/>
                          </a:solidFill>
                          <a:latin typeface="Arial" pitchFamily="34" charset="0"/>
                          <a:ea typeface="Arial" pitchFamily="34" charset="-122"/>
                          <a:cs typeface="Arial" pitchFamily="34" charset="-120"/>
                        </a:rPr>
                        <a:t>KiotViet</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0B2E4F"/>
                          </a:solidFill>
                          <a:latin typeface="Arial" pitchFamily="34" charset="0"/>
                          <a:ea typeface="Arial" pitchFamily="34" charset="-122"/>
                          <a:cs typeface="Arial" pitchFamily="34" charset="-120"/>
                        </a:rPr>
                        <a:t>Sapo FnB</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0B2E4F"/>
                          </a:solidFill>
                          <a:latin typeface="Arial" pitchFamily="34" charset="0"/>
                          <a:ea typeface="Arial" pitchFamily="34" charset="-122"/>
                          <a:cs typeface="Arial" pitchFamily="34" charset="-120"/>
                        </a:rPr>
                        <a:t>iPOS</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0B2E4F"/>
                          </a:solidFill>
                          <a:latin typeface="Arial" pitchFamily="34" charset="0"/>
                          <a:ea typeface="Arial" pitchFamily="34" charset="-122"/>
                          <a:cs typeface="Arial" pitchFamily="34" charset="-120"/>
                        </a:rPr>
                        <a:t>MISA CukCuk</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Đề tài</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A6EBD"/>
                    </a:solidFill>
                  </a:tcPr>
                </a:tc>
              </a:tr>
              <a:tr h="502920">
                <a:tc>
                  <a:txBody>
                    <a:bodyPr/>
                    <a:lstStyle/>
                    <a:p>
                      <a:pPr algn="l" indent="0" marL="0">
                        <a:buNone/>
                      </a:pPr>
                      <a:r>
                        <a:rPr lang="en-US" sz="1250" b="1" dirty="0">
                          <a:solidFill>
                            <a:srgbClr val="1F2933"/>
                          </a:solidFill>
                          <a:latin typeface="Arial" pitchFamily="34" charset="0"/>
                          <a:ea typeface="Arial" pitchFamily="34" charset="-122"/>
                          <a:cs typeface="Arial" pitchFamily="34" charset="-120"/>
                        </a:rPr>
                        <a:t>Order, bàn, hóa đơn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b="1" dirty="0">
                          <a:solidFill>
                            <a:srgbClr val="0A6EBD"/>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8F1FA"/>
                    </a:solidFill>
                  </a:tcPr>
                </a:tc>
              </a:tr>
              <a:tr h="502920">
                <a:tc>
                  <a:txBody>
                    <a:bodyPr/>
                    <a:lstStyle/>
                    <a:p>
                      <a:pPr algn="l" indent="0" marL="0">
                        <a:buNone/>
                      </a:pPr>
                      <a:r>
                        <a:rPr lang="en-US" sz="1250" b="1" dirty="0">
                          <a:solidFill>
                            <a:srgbClr val="1F2933"/>
                          </a:solidFill>
                          <a:latin typeface="Arial" pitchFamily="34" charset="0"/>
                          <a:ea typeface="Arial" pitchFamily="34" charset="-122"/>
                          <a:cs typeface="Arial" pitchFamily="34" charset="-120"/>
                        </a:rPr>
                        <a:t>Quản lý kho</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Cơ bản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Theo lô, hạn dùng</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Có</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b="1" dirty="0">
                          <a:solidFill>
                            <a:srgbClr val="0A6EBD"/>
                          </a:solidFill>
                          <a:latin typeface="Arial" pitchFamily="34" charset="0"/>
                          <a:ea typeface="Arial" pitchFamily="34" charset="-122"/>
                          <a:cs typeface="Arial" pitchFamily="34" charset="-120"/>
                        </a:rPr>
                        <a:t>Theo lô, FIFO, hạn dùng</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8F1FA"/>
                    </a:solidFill>
                  </a:tcPr>
                </a:tc>
              </a:tr>
              <a:tr h="502920">
                <a:tc>
                  <a:txBody>
                    <a:bodyPr/>
                    <a:lstStyle/>
                    <a:p>
                      <a:pPr algn="l" indent="0" marL="0">
                        <a:buNone/>
                      </a:pPr>
                      <a:r>
                        <a:rPr lang="en-US" sz="1250" b="1" dirty="0">
                          <a:solidFill>
                            <a:srgbClr val="1F2933"/>
                          </a:solidFill>
                          <a:latin typeface="Arial" pitchFamily="34" charset="0"/>
                          <a:ea typeface="Arial" pitchFamily="34" charset="-122"/>
                          <a:cs typeface="Arial" pitchFamily="34" charset="-120"/>
                        </a:rPr>
                        <a:t>Phân tích dữ liệu</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Báo cáo định sẵn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Báo cáo, biểu đồ định sẵn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Báo cáo cố định</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1F2933"/>
                          </a:solidFill>
                          <a:latin typeface="Arial" pitchFamily="34" charset="0"/>
                          <a:ea typeface="Arial" pitchFamily="34" charset="-122"/>
                          <a:cs typeface="Arial" pitchFamily="34" charset="-120"/>
                        </a:rPr>
                        <a:t>Báo cáo cố định</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b="1" dirty="0">
                          <a:solidFill>
                            <a:srgbClr val="0A6EBD"/>
                          </a:solidFill>
                          <a:latin typeface="Arial" pitchFamily="34" charset="0"/>
                          <a:ea typeface="Arial" pitchFamily="34" charset="-122"/>
                          <a:cs typeface="Arial" pitchFamily="34" charset="-120"/>
                        </a:rPr>
                        <a:t>Báo cáo + hỏi đáp</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8F1FA"/>
                    </a:solidFill>
                  </a:tcPr>
                </a:tc>
              </a:tr>
              <a:tr h="502920">
                <a:tc>
                  <a:txBody>
                    <a:bodyPr/>
                    <a:lstStyle/>
                    <a:p>
                      <a:pPr algn="l" indent="0" marL="0">
                        <a:buNone/>
                      </a:pPr>
                      <a:r>
                        <a:rPr lang="en-US" sz="1250" b="1" dirty="0">
                          <a:solidFill>
                            <a:srgbClr val="1F2933"/>
                          </a:solidFill>
                          <a:latin typeface="Arial" pitchFamily="34" charset="0"/>
                          <a:ea typeface="Arial" pitchFamily="34" charset="-122"/>
                          <a:cs typeface="Arial" pitchFamily="34" charset="-120"/>
                        </a:rPr>
                        <a:t>Hỏi đáp dữ liệu bằng ngôn ngữ tự nhiên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5B6573"/>
                          </a:solidFill>
                          <a:latin typeface="Arial" pitchFamily="34" charset="0"/>
                          <a:ea typeface="Arial" pitchFamily="34" charset="-122"/>
                          <a:cs typeface="Arial" pitchFamily="34" charset="-120"/>
                        </a:rPr>
                        <a:t>Chưa ghi nhận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5B6573"/>
                          </a:solidFill>
                          <a:latin typeface="Arial" pitchFamily="34" charset="0"/>
                          <a:ea typeface="Arial" pitchFamily="34" charset="-122"/>
                          <a:cs typeface="Arial" pitchFamily="34" charset="-120"/>
                        </a:rPr>
                        <a:t>Chưa ghi nhận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5B6573"/>
                          </a:solidFill>
                          <a:latin typeface="Arial" pitchFamily="34" charset="0"/>
                          <a:ea typeface="Arial" pitchFamily="34" charset="-122"/>
                          <a:cs typeface="Arial" pitchFamily="34" charset="-120"/>
                        </a:rPr>
                        <a:t>Chưa ghi nhận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dirty="0">
                          <a:solidFill>
                            <a:srgbClr val="5B6573"/>
                          </a:solidFill>
                          <a:latin typeface="Arial" pitchFamily="34" charset="0"/>
                          <a:ea typeface="Arial" pitchFamily="34" charset="-122"/>
                          <a:cs typeface="Arial" pitchFamily="34" charset="-120"/>
                        </a:rPr>
                        <a:t>Chưa ghi nhận</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Có, tiếng Việt</a:t>
                      </a:r>
                      <a:endParaRPr lang="en-US" sz="1250" dirty="0">
                        <a:latin typeface="Arial" charset="0"/>
                        <a:ea typeface="Arial" charset="0"/>
                        <a:cs typeface="Arial" charset="0"/>
                      </a:endParaRPr>
                    </a:p>
                  </a:txBody>
                  <a:tcPr marL="91440" marR="91440" marT="45720" marB="45720"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8590C"/>
                    </a:solidFill>
                  </a:tcPr>
                </a:tc>
              </a:tr>
            </a:tbl>
          </a:graphicData>
        </a:graphic>
      </p:graphicFrame>
      <p:sp>
        <p:nvSpPr>
          <p:cNvPr id="7" name="Text 4"/>
          <p:cNvSpPr txBox="1"/>
          <p:nvPr/>
        </p:nvSpPr>
        <p:spPr>
          <a:xfrm>
            <a:off x="548640" y="4160520"/>
            <a:ext cx="11094415" cy="274320"/>
          </a:xfrm>
          <a:prstGeom prst="rect">
            <a:avLst/>
          </a:prstGeom>
          <a:noFill/>
          <a:ln/>
        </p:spPr>
        <p:txBody>
          <a:bodyPr wrap="square" lIns="0" tIns="0" rIns="0" bIns="0" rtlCol="0" anchor="t"/>
          <a:lstStyle/>
          <a:p>
            <a:pPr indent="0" marL="0">
              <a:buNone/>
            </a:pPr>
            <a:r>
              <a:rPr lang="en-US" sz="1000" i="1" dirty="0">
                <a:solidFill>
                  <a:srgbClr val="5B6573"/>
                </a:solidFill>
                <a:latin typeface="Arial" pitchFamily="34" charset="0"/>
                <a:ea typeface="Arial" pitchFamily="34" charset="-122"/>
                <a:cs typeface="Arial" pitchFamily="34" charset="-120"/>
              </a:rPr>
              <a:t>Theo thông tin công khai trên website và tài liệu sản phẩm tại thời điểm khảo sát, tháng 8/2026.</a:t>
            </a:r>
            <a:endParaRPr lang="en-US" sz="1000" dirty="0"/>
          </a:p>
        </p:txBody>
      </p:sp>
      <p:sp>
        <p:nvSpPr>
          <p:cNvPr id="8" name="Shape 5"/>
          <p:cNvSpPr/>
          <p:nvPr/>
        </p:nvSpPr>
        <p:spPr>
          <a:xfrm>
            <a:off x="548640" y="4617720"/>
            <a:ext cx="11094415" cy="1143000"/>
          </a:xfrm>
          <a:prstGeom prst="roundRect">
            <a:avLst>
              <a:gd name="adj" fmla="val 4800"/>
            </a:avLst>
          </a:prstGeom>
          <a:solidFill>
            <a:srgbClr val="F3F6F9"/>
          </a:solidFill>
          <a:ln/>
        </p:spPr>
      </p:sp>
      <p:sp>
        <p:nvSpPr>
          <p:cNvPr id="9" name="Text 6"/>
          <p:cNvSpPr txBox="1"/>
          <p:nvPr/>
        </p:nvSpPr>
        <p:spPr>
          <a:xfrm>
            <a:off x="822960" y="4754880"/>
            <a:ext cx="2194560" cy="320040"/>
          </a:xfrm>
          <a:prstGeom prst="rect">
            <a:avLst/>
          </a:prstGeom>
          <a:noFill/>
          <a:ln/>
        </p:spPr>
        <p:txBody>
          <a:bodyPr wrap="square" lIns="0" tIns="0" rIns="0" bIns="0" rtlCol="0" anchor="t"/>
          <a:lstStyle/>
          <a:p>
            <a:pPr indent="0" marL="0">
              <a:buNone/>
            </a:pPr>
            <a:r>
              <a:rPr lang="en-US" sz="1400" b="1" dirty="0">
                <a:solidFill>
                  <a:srgbClr val="0B2E4F"/>
                </a:solidFill>
                <a:latin typeface="Arial" pitchFamily="34" charset="0"/>
                <a:ea typeface="Arial" pitchFamily="34" charset="-122"/>
                <a:cs typeface="Arial" pitchFamily="34" charset="-120"/>
              </a:rPr>
              <a:t>Về nghiên cứu</a:t>
            </a:r>
            <a:endParaRPr lang="en-US" sz="1400" dirty="0"/>
          </a:p>
        </p:txBody>
      </p:sp>
      <p:sp>
        <p:nvSpPr>
          <p:cNvPr id="10" name="Text 7"/>
          <p:cNvSpPr txBox="1"/>
          <p:nvPr/>
        </p:nvSpPr>
        <p:spPr>
          <a:xfrm>
            <a:off x="3108960" y="4754880"/>
            <a:ext cx="8259775" cy="914400"/>
          </a:xfrm>
          <a:prstGeom prst="rect">
            <a:avLst/>
          </a:prstGeom>
          <a:noFill/>
          <a:ln/>
        </p:spPr>
        <p:txBody>
          <a:bodyPr wrap="square" lIns="0" tIns="0" rIns="0" bIns="0" rtlCol="0" anchor="t"/>
          <a:lstStyle/>
          <a:p>
            <a:pPr indent="0" marL="0">
              <a:buNone/>
            </a:pPr>
            <a:r>
              <a:rPr lang="en-US" sz="1300" b="1" dirty="0">
                <a:solidFill>
                  <a:srgbClr val="1F2933"/>
                </a:solidFill>
                <a:latin typeface="Arial" pitchFamily="34" charset="0"/>
                <a:ea typeface="Arial" pitchFamily="34" charset="-122"/>
                <a:cs typeface="Arial" pitchFamily="34" charset="-120"/>
              </a:rPr>
              <a:t>Spider, BIRD, DIN-SQL</a:t>
            </a:r>
            <a:pPr indent="0" marL="0">
              <a:buNone/>
            </a:pPr>
            <a:r>
              <a:rPr lang="en-US" sz="1300" dirty="0">
                <a:solidFill>
                  <a:srgbClr val="1F2933"/>
                </a:solidFill>
                <a:latin typeface="Arial" pitchFamily="34" charset="0"/>
                <a:ea typeface="Arial" pitchFamily="34" charset="-122"/>
                <a:cs typeface="Arial" pitchFamily="34" charset="-120"/>
              </a:rPr>
              <a:t> và các nghiên cứu đánh giá LLM cho Text-to-SQL đều làm trên tiếng Anh với lược đồ tổng quát. </a:t>
            </a:r>
            <a:pPr indent="0" marL="0">
              <a:buNone/>
            </a:pPr>
            <a:r>
              <a:rPr lang="en-US" sz="1300" b="1" dirty="0">
                <a:solidFill>
                  <a:srgbClr val="1F2933"/>
                </a:solidFill>
                <a:latin typeface="Arial" pitchFamily="34" charset="0"/>
                <a:ea typeface="Arial" pitchFamily="34" charset="-122"/>
                <a:cs typeface="Arial" pitchFamily="34" charset="-120"/>
              </a:rPr>
              <a:t>ViText2SQL</a:t>
            </a:r>
            <a:pPr indent="0" marL="0">
              <a:buNone/>
            </a:pPr>
            <a:r>
              <a:rPr lang="en-US" sz="1300" dirty="0">
                <a:solidFill>
                  <a:srgbClr val="1F2933"/>
                </a:solidFill>
                <a:latin typeface="Arial" pitchFamily="34" charset="0"/>
                <a:ea typeface="Arial" pitchFamily="34" charset="-122"/>
                <a:cs typeface="Arial" pitchFamily="34" charset="-120"/>
              </a:rPr>
              <a:t> là bộ dữ liệu tiếng Việt nhưng cũng dựa trên lược đồ tổng quát. </a:t>
            </a:r>
            <a:pPr indent="0" marL="0">
              <a:buNone/>
            </a:pPr>
            <a:r>
              <a:rPr lang="en-US" sz="1300" b="1" dirty="0">
                <a:solidFill>
                  <a:srgbClr val="E8590C"/>
                </a:solidFill>
                <a:latin typeface="Arial" pitchFamily="34" charset="0"/>
                <a:ea typeface="Arial" pitchFamily="34" charset="-122"/>
                <a:cs typeface="Arial" pitchFamily="34" charset="-120"/>
              </a:rPr>
              <a:t>Chưa thấy nghiên cứu nào đánh giá riêng câu hỏi tiếng Việt trên lược đồ nghiệp vụ nhà hàng.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02  KHẢO SÁT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Khảo sát người dùng: phương pháp</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6 / 22</a:t>
            </a:r>
            <a:endParaRPr lang="en-US" sz="900" dirty="0"/>
          </a:p>
        </p:txBody>
      </p:sp>
      <p:sp>
        <p:nvSpPr>
          <p:cNvPr id="6" name="Text 4"/>
          <p:cNvSpPr txBox="1"/>
          <p:nvPr/>
        </p:nvSpPr>
        <p:spPr>
          <a:xfrm>
            <a:off x="548640" y="1463040"/>
            <a:ext cx="2011680" cy="1188720"/>
          </a:xfrm>
          <a:prstGeom prst="rect">
            <a:avLst/>
          </a:prstGeom>
          <a:noFill/>
          <a:ln/>
        </p:spPr>
        <p:txBody>
          <a:bodyPr wrap="square" lIns="0" tIns="0" rIns="0" bIns="0" rtlCol="0" anchor="t"/>
          <a:lstStyle/>
          <a:p>
            <a:pPr indent="0" marL="0">
              <a:buNone/>
            </a:pPr>
            <a:r>
              <a:rPr lang="en-US" sz="8000" b="1" dirty="0">
                <a:solidFill>
                  <a:srgbClr val="0A6EBD"/>
                </a:solidFill>
                <a:latin typeface="Arial" pitchFamily="34" charset="0"/>
                <a:ea typeface="Arial" pitchFamily="34" charset="-122"/>
                <a:cs typeface="Arial" pitchFamily="34" charset="-120"/>
              </a:rPr>
              <a:t>51</a:t>
            </a:r>
            <a:endParaRPr lang="en-US" sz="8000" dirty="0"/>
          </a:p>
        </p:txBody>
      </p:sp>
      <p:sp>
        <p:nvSpPr>
          <p:cNvPr id="7" name="Text 5"/>
          <p:cNvSpPr txBox="1"/>
          <p:nvPr/>
        </p:nvSpPr>
        <p:spPr>
          <a:xfrm>
            <a:off x="2560320" y="1783080"/>
            <a:ext cx="2651760" cy="822960"/>
          </a:xfrm>
          <a:prstGeom prst="rect">
            <a:avLst/>
          </a:prstGeom>
          <a:noFill/>
          <a:ln/>
        </p:spPr>
        <p:txBody>
          <a:bodyPr wrap="square" lIns="0" tIns="0" rIns="0" bIns="0" rtlCol="0" anchor="t"/>
          <a:lstStyle/>
          <a:p>
            <a:pPr indent="0" marL="0">
              <a:buNone/>
            </a:pPr>
            <a:r>
              <a:rPr lang="en-US" sz="1300" dirty="0">
                <a:solidFill>
                  <a:srgbClr val="5B6573"/>
                </a:solidFill>
                <a:latin typeface="Arial" pitchFamily="34" charset="0"/>
                <a:ea typeface="Arial" pitchFamily="34" charset="-122"/>
                <a:cs typeface="Arial" pitchFamily="34" charset="-120"/>
              </a:rPr>
              <a:t>người tham gia, đều có ít nhất 6 tháng làm việc tại nhà hàng, quán ăn</a:t>
            </a:r>
            <a:endParaRPr lang="en-US" sz="1300" dirty="0"/>
          </a:p>
        </p:txBody>
      </p:sp>
      <p:graphicFrame>
        <p:nvGraphicFramePr>
          <p:cNvPr id="8" name="Chart 0" descr=""/>
          <p:cNvGraphicFramePr/>
          <p:nvPr/>
        </p:nvGraphicFramePr>
        <p:xfrm>
          <a:off x="457200" y="2788920"/>
          <a:ext cx="4846320" cy="33832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760720" y="1554480"/>
            <a:ext cx="1645920" cy="365760"/>
          </a:xfrm>
          <a:prstGeom prst="rect">
            <a:avLst/>
          </a:prstGeom>
          <a:noFill/>
          <a:ln/>
        </p:spPr>
        <p:txBody>
          <a:bodyPr wrap="square" lIns="0" tIns="0" rIns="0" bIns="0" rtlCol="0" anchor="t"/>
          <a:lstStyle/>
          <a:p>
            <a:pPr indent="0" marL="0">
              <a:buNone/>
            </a:pPr>
            <a:r>
              <a:rPr lang="en-US" sz="1300" b="1" dirty="0">
                <a:solidFill>
                  <a:srgbClr val="0A6EBD"/>
                </a:solidFill>
                <a:latin typeface="Arial" pitchFamily="34" charset="0"/>
                <a:ea typeface="Arial" pitchFamily="34" charset="-122"/>
                <a:cs typeface="Arial" pitchFamily="34" charset="-120"/>
              </a:rPr>
              <a:t>Hình thức</a:t>
            </a:r>
            <a:endParaRPr lang="en-US" sz="1300" dirty="0"/>
          </a:p>
        </p:txBody>
      </p:sp>
      <p:sp>
        <p:nvSpPr>
          <p:cNvPr id="10" name="Text 7"/>
          <p:cNvSpPr txBox="1"/>
          <p:nvPr/>
        </p:nvSpPr>
        <p:spPr>
          <a:xfrm>
            <a:off x="7498080" y="1554480"/>
            <a:ext cx="4144975" cy="96012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Bảng hỏi trực tuyến (Google Forms), phân nhánh theo vai trò: mỗi người chỉ thấy câu hỏi đúng vị trí của mình.</a:t>
            </a:r>
            <a:endParaRPr lang="en-US" sz="1300" dirty="0"/>
          </a:p>
        </p:txBody>
      </p:sp>
      <p:sp>
        <p:nvSpPr>
          <p:cNvPr id="11" name="Shape 8"/>
          <p:cNvSpPr/>
          <p:nvPr/>
        </p:nvSpPr>
        <p:spPr>
          <a:xfrm>
            <a:off x="5760720" y="2578608"/>
            <a:ext cx="5882335" cy="0"/>
          </a:xfrm>
          <a:prstGeom prst="line">
            <a:avLst/>
          </a:prstGeom>
          <a:noFill/>
          <a:ln w="9525">
            <a:solidFill>
              <a:srgbClr val="D5DCE4"/>
            </a:solidFill>
            <a:prstDash val="solid"/>
          </a:ln>
        </p:spPr>
      </p:sp>
      <p:sp>
        <p:nvSpPr>
          <p:cNvPr id="12" name="Text 9"/>
          <p:cNvSpPr txBox="1"/>
          <p:nvPr/>
        </p:nvSpPr>
        <p:spPr>
          <a:xfrm>
            <a:off x="5760720" y="2697480"/>
            <a:ext cx="1645920" cy="365760"/>
          </a:xfrm>
          <a:prstGeom prst="rect">
            <a:avLst/>
          </a:prstGeom>
          <a:noFill/>
          <a:ln/>
        </p:spPr>
        <p:txBody>
          <a:bodyPr wrap="square" lIns="0" tIns="0" rIns="0" bIns="0" rtlCol="0" anchor="t"/>
          <a:lstStyle/>
          <a:p>
            <a:pPr indent="0" marL="0">
              <a:buNone/>
            </a:pPr>
            <a:r>
              <a:rPr lang="en-US" sz="1300" b="1" dirty="0">
                <a:solidFill>
                  <a:srgbClr val="0A6EBD"/>
                </a:solidFill>
                <a:latin typeface="Arial" pitchFamily="34" charset="0"/>
                <a:ea typeface="Arial" pitchFamily="34" charset="-122"/>
                <a:cs typeface="Arial" pitchFamily="34" charset="-120"/>
              </a:rPr>
              <a:t>Cấu trúc</a:t>
            </a:r>
            <a:endParaRPr lang="en-US" sz="1300" dirty="0"/>
          </a:p>
        </p:txBody>
      </p:sp>
      <p:sp>
        <p:nvSpPr>
          <p:cNvPr id="13" name="Text 10"/>
          <p:cNvSpPr txBox="1"/>
          <p:nvPr/>
        </p:nvSpPr>
        <p:spPr>
          <a:xfrm>
            <a:off x="7498080" y="2697480"/>
            <a:ext cx="4144975" cy="96012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5 phần, 52 câu: thông tin chung · order và thanh toán · kho và công thức · câu hỏi cho chủ/quản lý · kỳ vọng về AI.</a:t>
            </a:r>
            <a:endParaRPr lang="en-US" sz="1300" dirty="0"/>
          </a:p>
        </p:txBody>
      </p:sp>
      <p:sp>
        <p:nvSpPr>
          <p:cNvPr id="14" name="Shape 11"/>
          <p:cNvSpPr/>
          <p:nvPr/>
        </p:nvSpPr>
        <p:spPr>
          <a:xfrm>
            <a:off x="5760720" y="3721608"/>
            <a:ext cx="5882335" cy="0"/>
          </a:xfrm>
          <a:prstGeom prst="line">
            <a:avLst/>
          </a:prstGeom>
          <a:noFill/>
          <a:ln w="9525">
            <a:solidFill>
              <a:srgbClr val="D5DCE4"/>
            </a:solidFill>
            <a:prstDash val="solid"/>
          </a:ln>
        </p:spPr>
      </p:sp>
      <p:sp>
        <p:nvSpPr>
          <p:cNvPr id="15" name="Text 12"/>
          <p:cNvSpPr txBox="1"/>
          <p:nvPr/>
        </p:nvSpPr>
        <p:spPr>
          <a:xfrm>
            <a:off x="5760720" y="3840480"/>
            <a:ext cx="1645920" cy="365760"/>
          </a:xfrm>
          <a:prstGeom prst="rect">
            <a:avLst/>
          </a:prstGeom>
          <a:noFill/>
          <a:ln/>
        </p:spPr>
        <p:txBody>
          <a:bodyPr wrap="square" lIns="0" tIns="0" rIns="0" bIns="0" rtlCol="0" anchor="t"/>
          <a:lstStyle/>
          <a:p>
            <a:pPr indent="0" marL="0">
              <a:buNone/>
            </a:pPr>
            <a:r>
              <a:rPr lang="en-US" sz="1300" b="1" dirty="0">
                <a:solidFill>
                  <a:srgbClr val="0A6EBD"/>
                </a:solidFill>
                <a:latin typeface="Arial" pitchFamily="34" charset="0"/>
                <a:ea typeface="Arial" pitchFamily="34" charset="-122"/>
                <a:cs typeface="Arial" pitchFamily="34" charset="-120"/>
              </a:rPr>
              <a:t>Cách phân tích</a:t>
            </a:r>
            <a:endParaRPr lang="en-US" sz="1300" dirty="0"/>
          </a:p>
        </p:txBody>
      </p:sp>
      <p:sp>
        <p:nvSpPr>
          <p:cNvPr id="16" name="Text 13"/>
          <p:cNvSpPr txBox="1"/>
          <p:nvPr/>
        </p:nvSpPr>
        <p:spPr>
          <a:xfrm>
            <a:off x="7498080" y="3840480"/>
            <a:ext cx="4144975" cy="96012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Thống kê tỷ lệ theo từng nhóm vai trò. Một phát hiện chỉ được ghi nhận khi ≥ 30% người trong nhóm được hỏi lựa chọn.</a:t>
            </a:r>
            <a:endParaRPr lang="en-US" sz="1300" dirty="0"/>
          </a:p>
        </p:txBody>
      </p:sp>
      <p:sp>
        <p:nvSpPr>
          <p:cNvPr id="17" name="Shape 14"/>
          <p:cNvSpPr/>
          <p:nvPr/>
        </p:nvSpPr>
        <p:spPr>
          <a:xfrm>
            <a:off x="5760720" y="4864608"/>
            <a:ext cx="5882335" cy="0"/>
          </a:xfrm>
          <a:prstGeom prst="line">
            <a:avLst/>
          </a:prstGeom>
          <a:noFill/>
          <a:ln w="9525">
            <a:solidFill>
              <a:srgbClr val="D5DCE4"/>
            </a:solidFill>
            <a:prstDash val="solid"/>
          </a:ln>
        </p:spPr>
      </p:sp>
      <p:sp>
        <p:nvSpPr>
          <p:cNvPr id="18" name="Text 15"/>
          <p:cNvSpPr txBox="1"/>
          <p:nvPr/>
        </p:nvSpPr>
        <p:spPr>
          <a:xfrm>
            <a:off x="5760720" y="4983480"/>
            <a:ext cx="1645920" cy="365760"/>
          </a:xfrm>
          <a:prstGeom prst="rect">
            <a:avLst/>
          </a:prstGeom>
          <a:noFill/>
          <a:ln/>
        </p:spPr>
        <p:txBody>
          <a:bodyPr wrap="square" lIns="0" tIns="0" rIns="0" bIns="0" rtlCol="0" anchor="t"/>
          <a:lstStyle/>
          <a:p>
            <a:pPr indent="0" marL="0">
              <a:buNone/>
            </a:pPr>
            <a:r>
              <a:rPr lang="en-US" sz="1300" b="1" dirty="0">
                <a:solidFill>
                  <a:srgbClr val="E8590C"/>
                </a:solidFill>
                <a:latin typeface="Arial" pitchFamily="34" charset="0"/>
                <a:ea typeface="Arial" pitchFamily="34" charset="-122"/>
                <a:cs typeface="Arial" pitchFamily="34" charset="-120"/>
              </a:rPr>
              <a:t>Hạn chế</a:t>
            </a:r>
            <a:endParaRPr lang="en-US" sz="1300" dirty="0"/>
          </a:p>
        </p:txBody>
      </p:sp>
      <p:sp>
        <p:nvSpPr>
          <p:cNvPr id="19" name="Text 16"/>
          <p:cNvSpPr txBox="1"/>
          <p:nvPr/>
        </p:nvSpPr>
        <p:spPr>
          <a:xfrm>
            <a:off x="7498080" y="4983480"/>
            <a:ext cx="4144975" cy="960120"/>
          </a:xfrm>
          <a:prstGeom prst="rect">
            <a:avLst/>
          </a:prstGeom>
          <a:noFill/>
          <a:ln/>
        </p:spPr>
        <p:txBody>
          <a:bodyPr wrap="square" lIns="0" tIns="0" rIns="0" bIns="0" rtlCol="0" anchor="t"/>
          <a:lstStyle/>
          <a:p>
            <a:pPr indent="0" marL="0">
              <a:buNone/>
            </a:pPr>
            <a:r>
              <a:rPr lang="en-US" sz="1300" dirty="0">
                <a:solidFill>
                  <a:srgbClr val="1F2933"/>
                </a:solidFill>
                <a:latin typeface="Arial" pitchFamily="34" charset="0"/>
                <a:ea typeface="Arial" pitchFamily="34" charset="-122"/>
                <a:cs typeface="Arial" pitchFamily="34" charset="-120"/>
              </a:rPr>
              <a:t>Chọn mẫu thuận tiện, chỉ 7 chủ/quản lý. Nhóm đối chiếu thêm với báo cáo thị trường F&amp;B 2025 của iPOS.vn (3.001 chủ nhà hàng).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02  KHẢO SÁT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Khảo sát người dùng: phát hiện chính</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7 / 22</a:t>
            </a:r>
            <a:endParaRPr lang="en-US" sz="900" dirty="0"/>
          </a:p>
        </p:txBody>
      </p:sp>
      <p:graphicFrame>
        <p:nvGraphicFramePr>
          <p:cNvPr id="6" name="Chart 0" descr=""/>
          <p:cNvGraphicFramePr/>
          <p:nvPr/>
        </p:nvGraphicFramePr>
        <p:xfrm>
          <a:off x="457200" y="146304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852160"/>
            <a:ext cx="7315200" cy="274320"/>
          </a:xfrm>
          <a:prstGeom prst="rect">
            <a:avLst/>
          </a:prstGeom>
          <a:noFill/>
          <a:ln/>
        </p:spPr>
        <p:txBody>
          <a:bodyPr wrap="square" lIns="0" tIns="0" rIns="0" bIns="0" rtlCol="0" anchor="t"/>
          <a:lstStyle/>
          <a:p>
            <a:pPr indent="0" marL="0">
              <a:buNone/>
            </a:pPr>
            <a:r>
              <a:rPr lang="en-US" sz="1000" i="1" dirty="0">
                <a:solidFill>
                  <a:srgbClr val="5B6573"/>
                </a:solidFill>
                <a:latin typeface="Arial" pitchFamily="34" charset="0"/>
                <a:ea typeface="Arial" pitchFamily="34" charset="-122"/>
                <a:cs typeface="Arial" pitchFamily="34" charset="-120"/>
              </a:rPr>
              <a:t>Mẫu số là nhóm vai trò được hỏi ở từng câu (ví dụ C3, C4: 34 thu ngân và nhân viên order).</a:t>
            </a:r>
            <a:endParaRPr lang="en-US" sz="1000" dirty="0"/>
          </a:p>
        </p:txBody>
      </p:sp>
      <p:sp>
        <p:nvSpPr>
          <p:cNvPr id="8" name="Shape 5"/>
          <p:cNvSpPr/>
          <p:nvPr/>
        </p:nvSpPr>
        <p:spPr>
          <a:xfrm>
            <a:off x="8412480" y="1554480"/>
            <a:ext cx="3230575" cy="2788920"/>
          </a:xfrm>
          <a:prstGeom prst="roundRect">
            <a:avLst>
              <a:gd name="adj" fmla="val 1967"/>
            </a:avLst>
          </a:prstGeom>
          <a:solidFill>
            <a:srgbClr val="FDEDE4"/>
          </a:solidFill>
          <a:ln/>
        </p:spPr>
      </p:sp>
      <p:sp>
        <p:nvSpPr>
          <p:cNvPr id="9" name="Text 6"/>
          <p:cNvSpPr txBox="1"/>
          <p:nvPr/>
        </p:nvSpPr>
        <p:spPr>
          <a:xfrm>
            <a:off x="8686800" y="1691640"/>
            <a:ext cx="2681935" cy="914400"/>
          </a:xfrm>
          <a:prstGeom prst="rect">
            <a:avLst/>
          </a:prstGeom>
          <a:noFill/>
          <a:ln/>
        </p:spPr>
        <p:txBody>
          <a:bodyPr wrap="square" lIns="0" tIns="0" rIns="0" bIns="0" rtlCol="0" anchor="t"/>
          <a:lstStyle/>
          <a:p>
            <a:pPr indent="0" marL="0">
              <a:buNone/>
            </a:pPr>
            <a:r>
              <a:rPr lang="en-US" sz="5400" b="1" dirty="0">
                <a:solidFill>
                  <a:srgbClr val="E8590C"/>
                </a:solidFill>
                <a:latin typeface="Arial" pitchFamily="34" charset="0"/>
                <a:ea typeface="Arial" pitchFamily="34" charset="-122"/>
                <a:cs typeface="Arial" pitchFamily="34" charset="-120"/>
              </a:rPr>
              <a:t>0/17</a:t>
            </a:r>
            <a:endParaRPr lang="en-US" sz="5400" dirty="0"/>
          </a:p>
        </p:txBody>
      </p:sp>
      <p:sp>
        <p:nvSpPr>
          <p:cNvPr id="10" name="Text 7"/>
          <p:cNvSpPr txBox="1"/>
          <p:nvPr/>
        </p:nvSpPr>
        <p:spPr>
          <a:xfrm>
            <a:off x="8686800" y="2651760"/>
            <a:ext cx="2681935" cy="1005840"/>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người ở bếp và chủ/quản lý theo dõi được tồn kho liên tục theo thời gian thực (D2)</a:t>
            </a:r>
            <a:endParaRPr lang="en-US" sz="1400" dirty="0"/>
          </a:p>
        </p:txBody>
      </p:sp>
      <p:sp>
        <p:nvSpPr>
          <p:cNvPr id="11" name="Text 8"/>
          <p:cNvSpPr txBox="1"/>
          <p:nvPr/>
        </p:nvSpPr>
        <p:spPr>
          <a:xfrm>
            <a:off x="8686800" y="3657600"/>
            <a:ext cx="2681935" cy="548640"/>
          </a:xfrm>
          <a:prstGeom prst="rect">
            <a:avLst/>
          </a:prstGeom>
          <a:noFill/>
          <a:ln/>
        </p:spPr>
        <p:txBody>
          <a:bodyPr wrap="square" lIns="0" tIns="0" rIns="0" bIns="0" rtlCol="0" anchor="t"/>
          <a:lstStyle/>
          <a:p>
            <a:pPr indent="0" marL="0">
              <a:buNone/>
            </a:pPr>
            <a:r>
              <a:rPr lang="en-US" sz="1200" dirty="0">
                <a:solidFill>
                  <a:srgbClr val="5B6573"/>
                </a:solidFill>
                <a:latin typeface="Arial" pitchFamily="34" charset="0"/>
                <a:ea typeface="Arial" pitchFamily="34" charset="-122"/>
                <a:cs typeface="Arial" pitchFamily="34" charset="-120"/>
              </a:rPr>
              <a:t>Khó khăn lớn nhất: không biết tồn thực tế (53%).</a:t>
            </a:r>
            <a:endParaRPr lang="en-US" sz="1200" dirty="0"/>
          </a:p>
        </p:txBody>
      </p:sp>
      <p:sp>
        <p:nvSpPr>
          <p:cNvPr id="12" name="Text 9"/>
          <p:cNvSpPr txBox="1"/>
          <p:nvPr/>
        </p:nvSpPr>
        <p:spPr>
          <a:xfrm>
            <a:off x="8412480" y="4572000"/>
            <a:ext cx="3230575" cy="82296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Mỗi phát hiện được truy vết sang yêu cầu chức năng, phi chức năng tương ứng (Phụ lục 3 của báo cáo).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02  KHẢO SÁT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Quy trình nghiệp vụ chính</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8 / 22</a:t>
            </a:r>
            <a:endParaRPr lang="en-US" sz="900" dirty="0"/>
          </a:p>
        </p:txBody>
      </p:sp>
      <p:sp>
        <p:nvSpPr>
          <p:cNvPr id="6" name="Text 4"/>
          <p:cNvSpPr txBox="1"/>
          <p:nvPr/>
        </p:nvSpPr>
        <p:spPr>
          <a:xfrm>
            <a:off x="548640" y="1463040"/>
            <a:ext cx="11094415" cy="320040"/>
          </a:xfrm>
          <a:prstGeom prst="rect">
            <a:avLst/>
          </a:prstGeom>
          <a:noFill/>
          <a:ln/>
        </p:spPr>
        <p:txBody>
          <a:bodyPr wrap="square" lIns="0" tIns="0" rIns="0" bIns="0" rtlCol="0" anchor="t"/>
          <a:lstStyle/>
          <a:p>
            <a:pPr indent="0" marL="0">
              <a:buNone/>
            </a:pPr>
            <a:r>
              <a:rPr lang="en-US" sz="1400" b="1" dirty="0">
                <a:solidFill>
                  <a:srgbClr val="0B2E4F"/>
                </a:solidFill>
                <a:latin typeface="Arial" pitchFamily="34" charset="0"/>
                <a:ea typeface="Arial" pitchFamily="34" charset="-122"/>
                <a:cs typeface="Arial" pitchFamily="34" charset="-120"/>
              </a:rPr>
              <a:t>Tại bàn: gọi món, phục vụ, thanh toán</a:t>
            </a:r>
            <a:endParaRPr lang="en-US" sz="1400" dirty="0"/>
          </a:p>
        </p:txBody>
      </p:sp>
      <p:sp>
        <p:nvSpPr>
          <p:cNvPr id="7" name="Text 5"/>
          <p:cNvSpPr txBox="1"/>
          <p:nvPr/>
        </p:nvSpPr>
        <p:spPr>
          <a:xfrm>
            <a:off x="548640" y="1783080"/>
            <a:ext cx="11094415" cy="27432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Mang về: không chiếm bàn, lên đơn một lần, thanh toán ngay theo cùng cơ chế.</a:t>
            </a:r>
            <a:endParaRPr lang="en-US" sz="1100" dirty="0"/>
          </a:p>
        </p:txBody>
      </p:sp>
      <p:sp>
        <p:nvSpPr>
          <p:cNvPr id="8" name="Shape 6"/>
          <p:cNvSpPr/>
          <p:nvPr/>
        </p:nvSpPr>
        <p:spPr>
          <a:xfrm>
            <a:off x="548640" y="2194560"/>
            <a:ext cx="1620469" cy="1188720"/>
          </a:xfrm>
          <a:prstGeom prst="roundRect">
            <a:avLst>
              <a:gd name="adj" fmla="val 4615"/>
            </a:avLst>
          </a:prstGeom>
          <a:solidFill>
            <a:srgbClr val="FFFFFF"/>
          </a:solidFill>
          <a:ln w="12700">
            <a:solidFill>
              <a:srgbClr val="D5DCE4"/>
            </a:solidFill>
            <a:prstDash val="solid"/>
          </a:ln>
        </p:spPr>
      </p:sp>
      <p:sp>
        <p:nvSpPr>
          <p:cNvPr id="9" name="Text 7"/>
          <p:cNvSpPr txBox="1"/>
          <p:nvPr/>
        </p:nvSpPr>
        <p:spPr>
          <a:xfrm>
            <a:off x="658368" y="228600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1</a:t>
            </a:r>
            <a:endParaRPr lang="en-US" sz="1100" dirty="0"/>
          </a:p>
        </p:txBody>
      </p:sp>
      <p:sp>
        <p:nvSpPr>
          <p:cNvPr id="10" name="Text 8"/>
          <p:cNvSpPr txBox="1"/>
          <p:nvPr/>
        </p:nvSpPr>
        <p:spPr>
          <a:xfrm>
            <a:off x="658368" y="2542032"/>
            <a:ext cx="1401013"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Chọn bàn Trống</a:t>
            </a:r>
            <a:endParaRPr lang="en-US" sz="1250" dirty="0"/>
          </a:p>
        </p:txBody>
      </p:sp>
      <p:sp>
        <p:nvSpPr>
          <p:cNvPr id="11" name="Text 9"/>
          <p:cNvSpPr txBox="1"/>
          <p:nvPr/>
        </p:nvSpPr>
        <p:spPr>
          <a:xfrm>
            <a:off x="658368" y="2907792"/>
            <a:ext cx="1401013"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Chỉ bàn Trống mới nhận order mới</a:t>
            </a:r>
            <a:endParaRPr lang="en-US" sz="1050" dirty="0"/>
          </a:p>
        </p:txBody>
      </p:sp>
      <p:sp>
        <p:nvSpPr>
          <p:cNvPr id="12" name="Shape 10"/>
          <p:cNvSpPr/>
          <p:nvPr/>
        </p:nvSpPr>
        <p:spPr>
          <a:xfrm>
            <a:off x="2196541" y="2788920"/>
            <a:ext cx="219456" cy="0"/>
          </a:xfrm>
          <a:prstGeom prst="line">
            <a:avLst/>
          </a:prstGeom>
          <a:noFill/>
          <a:ln w="15875">
            <a:solidFill>
              <a:srgbClr val="0A6EBD"/>
            </a:solidFill>
            <a:prstDash val="solid"/>
            <a:tailEnd type="triangle"/>
          </a:ln>
        </p:spPr>
      </p:sp>
      <p:sp>
        <p:nvSpPr>
          <p:cNvPr id="13" name="Shape 11"/>
          <p:cNvSpPr/>
          <p:nvPr/>
        </p:nvSpPr>
        <p:spPr>
          <a:xfrm>
            <a:off x="2443429" y="2194560"/>
            <a:ext cx="1620469" cy="1188720"/>
          </a:xfrm>
          <a:prstGeom prst="roundRect">
            <a:avLst>
              <a:gd name="adj" fmla="val 4615"/>
            </a:avLst>
          </a:prstGeom>
          <a:solidFill>
            <a:srgbClr val="E8F1FA"/>
          </a:solidFill>
          <a:ln w="12700">
            <a:solidFill>
              <a:srgbClr val="0A6EBD"/>
            </a:solidFill>
            <a:prstDash val="solid"/>
          </a:ln>
        </p:spPr>
      </p:sp>
      <p:sp>
        <p:nvSpPr>
          <p:cNvPr id="14" name="Text 12"/>
          <p:cNvSpPr txBox="1"/>
          <p:nvPr/>
        </p:nvSpPr>
        <p:spPr>
          <a:xfrm>
            <a:off x="2553157" y="228600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2</a:t>
            </a:r>
            <a:endParaRPr lang="en-US" sz="1100" dirty="0"/>
          </a:p>
        </p:txBody>
      </p:sp>
      <p:sp>
        <p:nvSpPr>
          <p:cNvPr id="15" name="Text 13"/>
          <p:cNvSpPr txBox="1"/>
          <p:nvPr/>
        </p:nvSpPr>
        <p:spPr>
          <a:xfrm>
            <a:off x="2553157" y="2542032"/>
            <a:ext cx="1401013"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Submit order</a:t>
            </a:r>
            <a:endParaRPr lang="en-US" sz="1250" dirty="0"/>
          </a:p>
        </p:txBody>
      </p:sp>
      <p:sp>
        <p:nvSpPr>
          <p:cNvPr id="16" name="Text 14"/>
          <p:cNvSpPr txBox="1"/>
          <p:nvPr/>
        </p:nvSpPr>
        <p:spPr>
          <a:xfrm>
            <a:off x="2553157" y="2907792"/>
            <a:ext cx="1401013"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Sinh mã order, trừ kho, in phiếu bếp</a:t>
            </a:r>
            <a:endParaRPr lang="en-US" sz="1050" dirty="0"/>
          </a:p>
        </p:txBody>
      </p:sp>
      <p:sp>
        <p:nvSpPr>
          <p:cNvPr id="17" name="Shape 15"/>
          <p:cNvSpPr/>
          <p:nvPr/>
        </p:nvSpPr>
        <p:spPr>
          <a:xfrm>
            <a:off x="4091330" y="2788920"/>
            <a:ext cx="219456" cy="0"/>
          </a:xfrm>
          <a:prstGeom prst="line">
            <a:avLst/>
          </a:prstGeom>
          <a:noFill/>
          <a:ln w="15875">
            <a:solidFill>
              <a:srgbClr val="0A6EBD"/>
            </a:solidFill>
            <a:prstDash val="solid"/>
            <a:tailEnd type="triangle"/>
          </a:ln>
        </p:spPr>
      </p:sp>
      <p:sp>
        <p:nvSpPr>
          <p:cNvPr id="18" name="Shape 16"/>
          <p:cNvSpPr/>
          <p:nvPr/>
        </p:nvSpPr>
        <p:spPr>
          <a:xfrm>
            <a:off x="4338218" y="2194560"/>
            <a:ext cx="1620469" cy="1188720"/>
          </a:xfrm>
          <a:prstGeom prst="roundRect">
            <a:avLst>
              <a:gd name="adj" fmla="val 4615"/>
            </a:avLst>
          </a:prstGeom>
          <a:solidFill>
            <a:srgbClr val="FFFFFF"/>
          </a:solidFill>
          <a:ln w="12700">
            <a:solidFill>
              <a:srgbClr val="D5DCE4"/>
            </a:solidFill>
            <a:prstDash val="solid"/>
          </a:ln>
        </p:spPr>
      </p:sp>
      <p:sp>
        <p:nvSpPr>
          <p:cNvPr id="19" name="Text 17"/>
          <p:cNvSpPr txBox="1"/>
          <p:nvPr/>
        </p:nvSpPr>
        <p:spPr>
          <a:xfrm>
            <a:off x="4447946" y="228600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3</a:t>
            </a:r>
            <a:endParaRPr lang="en-US" sz="1100" dirty="0"/>
          </a:p>
        </p:txBody>
      </p:sp>
      <p:sp>
        <p:nvSpPr>
          <p:cNvPr id="20" name="Text 18"/>
          <p:cNvSpPr txBox="1"/>
          <p:nvPr/>
        </p:nvSpPr>
        <p:spPr>
          <a:xfrm>
            <a:off x="4447946" y="2542032"/>
            <a:ext cx="1401013"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Theo dõi món</a:t>
            </a:r>
            <a:endParaRPr lang="en-US" sz="1250" dirty="0"/>
          </a:p>
        </p:txBody>
      </p:sp>
      <p:sp>
        <p:nvSpPr>
          <p:cNvPr id="21" name="Text 19"/>
          <p:cNvSpPr txBox="1"/>
          <p:nvPr/>
        </p:nvSpPr>
        <p:spPr>
          <a:xfrm>
            <a:off x="4447946" y="2907792"/>
            <a:ext cx="1401013"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Chờ làm → Xong → Đã phục vụ</a:t>
            </a:r>
            <a:endParaRPr lang="en-US" sz="1050" dirty="0"/>
          </a:p>
        </p:txBody>
      </p:sp>
      <p:sp>
        <p:nvSpPr>
          <p:cNvPr id="22" name="Shape 20"/>
          <p:cNvSpPr/>
          <p:nvPr/>
        </p:nvSpPr>
        <p:spPr>
          <a:xfrm>
            <a:off x="5986120" y="2788920"/>
            <a:ext cx="219456" cy="0"/>
          </a:xfrm>
          <a:prstGeom prst="line">
            <a:avLst/>
          </a:prstGeom>
          <a:noFill/>
          <a:ln w="15875">
            <a:solidFill>
              <a:srgbClr val="0A6EBD"/>
            </a:solidFill>
            <a:prstDash val="solid"/>
            <a:tailEnd type="triangle"/>
          </a:ln>
        </p:spPr>
      </p:sp>
      <p:sp>
        <p:nvSpPr>
          <p:cNvPr id="23" name="Shape 21"/>
          <p:cNvSpPr/>
          <p:nvPr/>
        </p:nvSpPr>
        <p:spPr>
          <a:xfrm>
            <a:off x="6233008" y="2194560"/>
            <a:ext cx="1620469" cy="1188720"/>
          </a:xfrm>
          <a:prstGeom prst="roundRect">
            <a:avLst>
              <a:gd name="adj" fmla="val 4615"/>
            </a:avLst>
          </a:prstGeom>
          <a:solidFill>
            <a:srgbClr val="FFFFFF"/>
          </a:solidFill>
          <a:ln w="12700">
            <a:solidFill>
              <a:srgbClr val="D5DCE4"/>
            </a:solidFill>
            <a:prstDash val="solid"/>
          </a:ln>
        </p:spPr>
      </p:sp>
      <p:sp>
        <p:nvSpPr>
          <p:cNvPr id="24" name="Text 22"/>
          <p:cNvSpPr txBox="1"/>
          <p:nvPr/>
        </p:nvSpPr>
        <p:spPr>
          <a:xfrm>
            <a:off x="6342736" y="228600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4</a:t>
            </a:r>
            <a:endParaRPr lang="en-US" sz="1100" dirty="0"/>
          </a:p>
        </p:txBody>
      </p:sp>
      <p:sp>
        <p:nvSpPr>
          <p:cNvPr id="25" name="Text 23"/>
          <p:cNvSpPr txBox="1"/>
          <p:nvPr/>
        </p:nvSpPr>
        <p:spPr>
          <a:xfrm>
            <a:off x="6342736" y="2542032"/>
            <a:ext cx="1401013"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Phiếu tạm tính</a:t>
            </a:r>
            <a:endParaRPr lang="en-US" sz="1250" dirty="0"/>
          </a:p>
        </p:txBody>
      </p:sp>
      <p:sp>
        <p:nvSpPr>
          <p:cNvPr id="26" name="Text 24"/>
          <p:cNvSpPr txBox="1"/>
          <p:nvPr/>
        </p:nvSpPr>
        <p:spPr>
          <a:xfrm>
            <a:off x="6342736" y="2907792"/>
            <a:ext cx="1401013"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Khách kiểm tra, chưa ghi doanh thu</a:t>
            </a:r>
            <a:endParaRPr lang="en-US" sz="1050" dirty="0"/>
          </a:p>
        </p:txBody>
      </p:sp>
      <p:sp>
        <p:nvSpPr>
          <p:cNvPr id="27" name="Shape 25"/>
          <p:cNvSpPr/>
          <p:nvPr/>
        </p:nvSpPr>
        <p:spPr>
          <a:xfrm>
            <a:off x="7880909" y="2788920"/>
            <a:ext cx="219456" cy="0"/>
          </a:xfrm>
          <a:prstGeom prst="line">
            <a:avLst/>
          </a:prstGeom>
          <a:noFill/>
          <a:ln w="15875">
            <a:solidFill>
              <a:srgbClr val="0A6EBD"/>
            </a:solidFill>
            <a:prstDash val="solid"/>
            <a:tailEnd type="triangle"/>
          </a:ln>
        </p:spPr>
      </p:sp>
      <p:sp>
        <p:nvSpPr>
          <p:cNvPr id="28" name="Shape 26"/>
          <p:cNvSpPr/>
          <p:nvPr/>
        </p:nvSpPr>
        <p:spPr>
          <a:xfrm>
            <a:off x="8127797" y="2194560"/>
            <a:ext cx="1620469" cy="1188720"/>
          </a:xfrm>
          <a:prstGeom prst="roundRect">
            <a:avLst>
              <a:gd name="adj" fmla="val 4615"/>
            </a:avLst>
          </a:prstGeom>
          <a:solidFill>
            <a:srgbClr val="E8F1FA"/>
          </a:solidFill>
          <a:ln w="12700">
            <a:solidFill>
              <a:srgbClr val="0A6EBD"/>
            </a:solidFill>
            <a:prstDash val="solid"/>
          </a:ln>
        </p:spPr>
      </p:sp>
      <p:sp>
        <p:nvSpPr>
          <p:cNvPr id="29" name="Text 27"/>
          <p:cNvSpPr txBox="1"/>
          <p:nvPr/>
        </p:nvSpPr>
        <p:spPr>
          <a:xfrm>
            <a:off x="8237525" y="228600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5</a:t>
            </a:r>
            <a:endParaRPr lang="en-US" sz="1100" dirty="0"/>
          </a:p>
        </p:txBody>
      </p:sp>
      <p:sp>
        <p:nvSpPr>
          <p:cNvPr id="30" name="Text 28"/>
          <p:cNvSpPr txBox="1"/>
          <p:nvPr/>
        </p:nvSpPr>
        <p:spPr>
          <a:xfrm>
            <a:off x="8237525" y="2542032"/>
            <a:ext cx="1401013"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Tiền mặt / QR</a:t>
            </a:r>
            <a:endParaRPr lang="en-US" sz="1250" dirty="0"/>
          </a:p>
        </p:txBody>
      </p:sp>
      <p:sp>
        <p:nvSpPr>
          <p:cNvPr id="31" name="Text 29"/>
          <p:cNvSpPr txBox="1"/>
          <p:nvPr/>
        </p:nvSpPr>
        <p:spPr>
          <a:xfrm>
            <a:off x="8237525" y="2907792"/>
            <a:ext cx="1401013"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QR chờ webhook tối đa 10 phút</a:t>
            </a:r>
            <a:endParaRPr lang="en-US" sz="1050" dirty="0"/>
          </a:p>
        </p:txBody>
      </p:sp>
      <p:sp>
        <p:nvSpPr>
          <p:cNvPr id="32" name="Shape 30"/>
          <p:cNvSpPr/>
          <p:nvPr/>
        </p:nvSpPr>
        <p:spPr>
          <a:xfrm>
            <a:off x="9775698" y="2788920"/>
            <a:ext cx="219456" cy="0"/>
          </a:xfrm>
          <a:prstGeom prst="line">
            <a:avLst/>
          </a:prstGeom>
          <a:noFill/>
          <a:ln w="15875">
            <a:solidFill>
              <a:srgbClr val="0A6EBD"/>
            </a:solidFill>
            <a:prstDash val="solid"/>
            <a:tailEnd type="triangle"/>
          </a:ln>
        </p:spPr>
      </p:sp>
      <p:sp>
        <p:nvSpPr>
          <p:cNvPr id="33" name="Shape 31"/>
          <p:cNvSpPr/>
          <p:nvPr/>
        </p:nvSpPr>
        <p:spPr>
          <a:xfrm>
            <a:off x="10022586" y="2194560"/>
            <a:ext cx="1620469" cy="1188720"/>
          </a:xfrm>
          <a:prstGeom prst="roundRect">
            <a:avLst>
              <a:gd name="adj" fmla="val 4615"/>
            </a:avLst>
          </a:prstGeom>
          <a:solidFill>
            <a:srgbClr val="FFFFFF"/>
          </a:solidFill>
          <a:ln w="12700">
            <a:solidFill>
              <a:srgbClr val="D5DCE4"/>
            </a:solidFill>
            <a:prstDash val="solid"/>
          </a:ln>
        </p:spPr>
      </p:sp>
      <p:sp>
        <p:nvSpPr>
          <p:cNvPr id="34" name="Text 32"/>
          <p:cNvSpPr txBox="1"/>
          <p:nvPr/>
        </p:nvSpPr>
        <p:spPr>
          <a:xfrm>
            <a:off x="10132314" y="228600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6</a:t>
            </a:r>
            <a:endParaRPr lang="en-US" sz="1100" dirty="0"/>
          </a:p>
        </p:txBody>
      </p:sp>
      <p:sp>
        <p:nvSpPr>
          <p:cNvPr id="35" name="Text 33"/>
          <p:cNvSpPr txBox="1"/>
          <p:nvPr/>
        </p:nvSpPr>
        <p:spPr>
          <a:xfrm>
            <a:off x="10132314" y="2542032"/>
            <a:ext cx="1401013"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Hóa đơn, khóa order</a:t>
            </a:r>
            <a:endParaRPr lang="en-US" sz="1250" dirty="0"/>
          </a:p>
        </p:txBody>
      </p:sp>
      <p:sp>
        <p:nvSpPr>
          <p:cNvPr id="36" name="Text 34"/>
          <p:cNvSpPr txBox="1"/>
          <p:nvPr/>
        </p:nvSpPr>
        <p:spPr>
          <a:xfrm>
            <a:off x="10132314" y="2907792"/>
            <a:ext cx="1401013"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Giải phóng bàn khi khách rời đi</a:t>
            </a:r>
            <a:endParaRPr lang="en-US" sz="1050" dirty="0"/>
          </a:p>
        </p:txBody>
      </p:sp>
      <p:sp>
        <p:nvSpPr>
          <p:cNvPr id="37" name="Text 35"/>
          <p:cNvSpPr txBox="1"/>
          <p:nvPr/>
        </p:nvSpPr>
        <p:spPr>
          <a:xfrm>
            <a:off x="548640" y="3886200"/>
            <a:ext cx="11094415" cy="320040"/>
          </a:xfrm>
          <a:prstGeom prst="rect">
            <a:avLst/>
          </a:prstGeom>
          <a:noFill/>
          <a:ln/>
        </p:spPr>
        <p:txBody>
          <a:bodyPr wrap="square" lIns="0" tIns="0" rIns="0" bIns="0" rtlCol="0" anchor="t"/>
          <a:lstStyle/>
          <a:p>
            <a:pPr indent="0" marL="0">
              <a:buNone/>
            </a:pPr>
            <a:r>
              <a:rPr lang="en-US" sz="1400" b="1" dirty="0">
                <a:solidFill>
                  <a:srgbClr val="0B2E4F"/>
                </a:solidFill>
                <a:latin typeface="Arial" pitchFamily="34" charset="0"/>
                <a:ea typeface="Arial" pitchFamily="34" charset="-122"/>
                <a:cs typeface="Arial" pitchFamily="34" charset="-120"/>
              </a:rPr>
              <a:t>Kho nguyên liệu trong một Business Date</a:t>
            </a:r>
            <a:endParaRPr lang="en-US" sz="1400" dirty="0"/>
          </a:p>
        </p:txBody>
      </p:sp>
      <p:sp>
        <p:nvSpPr>
          <p:cNvPr id="38" name="Text 36"/>
          <p:cNvSpPr txBox="1"/>
          <p:nvPr/>
        </p:nvSpPr>
        <p:spPr>
          <a:xfrm>
            <a:off x="548640" y="4206240"/>
            <a:ext cx="11094415" cy="27432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Kiểm kê cuối ngày là cơ chế chính để điều chỉnh sai lệch tồn kho.</a:t>
            </a:r>
            <a:endParaRPr lang="en-US" sz="1100" dirty="0"/>
          </a:p>
        </p:txBody>
      </p:sp>
      <p:sp>
        <p:nvSpPr>
          <p:cNvPr id="39" name="Shape 37"/>
          <p:cNvSpPr/>
          <p:nvPr/>
        </p:nvSpPr>
        <p:spPr>
          <a:xfrm>
            <a:off x="548640" y="4617720"/>
            <a:ext cx="1999427" cy="1188720"/>
          </a:xfrm>
          <a:prstGeom prst="roundRect">
            <a:avLst>
              <a:gd name="adj" fmla="val 4615"/>
            </a:avLst>
          </a:prstGeom>
          <a:solidFill>
            <a:srgbClr val="FFFFFF"/>
          </a:solidFill>
          <a:ln w="12700">
            <a:solidFill>
              <a:srgbClr val="D5DCE4"/>
            </a:solidFill>
            <a:prstDash val="solid"/>
          </a:ln>
        </p:spPr>
      </p:sp>
      <p:sp>
        <p:nvSpPr>
          <p:cNvPr id="40" name="Text 38"/>
          <p:cNvSpPr txBox="1"/>
          <p:nvPr/>
        </p:nvSpPr>
        <p:spPr>
          <a:xfrm>
            <a:off x="658368" y="470916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1</a:t>
            </a:r>
            <a:endParaRPr lang="en-US" sz="1100" dirty="0"/>
          </a:p>
        </p:txBody>
      </p:sp>
      <p:sp>
        <p:nvSpPr>
          <p:cNvPr id="41" name="Text 39"/>
          <p:cNvSpPr txBox="1"/>
          <p:nvPr/>
        </p:nvSpPr>
        <p:spPr>
          <a:xfrm>
            <a:off x="658368" y="4965192"/>
            <a:ext cx="1779971"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Nhập kho</a:t>
            </a:r>
            <a:endParaRPr lang="en-US" sz="1250" dirty="0"/>
          </a:p>
        </p:txBody>
      </p:sp>
      <p:sp>
        <p:nvSpPr>
          <p:cNvPr id="42" name="Text 40"/>
          <p:cNvSpPr txBox="1"/>
          <p:nvPr/>
        </p:nvSpPr>
        <p:spPr>
          <a:xfrm>
            <a:off x="658368" y="5330952"/>
            <a:ext cx="1779971"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Mỗi dòng phiếu nhập sinh một lô, có hạn dùng</a:t>
            </a:r>
            <a:endParaRPr lang="en-US" sz="1050" dirty="0"/>
          </a:p>
        </p:txBody>
      </p:sp>
      <p:sp>
        <p:nvSpPr>
          <p:cNvPr id="43" name="Shape 41"/>
          <p:cNvSpPr/>
          <p:nvPr/>
        </p:nvSpPr>
        <p:spPr>
          <a:xfrm>
            <a:off x="2575499" y="5212080"/>
            <a:ext cx="219456" cy="0"/>
          </a:xfrm>
          <a:prstGeom prst="line">
            <a:avLst/>
          </a:prstGeom>
          <a:noFill/>
          <a:ln w="15875">
            <a:solidFill>
              <a:srgbClr val="0A6EBD"/>
            </a:solidFill>
            <a:prstDash val="solid"/>
            <a:tailEnd type="triangle"/>
          </a:ln>
        </p:spPr>
      </p:sp>
      <p:sp>
        <p:nvSpPr>
          <p:cNvPr id="44" name="Shape 42"/>
          <p:cNvSpPr/>
          <p:nvPr/>
        </p:nvSpPr>
        <p:spPr>
          <a:xfrm>
            <a:off x="2822387" y="4617720"/>
            <a:ext cx="1999427" cy="1188720"/>
          </a:xfrm>
          <a:prstGeom prst="roundRect">
            <a:avLst>
              <a:gd name="adj" fmla="val 4615"/>
            </a:avLst>
          </a:prstGeom>
          <a:solidFill>
            <a:srgbClr val="E8F1FA"/>
          </a:solidFill>
          <a:ln w="12700">
            <a:solidFill>
              <a:srgbClr val="0A6EBD"/>
            </a:solidFill>
            <a:prstDash val="solid"/>
          </a:ln>
        </p:spPr>
      </p:sp>
      <p:sp>
        <p:nvSpPr>
          <p:cNvPr id="45" name="Text 43"/>
          <p:cNvSpPr txBox="1"/>
          <p:nvPr/>
        </p:nvSpPr>
        <p:spPr>
          <a:xfrm>
            <a:off x="2932115" y="470916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2</a:t>
            </a:r>
            <a:endParaRPr lang="en-US" sz="1100" dirty="0"/>
          </a:p>
        </p:txBody>
      </p:sp>
      <p:sp>
        <p:nvSpPr>
          <p:cNvPr id="46" name="Text 44"/>
          <p:cNvSpPr txBox="1"/>
          <p:nvPr/>
        </p:nvSpPr>
        <p:spPr>
          <a:xfrm>
            <a:off x="2932115" y="4965192"/>
            <a:ext cx="1779971"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Trừ / hoàn tự động</a:t>
            </a:r>
            <a:endParaRPr lang="en-US" sz="1250" dirty="0"/>
          </a:p>
        </p:txBody>
      </p:sp>
      <p:sp>
        <p:nvSpPr>
          <p:cNvPr id="47" name="Text 45"/>
          <p:cNvSpPr txBox="1"/>
          <p:nvPr/>
        </p:nvSpPr>
        <p:spPr>
          <a:xfrm>
            <a:off x="2932115" y="5330952"/>
            <a:ext cx="1779971"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Theo công thức, lấy lô cũ nhất còn hạn (FIFO)</a:t>
            </a:r>
            <a:endParaRPr lang="en-US" sz="1050" dirty="0"/>
          </a:p>
        </p:txBody>
      </p:sp>
      <p:sp>
        <p:nvSpPr>
          <p:cNvPr id="48" name="Shape 46"/>
          <p:cNvSpPr/>
          <p:nvPr/>
        </p:nvSpPr>
        <p:spPr>
          <a:xfrm>
            <a:off x="4849246" y="5212080"/>
            <a:ext cx="219456" cy="0"/>
          </a:xfrm>
          <a:prstGeom prst="line">
            <a:avLst/>
          </a:prstGeom>
          <a:noFill/>
          <a:ln w="15875">
            <a:solidFill>
              <a:srgbClr val="0A6EBD"/>
            </a:solidFill>
            <a:prstDash val="solid"/>
            <a:tailEnd type="triangle"/>
          </a:ln>
        </p:spPr>
      </p:sp>
      <p:sp>
        <p:nvSpPr>
          <p:cNvPr id="49" name="Shape 47"/>
          <p:cNvSpPr/>
          <p:nvPr/>
        </p:nvSpPr>
        <p:spPr>
          <a:xfrm>
            <a:off x="5096134" y="4617720"/>
            <a:ext cx="1999427" cy="1188720"/>
          </a:xfrm>
          <a:prstGeom prst="roundRect">
            <a:avLst>
              <a:gd name="adj" fmla="val 4615"/>
            </a:avLst>
          </a:prstGeom>
          <a:solidFill>
            <a:srgbClr val="FFFFFF"/>
          </a:solidFill>
          <a:ln w="12700">
            <a:solidFill>
              <a:srgbClr val="D5DCE4"/>
            </a:solidFill>
            <a:prstDash val="solid"/>
          </a:ln>
        </p:spPr>
      </p:sp>
      <p:sp>
        <p:nvSpPr>
          <p:cNvPr id="50" name="Text 48"/>
          <p:cNvSpPr txBox="1"/>
          <p:nvPr/>
        </p:nvSpPr>
        <p:spPr>
          <a:xfrm>
            <a:off x="5205862" y="470916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3</a:t>
            </a:r>
            <a:endParaRPr lang="en-US" sz="1100" dirty="0"/>
          </a:p>
        </p:txBody>
      </p:sp>
      <p:sp>
        <p:nvSpPr>
          <p:cNvPr id="51" name="Text 49"/>
          <p:cNvSpPr txBox="1"/>
          <p:nvPr/>
        </p:nvSpPr>
        <p:spPr>
          <a:xfrm>
            <a:off x="5205862" y="4965192"/>
            <a:ext cx="1779971"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Cảnh báo</a:t>
            </a:r>
            <a:endParaRPr lang="en-US" sz="1250" dirty="0"/>
          </a:p>
        </p:txBody>
      </p:sp>
      <p:sp>
        <p:nvSpPr>
          <p:cNvPr id="52" name="Text 50"/>
          <p:cNvSpPr txBox="1"/>
          <p:nvPr/>
        </p:nvSpPr>
        <p:spPr>
          <a:xfrm>
            <a:off x="5205862" y="5330952"/>
            <a:ext cx="1779971"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Dưới tồn tối thiểu; lô sắp hết hạn</a:t>
            </a:r>
            <a:endParaRPr lang="en-US" sz="1050" dirty="0"/>
          </a:p>
        </p:txBody>
      </p:sp>
      <p:sp>
        <p:nvSpPr>
          <p:cNvPr id="53" name="Shape 51"/>
          <p:cNvSpPr/>
          <p:nvPr/>
        </p:nvSpPr>
        <p:spPr>
          <a:xfrm>
            <a:off x="7122993" y="5212080"/>
            <a:ext cx="219456" cy="0"/>
          </a:xfrm>
          <a:prstGeom prst="line">
            <a:avLst/>
          </a:prstGeom>
          <a:noFill/>
          <a:ln w="15875">
            <a:solidFill>
              <a:srgbClr val="0A6EBD"/>
            </a:solidFill>
            <a:prstDash val="solid"/>
            <a:tailEnd type="triangle"/>
          </a:ln>
        </p:spPr>
      </p:sp>
      <p:sp>
        <p:nvSpPr>
          <p:cNvPr id="54" name="Shape 52"/>
          <p:cNvSpPr/>
          <p:nvPr/>
        </p:nvSpPr>
        <p:spPr>
          <a:xfrm>
            <a:off x="7369881" y="4617720"/>
            <a:ext cx="1999427" cy="1188720"/>
          </a:xfrm>
          <a:prstGeom prst="roundRect">
            <a:avLst>
              <a:gd name="adj" fmla="val 4615"/>
            </a:avLst>
          </a:prstGeom>
          <a:solidFill>
            <a:srgbClr val="E8F1FA"/>
          </a:solidFill>
          <a:ln w="12700">
            <a:solidFill>
              <a:srgbClr val="0A6EBD"/>
            </a:solidFill>
            <a:prstDash val="solid"/>
          </a:ln>
        </p:spPr>
      </p:sp>
      <p:sp>
        <p:nvSpPr>
          <p:cNvPr id="55" name="Text 53"/>
          <p:cNvSpPr txBox="1"/>
          <p:nvPr/>
        </p:nvSpPr>
        <p:spPr>
          <a:xfrm>
            <a:off x="7479609" y="470916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4</a:t>
            </a:r>
            <a:endParaRPr lang="en-US" sz="1100" dirty="0"/>
          </a:p>
        </p:txBody>
      </p:sp>
      <p:sp>
        <p:nvSpPr>
          <p:cNvPr id="56" name="Text 54"/>
          <p:cNvSpPr txBox="1"/>
          <p:nvPr/>
        </p:nvSpPr>
        <p:spPr>
          <a:xfrm>
            <a:off x="7479609" y="4965192"/>
            <a:ext cx="1779971"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Kiểm kê cuối ngày</a:t>
            </a:r>
            <a:endParaRPr lang="en-US" sz="1250" dirty="0"/>
          </a:p>
        </p:txBody>
      </p:sp>
      <p:sp>
        <p:nvSpPr>
          <p:cNvPr id="57" name="Text 55"/>
          <p:cNvSpPr txBox="1"/>
          <p:nvPr/>
        </p:nvSpPr>
        <p:spPr>
          <a:xfrm>
            <a:off x="7479609" y="5330952"/>
            <a:ext cx="1779971"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Đếm thực tế, đối chiếu tồn hệ thống</a:t>
            </a:r>
            <a:endParaRPr lang="en-US" sz="1050" dirty="0"/>
          </a:p>
        </p:txBody>
      </p:sp>
      <p:sp>
        <p:nvSpPr>
          <p:cNvPr id="58" name="Shape 56"/>
          <p:cNvSpPr/>
          <p:nvPr/>
        </p:nvSpPr>
        <p:spPr>
          <a:xfrm>
            <a:off x="9396740" y="5212080"/>
            <a:ext cx="219456" cy="0"/>
          </a:xfrm>
          <a:prstGeom prst="line">
            <a:avLst/>
          </a:prstGeom>
          <a:noFill/>
          <a:ln w="15875">
            <a:solidFill>
              <a:srgbClr val="0A6EBD"/>
            </a:solidFill>
            <a:prstDash val="solid"/>
            <a:tailEnd type="triangle"/>
          </a:ln>
        </p:spPr>
      </p:sp>
      <p:sp>
        <p:nvSpPr>
          <p:cNvPr id="59" name="Shape 57"/>
          <p:cNvSpPr/>
          <p:nvPr/>
        </p:nvSpPr>
        <p:spPr>
          <a:xfrm>
            <a:off x="9643628" y="4617720"/>
            <a:ext cx="1999427" cy="1188720"/>
          </a:xfrm>
          <a:prstGeom prst="roundRect">
            <a:avLst>
              <a:gd name="adj" fmla="val 4615"/>
            </a:avLst>
          </a:prstGeom>
          <a:solidFill>
            <a:srgbClr val="FFFFFF"/>
          </a:solidFill>
          <a:ln w="12700">
            <a:solidFill>
              <a:srgbClr val="D5DCE4"/>
            </a:solidFill>
            <a:prstDash val="solid"/>
          </a:ln>
        </p:spPr>
      </p:sp>
      <p:sp>
        <p:nvSpPr>
          <p:cNvPr id="60" name="Text 58"/>
          <p:cNvSpPr txBox="1"/>
          <p:nvPr/>
        </p:nvSpPr>
        <p:spPr>
          <a:xfrm>
            <a:off x="9753356" y="4709160"/>
            <a:ext cx="365760" cy="274320"/>
          </a:xfrm>
          <a:prstGeom prst="rect">
            <a:avLst/>
          </a:prstGeom>
          <a:noFill/>
          <a:ln/>
        </p:spPr>
        <p:txBody>
          <a:bodyPr wrap="square" lIns="0" tIns="0" rIns="0" bIns="0" rtlCol="0" anchor="t"/>
          <a:lstStyle/>
          <a:p>
            <a:pPr indent="0" marL="0">
              <a:buNone/>
            </a:pPr>
            <a:r>
              <a:rPr lang="en-US" sz="1100" b="1" dirty="0">
                <a:solidFill>
                  <a:srgbClr val="E8590C"/>
                </a:solidFill>
                <a:latin typeface="Arial" pitchFamily="34" charset="0"/>
                <a:ea typeface="Arial" pitchFamily="34" charset="-122"/>
                <a:cs typeface="Arial" pitchFamily="34" charset="-120"/>
              </a:rPr>
              <a:t>5</a:t>
            </a:r>
            <a:endParaRPr lang="en-US" sz="1100" dirty="0"/>
          </a:p>
        </p:txBody>
      </p:sp>
      <p:sp>
        <p:nvSpPr>
          <p:cNvPr id="61" name="Text 59"/>
          <p:cNvSpPr txBox="1"/>
          <p:nvPr/>
        </p:nvSpPr>
        <p:spPr>
          <a:xfrm>
            <a:off x="9753356" y="4965192"/>
            <a:ext cx="1779971" cy="365760"/>
          </a:xfrm>
          <a:prstGeom prst="rect">
            <a:avLst/>
          </a:prstGeom>
          <a:noFill/>
          <a:ln/>
        </p:spPr>
        <p:txBody>
          <a:bodyPr wrap="square" lIns="0" tIns="0" rIns="0" bIns="0" rtlCol="0" anchor="t"/>
          <a:lstStyle/>
          <a:p>
            <a:pPr indent="0" marL="0">
              <a:buNone/>
            </a:pPr>
            <a:r>
              <a:rPr lang="en-US" sz="1250" b="1" dirty="0">
                <a:solidFill>
                  <a:srgbClr val="0B2E4F"/>
                </a:solidFill>
                <a:latin typeface="Arial" pitchFamily="34" charset="0"/>
                <a:ea typeface="Arial" pitchFamily="34" charset="-122"/>
                <a:cs typeface="Arial" pitchFamily="34" charset="-120"/>
              </a:rPr>
              <a:t>Điều chỉnh</a:t>
            </a:r>
            <a:endParaRPr lang="en-US" sz="1250" dirty="0"/>
          </a:p>
        </p:txBody>
      </p:sp>
      <p:sp>
        <p:nvSpPr>
          <p:cNvPr id="62" name="Text 60"/>
          <p:cNvSpPr txBox="1"/>
          <p:nvPr/>
        </p:nvSpPr>
        <p:spPr>
          <a:xfrm>
            <a:off x="9753356" y="5330952"/>
            <a:ext cx="1779971" cy="457200"/>
          </a:xfrm>
          <a:prstGeom prst="rect">
            <a:avLst/>
          </a:prstGeom>
          <a:noFill/>
          <a:ln/>
        </p:spPr>
        <p:txBody>
          <a:bodyPr wrap="square" lIns="0" tIns="0" rIns="0" bIns="0" rtlCol="0" anchor="t"/>
          <a:lstStyle/>
          <a:p>
            <a:pPr indent="0" marL="0">
              <a:buNone/>
            </a:pPr>
            <a:r>
              <a:rPr lang="en-US" sz="1050" dirty="0">
                <a:solidFill>
                  <a:srgbClr val="5B6573"/>
                </a:solidFill>
                <a:latin typeface="Arial" pitchFamily="34" charset="0"/>
                <a:ea typeface="Arial" pitchFamily="34" charset="-122"/>
                <a:cs typeface="Arial" pitchFamily="34" charset="-120"/>
              </a:rPr>
              <a:t>Chênh lệch âm tự sinh phiếu xuất hủy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02  KHẢO SÁT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Thanh toán QR và đối soát khi có sai lệch</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9 / 22</a:t>
            </a:r>
            <a:endParaRPr lang="en-US" sz="900" dirty="0"/>
          </a:p>
        </p:txBody>
      </p:sp>
      <p:sp>
        <p:nvSpPr>
          <p:cNvPr id="6" name="Shape 4"/>
          <p:cNvSpPr/>
          <p:nvPr/>
        </p:nvSpPr>
        <p:spPr>
          <a:xfrm>
            <a:off x="548640" y="1645920"/>
            <a:ext cx="2377440" cy="731520"/>
          </a:xfrm>
          <a:prstGeom prst="roundRect">
            <a:avLst>
              <a:gd name="adj" fmla="val 12500"/>
            </a:avLst>
          </a:prstGeom>
          <a:solidFill>
            <a:srgbClr val="FFFFFF"/>
          </a:solidFill>
          <a:ln w="15875">
            <a:solidFill>
              <a:srgbClr val="0B2E4F"/>
            </a:solidFill>
            <a:prstDash val="solid"/>
          </a:ln>
        </p:spPr>
      </p:sp>
      <p:sp>
        <p:nvSpPr>
          <p:cNvPr id="7" name="Text 5"/>
          <p:cNvSpPr txBox="1"/>
          <p:nvPr/>
        </p:nvSpPr>
        <p:spPr>
          <a:xfrm>
            <a:off x="640080" y="1645920"/>
            <a:ext cx="2194560" cy="731520"/>
          </a:xfrm>
          <a:prstGeom prst="rect">
            <a:avLst/>
          </a:prstGeom>
          <a:noFill/>
          <a:ln/>
        </p:spPr>
        <p:txBody>
          <a:bodyPr wrap="square" lIns="0" tIns="0" rIns="0" bIns="0" rtlCol="0" anchor="ctr"/>
          <a:lstStyle/>
          <a:p>
            <a:pPr algn="ctr" indent="0" marL="0">
              <a:buNone/>
            </a:pPr>
            <a:r>
              <a:rPr lang="en-US" sz="1300" b="1" dirty="0">
                <a:solidFill>
                  <a:srgbClr val="0B2E4F"/>
                </a:solidFill>
                <a:latin typeface="Arial" pitchFamily="34" charset="0"/>
                <a:ea typeface="Arial" pitchFamily="34" charset="-122"/>
                <a:cs typeface="Arial" pitchFamily="34" charset="-120"/>
              </a:rPr>
              <a:t>Chờ xác nhận</a:t>
            </a:r>
            <a:endParaRPr lang="en-US" sz="1300" dirty="0"/>
          </a:p>
        </p:txBody>
      </p:sp>
      <p:sp>
        <p:nvSpPr>
          <p:cNvPr id="8" name="Shape 6"/>
          <p:cNvSpPr/>
          <p:nvPr/>
        </p:nvSpPr>
        <p:spPr>
          <a:xfrm>
            <a:off x="6309360" y="1645920"/>
            <a:ext cx="2377440" cy="731520"/>
          </a:xfrm>
          <a:prstGeom prst="roundRect">
            <a:avLst>
              <a:gd name="adj" fmla="val 12500"/>
            </a:avLst>
          </a:prstGeom>
          <a:solidFill>
            <a:srgbClr val="0A6EBD"/>
          </a:solidFill>
          <a:ln w="15875">
            <a:solidFill>
              <a:srgbClr val="0A6EBD"/>
            </a:solidFill>
            <a:prstDash val="solid"/>
          </a:ln>
        </p:spPr>
      </p:sp>
      <p:sp>
        <p:nvSpPr>
          <p:cNvPr id="9" name="Text 7"/>
          <p:cNvSpPr txBox="1"/>
          <p:nvPr/>
        </p:nvSpPr>
        <p:spPr>
          <a:xfrm>
            <a:off x="6400800" y="1645920"/>
            <a:ext cx="219456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Thành công</a:t>
            </a:r>
            <a:endParaRPr lang="en-US" sz="1300" dirty="0"/>
          </a:p>
        </p:txBody>
      </p:sp>
      <p:sp>
        <p:nvSpPr>
          <p:cNvPr id="10" name="Shape 8"/>
          <p:cNvSpPr/>
          <p:nvPr/>
        </p:nvSpPr>
        <p:spPr>
          <a:xfrm>
            <a:off x="9189720" y="1645920"/>
            <a:ext cx="2377440" cy="731520"/>
          </a:xfrm>
          <a:prstGeom prst="roundRect">
            <a:avLst>
              <a:gd name="adj" fmla="val 12500"/>
            </a:avLst>
          </a:prstGeom>
          <a:solidFill>
            <a:srgbClr val="0A6EBD"/>
          </a:solidFill>
          <a:ln w="15875">
            <a:solidFill>
              <a:srgbClr val="0A6EBD"/>
            </a:solidFill>
            <a:prstDash val="solid"/>
          </a:ln>
        </p:spPr>
      </p:sp>
      <p:sp>
        <p:nvSpPr>
          <p:cNvPr id="11" name="Text 9"/>
          <p:cNvSpPr txBox="1"/>
          <p:nvPr/>
        </p:nvSpPr>
        <p:spPr>
          <a:xfrm>
            <a:off x="9281160" y="1645920"/>
            <a:ext cx="2194560"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Phát hành hóa đơn, khóa order</a:t>
            </a:r>
            <a:endParaRPr lang="en-US" sz="1300" dirty="0"/>
          </a:p>
        </p:txBody>
      </p:sp>
      <p:sp>
        <p:nvSpPr>
          <p:cNvPr id="12" name="Shape 10"/>
          <p:cNvSpPr/>
          <p:nvPr/>
        </p:nvSpPr>
        <p:spPr>
          <a:xfrm>
            <a:off x="548640" y="3246120"/>
            <a:ext cx="2377440" cy="731520"/>
          </a:xfrm>
          <a:prstGeom prst="roundRect">
            <a:avLst>
              <a:gd name="adj" fmla="val 12500"/>
            </a:avLst>
          </a:prstGeom>
          <a:solidFill>
            <a:srgbClr val="FFFFFF"/>
          </a:solidFill>
          <a:ln w="15875">
            <a:solidFill>
              <a:srgbClr val="0B2E4F"/>
            </a:solidFill>
            <a:prstDash val="solid"/>
          </a:ln>
        </p:spPr>
      </p:sp>
      <p:sp>
        <p:nvSpPr>
          <p:cNvPr id="13" name="Text 11"/>
          <p:cNvSpPr txBox="1"/>
          <p:nvPr/>
        </p:nvSpPr>
        <p:spPr>
          <a:xfrm>
            <a:off x="640080" y="3246120"/>
            <a:ext cx="2194560" cy="731520"/>
          </a:xfrm>
          <a:prstGeom prst="rect">
            <a:avLst/>
          </a:prstGeom>
          <a:noFill/>
          <a:ln/>
        </p:spPr>
        <p:txBody>
          <a:bodyPr wrap="square" lIns="0" tIns="0" rIns="0" bIns="0" rtlCol="0" anchor="ctr"/>
          <a:lstStyle/>
          <a:p>
            <a:pPr algn="ctr" indent="0" marL="0">
              <a:buNone/>
            </a:pPr>
            <a:r>
              <a:rPr lang="en-US" sz="1300" b="1" dirty="0">
                <a:solidFill>
                  <a:srgbClr val="0B2E4F"/>
                </a:solidFill>
                <a:latin typeface="Arial" pitchFamily="34" charset="0"/>
                <a:ea typeface="Arial" pitchFamily="34" charset="-122"/>
                <a:cs typeface="Arial" pitchFamily="34" charset="-120"/>
              </a:rPr>
              <a:t>Hết hạn</a:t>
            </a:r>
            <a:endParaRPr lang="en-US" sz="1300" dirty="0"/>
          </a:p>
        </p:txBody>
      </p:sp>
      <p:sp>
        <p:nvSpPr>
          <p:cNvPr id="14" name="Shape 12"/>
          <p:cNvSpPr/>
          <p:nvPr/>
        </p:nvSpPr>
        <p:spPr>
          <a:xfrm>
            <a:off x="6309360" y="3246120"/>
            <a:ext cx="2377440" cy="731520"/>
          </a:xfrm>
          <a:prstGeom prst="roundRect">
            <a:avLst>
              <a:gd name="adj" fmla="val 12500"/>
            </a:avLst>
          </a:prstGeom>
          <a:solidFill>
            <a:srgbClr val="FFFFFF"/>
          </a:solidFill>
          <a:ln w="15875">
            <a:solidFill>
              <a:srgbClr val="0B2E4F"/>
            </a:solidFill>
            <a:prstDash val="solid"/>
          </a:ln>
        </p:spPr>
      </p:sp>
      <p:sp>
        <p:nvSpPr>
          <p:cNvPr id="15" name="Text 13"/>
          <p:cNvSpPr txBox="1"/>
          <p:nvPr/>
        </p:nvSpPr>
        <p:spPr>
          <a:xfrm>
            <a:off x="6400800" y="3246120"/>
            <a:ext cx="2194560" cy="731520"/>
          </a:xfrm>
          <a:prstGeom prst="rect">
            <a:avLst/>
          </a:prstGeom>
          <a:noFill/>
          <a:ln/>
        </p:spPr>
        <p:txBody>
          <a:bodyPr wrap="square" lIns="0" tIns="0" rIns="0" bIns="0" rtlCol="0" anchor="ctr"/>
          <a:lstStyle/>
          <a:p>
            <a:pPr algn="ctr" indent="0" marL="0">
              <a:buNone/>
            </a:pPr>
            <a:r>
              <a:rPr lang="en-US" sz="1300" b="1" dirty="0">
                <a:solidFill>
                  <a:srgbClr val="0B2E4F"/>
                </a:solidFill>
                <a:latin typeface="Arial" pitchFamily="34" charset="0"/>
                <a:ea typeface="Arial" pitchFamily="34" charset="-122"/>
                <a:cs typeface="Arial" pitchFamily="34" charset="-120"/>
              </a:rPr>
              <a:t>Chờ xác minh thanh toán</a:t>
            </a:r>
            <a:endParaRPr lang="en-US" sz="1300" dirty="0"/>
          </a:p>
        </p:txBody>
      </p:sp>
      <p:sp>
        <p:nvSpPr>
          <p:cNvPr id="16" name="Shape 14"/>
          <p:cNvSpPr/>
          <p:nvPr/>
        </p:nvSpPr>
        <p:spPr>
          <a:xfrm>
            <a:off x="9189720" y="3246120"/>
            <a:ext cx="2377440" cy="731520"/>
          </a:xfrm>
          <a:prstGeom prst="roundRect">
            <a:avLst>
              <a:gd name="adj" fmla="val 12500"/>
            </a:avLst>
          </a:prstGeom>
          <a:solidFill>
            <a:srgbClr val="FFFFFF"/>
          </a:solidFill>
          <a:ln w="15875">
            <a:solidFill>
              <a:srgbClr val="0B2E4F"/>
            </a:solidFill>
            <a:prstDash val="solid"/>
          </a:ln>
        </p:spPr>
      </p:sp>
      <p:sp>
        <p:nvSpPr>
          <p:cNvPr id="17" name="Text 15"/>
          <p:cNvSpPr txBox="1"/>
          <p:nvPr/>
        </p:nvSpPr>
        <p:spPr>
          <a:xfrm>
            <a:off x="9281160" y="3246120"/>
            <a:ext cx="2194560" cy="731520"/>
          </a:xfrm>
          <a:prstGeom prst="rect">
            <a:avLst/>
          </a:prstGeom>
          <a:noFill/>
          <a:ln/>
        </p:spPr>
        <p:txBody>
          <a:bodyPr wrap="square" lIns="0" tIns="0" rIns="0" bIns="0" rtlCol="0" anchor="ctr"/>
          <a:lstStyle/>
          <a:p>
            <a:pPr algn="ctr" indent="0" marL="0">
              <a:buNone/>
            </a:pPr>
            <a:r>
              <a:rPr lang="en-US" sz="1300" b="1" dirty="0">
                <a:solidFill>
                  <a:srgbClr val="0B2E4F"/>
                </a:solidFill>
                <a:latin typeface="Arial" pitchFamily="34" charset="0"/>
                <a:ea typeface="Arial" pitchFamily="34" charset="-122"/>
                <a:cs typeface="Arial" pitchFamily="34" charset="-120"/>
              </a:rPr>
              <a:t>Mở lại: chỉ thanh toán</a:t>
            </a:r>
            <a:endParaRPr lang="en-US" sz="1300" dirty="0"/>
          </a:p>
        </p:txBody>
      </p:sp>
      <p:sp>
        <p:nvSpPr>
          <p:cNvPr id="18" name="Shape 16"/>
          <p:cNvSpPr/>
          <p:nvPr/>
        </p:nvSpPr>
        <p:spPr>
          <a:xfrm>
            <a:off x="6309360" y="4846320"/>
            <a:ext cx="2377440" cy="731520"/>
          </a:xfrm>
          <a:prstGeom prst="roundRect">
            <a:avLst>
              <a:gd name="adj" fmla="val 12500"/>
            </a:avLst>
          </a:prstGeom>
          <a:solidFill>
            <a:srgbClr val="FFFFFF"/>
          </a:solidFill>
          <a:ln w="15875">
            <a:solidFill>
              <a:srgbClr val="0B2E4F"/>
            </a:solidFill>
            <a:prstDash val="solid"/>
          </a:ln>
        </p:spPr>
      </p:sp>
      <p:sp>
        <p:nvSpPr>
          <p:cNvPr id="19" name="Text 17"/>
          <p:cNvSpPr txBox="1"/>
          <p:nvPr/>
        </p:nvSpPr>
        <p:spPr>
          <a:xfrm>
            <a:off x="6400800" y="4846320"/>
            <a:ext cx="2194560" cy="731520"/>
          </a:xfrm>
          <a:prstGeom prst="rect">
            <a:avLst/>
          </a:prstGeom>
          <a:noFill/>
          <a:ln/>
        </p:spPr>
        <p:txBody>
          <a:bodyPr wrap="square" lIns="0" tIns="0" rIns="0" bIns="0" rtlCol="0" anchor="ctr"/>
          <a:lstStyle/>
          <a:p>
            <a:pPr algn="ctr" indent="0" marL="0">
              <a:buNone/>
            </a:pPr>
            <a:r>
              <a:rPr lang="en-US" sz="1300" b="1" dirty="0">
                <a:solidFill>
                  <a:srgbClr val="0B2E4F"/>
                </a:solidFill>
                <a:latin typeface="Arial" pitchFamily="34" charset="0"/>
                <a:ea typeface="Arial" pitchFamily="34" charset="-122"/>
                <a:cs typeface="Arial" pitchFamily="34" charset="-120"/>
              </a:rPr>
              <a:t>Đóng – chưa thu được tiền</a:t>
            </a:r>
            <a:endParaRPr lang="en-US" sz="1300" dirty="0"/>
          </a:p>
        </p:txBody>
      </p:sp>
      <p:sp>
        <p:nvSpPr>
          <p:cNvPr id="20" name="Shape 18"/>
          <p:cNvSpPr/>
          <p:nvPr/>
        </p:nvSpPr>
        <p:spPr>
          <a:xfrm>
            <a:off x="9189720" y="4846320"/>
            <a:ext cx="2377440" cy="731520"/>
          </a:xfrm>
          <a:prstGeom prst="roundRect">
            <a:avLst>
              <a:gd name="adj" fmla="val 12500"/>
            </a:avLst>
          </a:prstGeom>
          <a:solidFill>
            <a:srgbClr val="FDEDE4"/>
          </a:solidFill>
          <a:ln w="15875">
            <a:solidFill>
              <a:srgbClr val="E8590C"/>
            </a:solidFill>
            <a:prstDash val="solid"/>
          </a:ln>
        </p:spPr>
      </p:sp>
      <p:sp>
        <p:nvSpPr>
          <p:cNvPr id="21" name="Text 19"/>
          <p:cNvSpPr txBox="1"/>
          <p:nvPr/>
        </p:nvSpPr>
        <p:spPr>
          <a:xfrm>
            <a:off x="9281160" y="4846320"/>
            <a:ext cx="2194560" cy="731520"/>
          </a:xfrm>
          <a:prstGeom prst="rect">
            <a:avLst/>
          </a:prstGeom>
          <a:noFill/>
          <a:ln/>
        </p:spPr>
        <p:txBody>
          <a:bodyPr wrap="square" lIns="0" tIns="0" rIns="0" bIns="0" rtlCol="0" anchor="ctr"/>
          <a:lstStyle/>
          <a:p>
            <a:pPr algn="ctr" indent="0" marL="0">
              <a:buNone/>
            </a:pPr>
            <a:r>
              <a:rPr lang="en-US" sz="1300" b="1" dirty="0">
                <a:solidFill>
                  <a:srgbClr val="E8590C"/>
                </a:solidFill>
                <a:latin typeface="Arial" pitchFamily="34" charset="0"/>
                <a:ea typeface="Arial" pitchFamily="34" charset="-122"/>
                <a:cs typeface="Arial" pitchFamily="34" charset="-120"/>
              </a:rPr>
              <a:t>Không hóa đơn, không doanh thu</a:t>
            </a:r>
            <a:endParaRPr lang="en-US" sz="1300" dirty="0"/>
          </a:p>
        </p:txBody>
      </p:sp>
      <p:sp>
        <p:nvSpPr>
          <p:cNvPr id="22" name="Shape 20"/>
          <p:cNvSpPr/>
          <p:nvPr/>
        </p:nvSpPr>
        <p:spPr>
          <a:xfrm>
            <a:off x="2926080" y="2011680"/>
            <a:ext cx="3383280" cy="0"/>
          </a:xfrm>
          <a:prstGeom prst="line">
            <a:avLst/>
          </a:prstGeom>
          <a:noFill/>
          <a:ln w="19050">
            <a:solidFill>
              <a:srgbClr val="0A6EBD"/>
            </a:solidFill>
            <a:prstDash val="solid"/>
            <a:tailEnd type="triangle"/>
          </a:ln>
        </p:spPr>
      </p:sp>
      <p:sp>
        <p:nvSpPr>
          <p:cNvPr id="23" name="Text 21"/>
          <p:cNvSpPr txBox="1"/>
          <p:nvPr/>
        </p:nvSpPr>
        <p:spPr>
          <a:xfrm>
            <a:off x="3017520" y="1600200"/>
            <a:ext cx="3200400" cy="457200"/>
          </a:xfrm>
          <a:prstGeom prst="rect">
            <a:avLst/>
          </a:prstGeom>
          <a:noFill/>
          <a:ln/>
        </p:spPr>
        <p:txBody>
          <a:bodyPr wrap="square" lIns="0" tIns="0" rIns="0" bIns="0" rtlCol="0" anchor="t"/>
          <a:lstStyle/>
          <a:p>
            <a:pPr algn="ctr" indent="0" marL="0">
              <a:buNone/>
            </a:pPr>
            <a:r>
              <a:rPr lang="en-US" sz="1050" dirty="0">
                <a:solidFill>
                  <a:srgbClr val="5B6573"/>
                </a:solidFill>
                <a:latin typeface="Arial" pitchFamily="34" charset="0"/>
                <a:ea typeface="Arial" pitchFamily="34" charset="-122"/>
                <a:cs typeface="Arial" pitchFamily="34" charset="-120"/>
              </a:rPr>
              <a:t>Webhook hợp lệ, đúng số tiền</a:t>
            </a:r>
            <a:endParaRPr lang="en-US" sz="1050" dirty="0"/>
          </a:p>
        </p:txBody>
      </p:sp>
      <p:sp>
        <p:nvSpPr>
          <p:cNvPr id="24" name="Shape 22"/>
          <p:cNvSpPr/>
          <p:nvPr/>
        </p:nvSpPr>
        <p:spPr>
          <a:xfrm>
            <a:off x="8686800" y="2011680"/>
            <a:ext cx="502920" cy="0"/>
          </a:xfrm>
          <a:prstGeom prst="line">
            <a:avLst/>
          </a:prstGeom>
          <a:noFill/>
          <a:ln w="19050">
            <a:solidFill>
              <a:srgbClr val="0A6EBD"/>
            </a:solidFill>
            <a:prstDash val="solid"/>
            <a:tailEnd type="triangle"/>
          </a:ln>
        </p:spPr>
      </p:sp>
      <p:sp>
        <p:nvSpPr>
          <p:cNvPr id="25" name="Shape 23"/>
          <p:cNvSpPr/>
          <p:nvPr/>
        </p:nvSpPr>
        <p:spPr>
          <a:xfrm>
            <a:off x="1737360" y="2377440"/>
            <a:ext cx="0" cy="868680"/>
          </a:xfrm>
          <a:prstGeom prst="line">
            <a:avLst/>
          </a:prstGeom>
          <a:noFill/>
          <a:ln w="15875">
            <a:solidFill>
              <a:srgbClr val="0B2E4F"/>
            </a:solidFill>
            <a:prstDash val="solid"/>
            <a:tailEnd type="triangle"/>
          </a:ln>
        </p:spPr>
      </p:sp>
      <p:sp>
        <p:nvSpPr>
          <p:cNvPr id="26" name="Text 24"/>
          <p:cNvSpPr txBox="1"/>
          <p:nvPr/>
        </p:nvSpPr>
        <p:spPr>
          <a:xfrm>
            <a:off x="1828800" y="2560320"/>
            <a:ext cx="1463040" cy="457200"/>
          </a:xfrm>
          <a:prstGeom prst="rect">
            <a:avLst/>
          </a:prstGeom>
          <a:noFill/>
          <a:ln/>
        </p:spPr>
        <p:txBody>
          <a:bodyPr wrap="square" lIns="0" tIns="0" rIns="0" bIns="0" rtlCol="0" anchor="t"/>
          <a:lstStyle/>
          <a:p>
            <a:pPr algn="l" indent="0" marL="0">
              <a:buNone/>
            </a:pPr>
            <a:r>
              <a:rPr lang="en-US" sz="1050" dirty="0">
                <a:solidFill>
                  <a:srgbClr val="5B6573"/>
                </a:solidFill>
                <a:latin typeface="Arial" pitchFamily="34" charset="0"/>
                <a:ea typeface="Arial" pitchFamily="34" charset="-122"/>
                <a:cs typeface="Arial" pitchFamily="34" charset="-120"/>
              </a:rPr>
              <a:t>Quá 10 phút</a:t>
            </a:r>
            <a:endParaRPr lang="en-US" sz="1050" dirty="0"/>
          </a:p>
        </p:txBody>
      </p:sp>
      <p:sp>
        <p:nvSpPr>
          <p:cNvPr id="27" name="Shape 25"/>
          <p:cNvSpPr/>
          <p:nvPr/>
        </p:nvSpPr>
        <p:spPr>
          <a:xfrm>
            <a:off x="2926080" y="3611880"/>
            <a:ext cx="3383280" cy="0"/>
          </a:xfrm>
          <a:prstGeom prst="line">
            <a:avLst/>
          </a:prstGeom>
          <a:noFill/>
          <a:ln w="15875">
            <a:solidFill>
              <a:srgbClr val="0B2E4F"/>
            </a:solidFill>
            <a:prstDash val="solid"/>
            <a:tailEnd type="triangle"/>
          </a:ln>
        </p:spPr>
      </p:sp>
      <p:sp>
        <p:nvSpPr>
          <p:cNvPr id="28" name="Text 26"/>
          <p:cNvSpPr txBox="1"/>
          <p:nvPr/>
        </p:nvSpPr>
        <p:spPr>
          <a:xfrm>
            <a:off x="3017520" y="3200400"/>
            <a:ext cx="3200400" cy="457200"/>
          </a:xfrm>
          <a:prstGeom prst="rect">
            <a:avLst/>
          </a:prstGeom>
          <a:noFill/>
          <a:ln/>
        </p:spPr>
        <p:txBody>
          <a:bodyPr wrap="square" lIns="0" tIns="0" rIns="0" bIns="0" rtlCol="0" anchor="t"/>
          <a:lstStyle/>
          <a:p>
            <a:pPr algn="ctr" indent="0" marL="0">
              <a:buNone/>
            </a:pPr>
            <a:r>
              <a:rPr lang="en-US" sz="1050" dirty="0">
                <a:solidFill>
                  <a:srgbClr val="5B6573"/>
                </a:solidFill>
                <a:latin typeface="Arial" pitchFamily="34" charset="0"/>
                <a:ea typeface="Arial" pitchFamily="34" charset="-122"/>
                <a:cs typeface="Arial" pitchFamily="34" charset="-120"/>
              </a:rPr>
              <a:t>Khách báo đã thanh toán, thu ngân nhập mã giao dịch</a:t>
            </a:r>
            <a:endParaRPr lang="en-US" sz="1050" dirty="0"/>
          </a:p>
        </p:txBody>
      </p:sp>
      <p:sp>
        <p:nvSpPr>
          <p:cNvPr id="29" name="Shape 27"/>
          <p:cNvSpPr/>
          <p:nvPr/>
        </p:nvSpPr>
        <p:spPr>
          <a:xfrm flipV="1">
            <a:off x="7498080" y="2377440"/>
            <a:ext cx="0" cy="868680"/>
          </a:xfrm>
          <a:prstGeom prst="line">
            <a:avLst/>
          </a:prstGeom>
          <a:noFill/>
          <a:ln w="19050">
            <a:solidFill>
              <a:srgbClr val="0A6EBD"/>
            </a:solidFill>
            <a:prstDash val="solid"/>
            <a:tailEnd type="triangle"/>
          </a:ln>
        </p:spPr>
      </p:sp>
      <p:sp>
        <p:nvSpPr>
          <p:cNvPr id="30" name="Text 28"/>
          <p:cNvSpPr txBox="1"/>
          <p:nvPr/>
        </p:nvSpPr>
        <p:spPr>
          <a:xfrm>
            <a:off x="7589520" y="2487168"/>
            <a:ext cx="1371600" cy="457200"/>
          </a:xfrm>
          <a:prstGeom prst="rect">
            <a:avLst/>
          </a:prstGeom>
          <a:noFill/>
          <a:ln/>
        </p:spPr>
        <p:txBody>
          <a:bodyPr wrap="square" lIns="0" tIns="0" rIns="0" bIns="0" rtlCol="0" anchor="t"/>
          <a:lstStyle/>
          <a:p>
            <a:pPr algn="l" indent="0" marL="0">
              <a:buNone/>
            </a:pPr>
            <a:r>
              <a:rPr lang="en-US" sz="1050" dirty="0">
                <a:solidFill>
                  <a:srgbClr val="5B6573"/>
                </a:solidFill>
                <a:latin typeface="Arial" pitchFamily="34" charset="0"/>
                <a:ea typeface="Arial" pitchFamily="34" charset="-122"/>
                <a:cs typeface="Arial" pitchFamily="34" charset="-120"/>
              </a:rPr>
              <a:t>Quản lý xác nhận đã nhận tiền</a:t>
            </a:r>
            <a:endParaRPr lang="en-US" sz="1050" dirty="0"/>
          </a:p>
        </p:txBody>
      </p:sp>
      <p:sp>
        <p:nvSpPr>
          <p:cNvPr id="31" name="Shape 29"/>
          <p:cNvSpPr/>
          <p:nvPr/>
        </p:nvSpPr>
        <p:spPr>
          <a:xfrm>
            <a:off x="7498080" y="3977640"/>
            <a:ext cx="0" cy="868680"/>
          </a:xfrm>
          <a:prstGeom prst="line">
            <a:avLst/>
          </a:prstGeom>
          <a:noFill/>
          <a:ln w="15875">
            <a:solidFill>
              <a:srgbClr val="0B2E4F"/>
            </a:solidFill>
            <a:prstDash val="solid"/>
            <a:tailEnd type="triangle"/>
          </a:ln>
        </p:spPr>
      </p:sp>
      <p:sp>
        <p:nvSpPr>
          <p:cNvPr id="32" name="Text 30"/>
          <p:cNvSpPr txBox="1"/>
          <p:nvPr/>
        </p:nvSpPr>
        <p:spPr>
          <a:xfrm>
            <a:off x="7589520" y="4087368"/>
            <a:ext cx="1371600" cy="457200"/>
          </a:xfrm>
          <a:prstGeom prst="rect">
            <a:avLst/>
          </a:prstGeom>
          <a:noFill/>
          <a:ln/>
        </p:spPr>
        <p:txBody>
          <a:bodyPr wrap="square" lIns="0" tIns="0" rIns="0" bIns="0" rtlCol="0" anchor="t"/>
          <a:lstStyle/>
          <a:p>
            <a:pPr algn="l" indent="0" marL="0">
              <a:buNone/>
            </a:pPr>
            <a:r>
              <a:rPr lang="en-US" sz="1050" dirty="0">
                <a:solidFill>
                  <a:srgbClr val="5B6573"/>
                </a:solidFill>
                <a:latin typeface="Arial" pitchFamily="34" charset="0"/>
                <a:ea typeface="Arial" pitchFamily="34" charset="-122"/>
                <a:cs typeface="Arial" pitchFamily="34" charset="-120"/>
              </a:rPr>
              <a:t>Quản lý đóng order, ghi lý do</a:t>
            </a:r>
            <a:endParaRPr lang="en-US" sz="1050" dirty="0"/>
          </a:p>
        </p:txBody>
      </p:sp>
      <p:sp>
        <p:nvSpPr>
          <p:cNvPr id="33" name="Shape 31"/>
          <p:cNvSpPr/>
          <p:nvPr/>
        </p:nvSpPr>
        <p:spPr>
          <a:xfrm>
            <a:off x="8686800" y="3611880"/>
            <a:ext cx="502920" cy="0"/>
          </a:xfrm>
          <a:prstGeom prst="line">
            <a:avLst/>
          </a:prstGeom>
          <a:noFill/>
          <a:ln w="15875">
            <a:solidFill>
              <a:srgbClr val="0B2E4F"/>
            </a:solidFill>
            <a:prstDash val="solid"/>
            <a:tailEnd type="triangle"/>
          </a:ln>
        </p:spPr>
      </p:sp>
      <p:sp>
        <p:nvSpPr>
          <p:cNvPr id="34" name="Shape 32"/>
          <p:cNvSpPr/>
          <p:nvPr/>
        </p:nvSpPr>
        <p:spPr>
          <a:xfrm>
            <a:off x="8686800" y="5212080"/>
            <a:ext cx="502920" cy="0"/>
          </a:xfrm>
          <a:prstGeom prst="line">
            <a:avLst/>
          </a:prstGeom>
          <a:noFill/>
          <a:ln w="15875">
            <a:solidFill>
              <a:srgbClr val="E8590C"/>
            </a:solidFill>
            <a:prstDash val="solid"/>
            <a:tailEnd type="triangle"/>
          </a:ln>
        </p:spPr>
      </p:sp>
      <p:sp>
        <p:nvSpPr>
          <p:cNvPr id="35" name="Text 33"/>
          <p:cNvSpPr txBox="1"/>
          <p:nvPr/>
        </p:nvSpPr>
        <p:spPr>
          <a:xfrm>
            <a:off x="9189720" y="4023360"/>
            <a:ext cx="2377440" cy="457200"/>
          </a:xfrm>
          <a:prstGeom prst="rect">
            <a:avLst/>
          </a:prstGeom>
          <a:noFill/>
          <a:ln/>
        </p:spPr>
        <p:txBody>
          <a:bodyPr wrap="square" lIns="0" tIns="0" rIns="0" bIns="0" rtlCol="0" anchor="t"/>
          <a:lstStyle/>
          <a:p>
            <a:pPr algn="ctr" indent="0" marL="0">
              <a:buNone/>
            </a:pPr>
            <a:r>
              <a:rPr lang="en-US" sz="1050" dirty="0">
                <a:solidFill>
                  <a:srgbClr val="5B6573"/>
                </a:solidFill>
                <a:latin typeface="Arial" pitchFamily="34" charset="0"/>
                <a:ea typeface="Arial" pitchFamily="34" charset="-122"/>
                <a:cs typeface="Arial" pitchFamily="34" charset="-120"/>
              </a:rPr>
              <a:t>Quản lý mở lại, đã thống nhất với khách</a:t>
            </a:r>
            <a:endParaRPr lang="en-US" sz="1050" dirty="0"/>
          </a:p>
        </p:txBody>
      </p:sp>
      <p:sp>
        <p:nvSpPr>
          <p:cNvPr id="36" name="Text 34"/>
          <p:cNvSpPr txBox="1"/>
          <p:nvPr/>
        </p:nvSpPr>
        <p:spPr>
          <a:xfrm>
            <a:off x="8138160" y="5650992"/>
            <a:ext cx="1600200" cy="457200"/>
          </a:xfrm>
          <a:prstGeom prst="rect">
            <a:avLst/>
          </a:prstGeom>
          <a:noFill/>
          <a:ln/>
        </p:spPr>
        <p:txBody>
          <a:bodyPr wrap="square" lIns="0" tIns="0" rIns="0" bIns="0" rtlCol="0" anchor="t"/>
          <a:lstStyle/>
          <a:p>
            <a:pPr algn="ctr" indent="0" marL="0">
              <a:buNone/>
            </a:pPr>
            <a:r>
              <a:rPr lang="en-US" sz="1050" dirty="0">
                <a:solidFill>
                  <a:srgbClr val="5B6573"/>
                </a:solidFill>
                <a:latin typeface="Arial" pitchFamily="34" charset="0"/>
                <a:ea typeface="Arial" pitchFamily="34" charset="-122"/>
                <a:cs typeface="Arial" pitchFamily="34" charset="-120"/>
              </a:rPr>
              <a:t>Lưu số tiền chưa thu</a:t>
            </a:r>
            <a:endParaRPr lang="en-US" sz="1050" dirty="0"/>
          </a:p>
        </p:txBody>
      </p:sp>
      <p:sp>
        <p:nvSpPr>
          <p:cNvPr id="37" name="Text 35"/>
          <p:cNvSpPr txBox="1"/>
          <p:nvPr/>
        </p:nvSpPr>
        <p:spPr>
          <a:xfrm>
            <a:off x="548640" y="4297680"/>
            <a:ext cx="2743200" cy="1554480"/>
          </a:xfrm>
          <a:prstGeom prst="rect">
            <a:avLst/>
          </a:prstGeom>
          <a:noFill/>
          <a:ln/>
        </p:spPr>
        <p:txBody>
          <a:bodyPr wrap="square" lIns="0" tIns="0" rIns="0" bIns="0" rtlCol="0" anchor="t"/>
          <a:lstStyle/>
          <a:p>
            <a:pPr indent="0" marL="0">
              <a:spcAft>
                <a:spcPts val="500"/>
              </a:spcAft>
              <a:buNone/>
            </a:pPr>
            <a:r>
              <a:rPr lang="en-US" sz="1100" dirty="0">
                <a:solidFill>
                  <a:srgbClr val="1F2933"/>
                </a:solidFill>
                <a:latin typeface="Arial" pitchFamily="34" charset="0"/>
                <a:ea typeface="Arial" pitchFamily="34" charset="-122"/>
                <a:cs typeface="Arial" pitchFamily="34" charset="-120"/>
              </a:rPr>
              <a:t>Chỉ Quản lý được xác nhận đã nhận tiền, mở lại thanh toán hoặc đóng order không thu được tiền.</a:t>
            </a:r>
            <a:endParaRPr lang="en-US" sz="1100" dirty="0"/>
          </a:p>
          <a:p>
            <a:pPr indent="0" marL="0">
              <a:spcAft>
                <a:spcPts val="500"/>
              </a:spcAft>
              <a:buNone/>
            </a:pPr>
            <a:r>
              <a:rPr lang="en-US" sz="1100" dirty="0">
                <a:solidFill>
                  <a:srgbClr val="1F2933"/>
                </a:solidFill>
                <a:latin typeface="Arial" pitchFamily="34" charset="0"/>
                <a:ea typeface="Arial" pitchFamily="34" charset="-122"/>
                <a:cs typeface="Arial" pitchFamily="34" charset="-120"/>
              </a:rPr>
              <a:t>Chờ xác minh thanh toán không có thời hạn tự động; mọi bước đều ghi audit log.</a:t>
            </a:r>
            <a:endParaRPr lang="en-US" sz="1100" dirty="0"/>
          </a:p>
          <a:p>
            <a:pPr indent="0" marL="0">
              <a:spcAft>
                <a:spcPts val="500"/>
              </a:spcAft>
              <a:buNone/>
            </a:pPr>
            <a:r>
              <a:rPr lang="en-US" sz="1100" dirty="0">
                <a:solidFill>
                  <a:srgbClr val="1F2933"/>
                </a:solidFill>
                <a:latin typeface="Arial" pitchFamily="34" charset="0"/>
                <a:ea typeface="Arial" pitchFamily="34" charset="-122"/>
                <a:cs typeface="Arial" pitchFamily="34" charset="-120"/>
              </a:rPr>
              <a:t>Thu ngân có thể chủ động hủy mã QR khi còn Chờ xác nhận. Tiền đến muộn được đối chiếu tự động hoặc đưa vào danh sách ngoại lệ.</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03  PHÂN TÍCH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Yêu cầu hệ thống</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10 / 22</a:t>
            </a:r>
            <a:endParaRPr lang="en-US" sz="900" dirty="0"/>
          </a:p>
        </p:txBody>
      </p:sp>
      <p:sp>
        <p:nvSpPr>
          <p:cNvPr id="6" name="Text 4"/>
          <p:cNvSpPr txBox="1"/>
          <p:nvPr/>
        </p:nvSpPr>
        <p:spPr>
          <a:xfrm>
            <a:off x="548640" y="1417320"/>
            <a:ext cx="1737360" cy="822960"/>
          </a:xfrm>
          <a:prstGeom prst="rect">
            <a:avLst/>
          </a:prstGeom>
          <a:noFill/>
          <a:ln/>
        </p:spPr>
        <p:txBody>
          <a:bodyPr wrap="square" lIns="0" tIns="0" rIns="0" bIns="0" rtlCol="0" anchor="t"/>
          <a:lstStyle/>
          <a:p>
            <a:pPr indent="0" marL="0">
              <a:buNone/>
            </a:pPr>
            <a:r>
              <a:rPr lang="en-US" sz="5200" b="1" dirty="0">
                <a:solidFill>
                  <a:srgbClr val="0A6EBD"/>
                </a:solidFill>
                <a:latin typeface="Arial" pitchFamily="34" charset="0"/>
                <a:ea typeface="Arial" pitchFamily="34" charset="-122"/>
                <a:cs typeface="Arial" pitchFamily="34" charset="-120"/>
              </a:rPr>
              <a:t>106</a:t>
            </a:r>
            <a:endParaRPr lang="en-US" sz="5200" dirty="0"/>
          </a:p>
        </p:txBody>
      </p:sp>
      <p:sp>
        <p:nvSpPr>
          <p:cNvPr id="7" name="Text 5"/>
          <p:cNvSpPr txBox="1"/>
          <p:nvPr/>
        </p:nvSpPr>
        <p:spPr>
          <a:xfrm>
            <a:off x="2331720" y="1627632"/>
            <a:ext cx="4114800" cy="457200"/>
          </a:xfrm>
          <a:prstGeom prst="rect">
            <a:avLst/>
          </a:prstGeom>
          <a:noFill/>
          <a:ln/>
        </p:spPr>
        <p:txBody>
          <a:bodyPr wrap="square" lIns="0" tIns="0" rIns="0" bIns="0" rtlCol="0" anchor="t"/>
          <a:lstStyle/>
          <a:p>
            <a:pPr indent="0" marL="0">
              <a:buNone/>
            </a:pPr>
            <a:r>
              <a:rPr lang="en-US" sz="1400" dirty="0">
                <a:solidFill>
                  <a:srgbClr val="5B6573"/>
                </a:solidFill>
                <a:latin typeface="Arial" pitchFamily="34" charset="0"/>
                <a:ea typeface="Arial" pitchFamily="34" charset="-122"/>
                <a:cs typeface="Arial" pitchFamily="34" charset="-120"/>
              </a:rPr>
              <a:t>yêu cầu chức năng (FR), chia theo 6 module</a:t>
            </a:r>
            <a:endParaRPr lang="en-US" sz="1400" dirty="0"/>
          </a:p>
        </p:txBody>
      </p:sp>
      <p:graphicFrame>
        <p:nvGraphicFramePr>
          <p:cNvPr id="8" name="Chart 0" descr=""/>
          <p:cNvGraphicFramePr/>
          <p:nvPr/>
        </p:nvGraphicFramePr>
        <p:xfrm>
          <a:off x="457200" y="2240280"/>
          <a:ext cx="6400800" cy="32461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5577840"/>
            <a:ext cx="6309360" cy="640080"/>
          </a:xfrm>
          <a:prstGeom prst="rect">
            <a:avLst/>
          </a:prstGeom>
          <a:noFill/>
          <a:ln/>
        </p:spPr>
        <p:txBody>
          <a:bodyPr wrap="square" lIns="0" tIns="0" rIns="0" bIns="0" rtlCol="0" anchor="t"/>
          <a:lstStyle/>
          <a:p>
            <a:pPr indent="0" marL="0">
              <a:buNone/>
            </a:pPr>
            <a:r>
              <a:rPr lang="en-US" sz="1200" b="1" dirty="0">
                <a:solidFill>
                  <a:srgbClr val="0B2E4F"/>
                </a:solidFill>
                <a:latin typeface="Arial" pitchFamily="34" charset="0"/>
                <a:ea typeface="Arial" pitchFamily="34" charset="-122"/>
                <a:cs typeface="Arial" pitchFamily="34" charset="-120"/>
              </a:rPr>
              <a:t>Must-have: </a:t>
            </a:r>
            <a:pPr indent="0" marL="0">
              <a:buNone/>
            </a:pPr>
            <a:r>
              <a:rPr lang="en-US" sz="1200" dirty="0">
                <a:solidFill>
                  <a:srgbClr val="1F2933"/>
                </a:solidFill>
                <a:latin typeface="Arial" pitchFamily="34" charset="0"/>
                <a:ea typeface="Arial" pitchFamily="34" charset="-122"/>
                <a:cs typeface="Arial" pitchFamily="34" charset="-120"/>
              </a:rPr>
              <a:t>danh mục, bán hàng, kho, cài đặt nền tảng.  </a:t>
            </a:r>
            <a:pPr indent="0" marL="0">
              <a:buNone/>
            </a:pPr>
            <a:r>
              <a:rPr lang="en-US" sz="1200" b="1" dirty="0">
                <a:solidFill>
                  <a:srgbClr val="0B2E4F"/>
                </a:solidFill>
                <a:latin typeface="Arial" pitchFamily="34" charset="0"/>
                <a:ea typeface="Arial" pitchFamily="34" charset="-122"/>
                <a:cs typeface="Arial" pitchFamily="34" charset="-120"/>
              </a:rPr>
              <a:t>Should-have: </a:t>
            </a:r>
            <a:pPr indent="0" marL="0">
              <a:buNone/>
            </a:pPr>
            <a:r>
              <a:rPr lang="en-US" sz="1200" dirty="0">
                <a:solidFill>
                  <a:srgbClr val="1F2933"/>
                </a:solidFill>
                <a:latin typeface="Arial" pitchFamily="34" charset="0"/>
                <a:ea typeface="Arial" pitchFamily="34" charset="-122"/>
                <a:cs typeface="Arial" pitchFamily="34" charset="-120"/>
              </a:rPr>
              <a:t>báo cáo, cài đặt còn lại.  </a:t>
            </a:r>
            <a:pPr indent="0" marL="0">
              <a:buNone/>
            </a:pPr>
            <a:r>
              <a:rPr lang="en-US" sz="1200" b="1" dirty="0">
                <a:solidFill>
                  <a:srgbClr val="E8590C"/>
                </a:solidFill>
                <a:latin typeface="Arial" pitchFamily="34" charset="0"/>
                <a:ea typeface="Arial" pitchFamily="34" charset="-122"/>
                <a:cs typeface="Arial" pitchFamily="34" charset="-120"/>
              </a:rPr>
              <a:t>Trọng tâm: </a:t>
            </a:r>
            <a:pPr indent="0" marL="0">
              <a:buNone/>
            </a:pPr>
            <a:r>
              <a:rPr lang="en-US" sz="1200" dirty="0">
                <a:solidFill>
                  <a:srgbClr val="1F2933"/>
                </a:solidFill>
                <a:latin typeface="Arial" pitchFamily="34" charset="0"/>
                <a:ea typeface="Arial" pitchFamily="34" charset="-122"/>
                <a:cs typeface="Arial" pitchFamily="34" charset="-120"/>
              </a:rPr>
              <a:t>AI Assistant.</a:t>
            </a:r>
            <a:endParaRPr lang="en-US" sz="1200" dirty="0"/>
          </a:p>
        </p:txBody>
      </p:sp>
      <p:sp>
        <p:nvSpPr>
          <p:cNvPr id="10" name="Text 7"/>
          <p:cNvSpPr txBox="1"/>
          <p:nvPr/>
        </p:nvSpPr>
        <p:spPr>
          <a:xfrm>
            <a:off x="7406640" y="1554480"/>
            <a:ext cx="4236415" cy="320040"/>
          </a:xfrm>
          <a:prstGeom prst="rect">
            <a:avLst/>
          </a:prstGeom>
          <a:noFill/>
          <a:ln/>
        </p:spPr>
        <p:txBody>
          <a:bodyPr wrap="square" lIns="0" tIns="0" rIns="0" bIns="0" rtlCol="0" anchor="t"/>
          <a:lstStyle/>
          <a:p>
            <a:pPr indent="0" marL="0">
              <a:buNone/>
            </a:pPr>
            <a:r>
              <a:rPr lang="en-US" sz="1400" b="1" dirty="0">
                <a:solidFill>
                  <a:srgbClr val="0B2E4F"/>
                </a:solidFill>
                <a:latin typeface="Arial" pitchFamily="34" charset="0"/>
                <a:ea typeface="Arial" pitchFamily="34" charset="-122"/>
                <a:cs typeface="Arial" pitchFamily="34" charset="-120"/>
              </a:rPr>
              <a:t>17 yêu cầu phi chức năng, tiêu biểu:</a:t>
            </a:r>
            <a:endParaRPr lang="en-US" sz="1400" dirty="0"/>
          </a:p>
        </p:txBody>
      </p:sp>
      <p:sp>
        <p:nvSpPr>
          <p:cNvPr id="11" name="Text 8"/>
          <p:cNvSpPr txBox="1"/>
          <p:nvPr/>
        </p:nvSpPr>
        <p:spPr>
          <a:xfrm>
            <a:off x="7406640" y="2011680"/>
            <a:ext cx="160020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&lt; 2 giây</a:t>
            </a:r>
            <a:endParaRPr lang="en-US" sz="2000" dirty="0"/>
          </a:p>
        </p:txBody>
      </p:sp>
      <p:sp>
        <p:nvSpPr>
          <p:cNvPr id="12" name="Text 9"/>
          <p:cNvSpPr txBox="1"/>
          <p:nvPr/>
        </p:nvSpPr>
        <p:spPr>
          <a:xfrm>
            <a:off x="9098280" y="2011680"/>
            <a:ext cx="2544775" cy="3657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thao tác nghiệp vụ chính</a:t>
            </a:r>
            <a:endParaRPr lang="en-US" sz="1200" dirty="0"/>
          </a:p>
        </p:txBody>
      </p:sp>
      <p:sp>
        <p:nvSpPr>
          <p:cNvPr id="13" name="Text 10"/>
          <p:cNvSpPr txBox="1"/>
          <p:nvPr/>
        </p:nvSpPr>
        <p:spPr>
          <a:xfrm>
            <a:off x="9098280" y="2359152"/>
            <a:ext cx="1371600" cy="228600"/>
          </a:xfrm>
          <a:prstGeom prst="rect">
            <a:avLst/>
          </a:prstGeom>
          <a:noFill/>
          <a:ln/>
        </p:spPr>
        <p:txBody>
          <a:bodyPr wrap="square" lIns="0" tIns="0" rIns="0" bIns="0" rtlCol="0" anchor="t"/>
          <a:lstStyle/>
          <a:p>
            <a:pPr indent="0" marL="0">
              <a:buNone/>
            </a:pPr>
            <a:r>
              <a:rPr lang="en-US" sz="1000" dirty="0">
                <a:solidFill>
                  <a:srgbClr val="5B6573"/>
                </a:solidFill>
                <a:latin typeface="Arial" pitchFamily="34" charset="0"/>
                <a:ea typeface="Arial" pitchFamily="34" charset="-122"/>
                <a:cs typeface="Arial" pitchFamily="34" charset="-120"/>
              </a:rPr>
              <a:t>NFR-01</a:t>
            </a:r>
            <a:endParaRPr lang="en-US" sz="1000" dirty="0"/>
          </a:p>
        </p:txBody>
      </p:sp>
      <p:sp>
        <p:nvSpPr>
          <p:cNvPr id="14" name="Shape 11"/>
          <p:cNvSpPr/>
          <p:nvPr/>
        </p:nvSpPr>
        <p:spPr>
          <a:xfrm>
            <a:off x="7406640" y="2724912"/>
            <a:ext cx="4236415" cy="0"/>
          </a:xfrm>
          <a:prstGeom prst="line">
            <a:avLst/>
          </a:prstGeom>
          <a:noFill/>
          <a:ln w="9525">
            <a:solidFill>
              <a:srgbClr val="D5DCE4"/>
            </a:solidFill>
            <a:prstDash val="solid"/>
          </a:ln>
        </p:spPr>
      </p:sp>
      <p:sp>
        <p:nvSpPr>
          <p:cNvPr id="15" name="Text 12"/>
          <p:cNvSpPr txBox="1"/>
          <p:nvPr/>
        </p:nvSpPr>
        <p:spPr>
          <a:xfrm>
            <a:off x="7406640" y="2834640"/>
            <a:ext cx="160020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&lt; 8 giây</a:t>
            </a:r>
            <a:endParaRPr lang="en-US" sz="2000" dirty="0"/>
          </a:p>
        </p:txBody>
      </p:sp>
      <p:sp>
        <p:nvSpPr>
          <p:cNvPr id="16" name="Text 13"/>
          <p:cNvSpPr txBox="1"/>
          <p:nvPr/>
        </p:nvSpPr>
        <p:spPr>
          <a:xfrm>
            <a:off x="9098280" y="2834640"/>
            <a:ext cx="2544775" cy="3657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AI trả lời trung bình</a:t>
            </a:r>
            <a:endParaRPr lang="en-US" sz="1200" dirty="0"/>
          </a:p>
        </p:txBody>
      </p:sp>
      <p:sp>
        <p:nvSpPr>
          <p:cNvPr id="17" name="Text 14"/>
          <p:cNvSpPr txBox="1"/>
          <p:nvPr/>
        </p:nvSpPr>
        <p:spPr>
          <a:xfrm>
            <a:off x="9098280" y="3182112"/>
            <a:ext cx="1371600" cy="228600"/>
          </a:xfrm>
          <a:prstGeom prst="rect">
            <a:avLst/>
          </a:prstGeom>
          <a:noFill/>
          <a:ln/>
        </p:spPr>
        <p:txBody>
          <a:bodyPr wrap="square" lIns="0" tIns="0" rIns="0" bIns="0" rtlCol="0" anchor="t"/>
          <a:lstStyle/>
          <a:p>
            <a:pPr indent="0" marL="0">
              <a:buNone/>
            </a:pPr>
            <a:r>
              <a:rPr lang="en-US" sz="1000" dirty="0">
                <a:solidFill>
                  <a:srgbClr val="5B6573"/>
                </a:solidFill>
                <a:latin typeface="Arial" pitchFamily="34" charset="0"/>
                <a:ea typeface="Arial" pitchFamily="34" charset="-122"/>
                <a:cs typeface="Arial" pitchFamily="34" charset="-120"/>
              </a:rPr>
              <a:t>NFR-02</a:t>
            </a:r>
            <a:endParaRPr lang="en-US" sz="1000" dirty="0"/>
          </a:p>
        </p:txBody>
      </p:sp>
      <p:sp>
        <p:nvSpPr>
          <p:cNvPr id="18" name="Shape 15"/>
          <p:cNvSpPr/>
          <p:nvPr/>
        </p:nvSpPr>
        <p:spPr>
          <a:xfrm>
            <a:off x="7406640" y="3547872"/>
            <a:ext cx="4236415" cy="0"/>
          </a:xfrm>
          <a:prstGeom prst="line">
            <a:avLst/>
          </a:prstGeom>
          <a:noFill/>
          <a:ln w="9525">
            <a:solidFill>
              <a:srgbClr val="D5DCE4"/>
            </a:solidFill>
            <a:prstDash val="solid"/>
          </a:ln>
        </p:spPr>
      </p:sp>
      <p:sp>
        <p:nvSpPr>
          <p:cNvPr id="19" name="Text 16"/>
          <p:cNvSpPr txBox="1"/>
          <p:nvPr/>
        </p:nvSpPr>
        <p:spPr>
          <a:xfrm>
            <a:off x="7406640" y="3657600"/>
            <a:ext cx="160020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20.000</a:t>
            </a:r>
            <a:endParaRPr lang="en-US" sz="2000" dirty="0"/>
          </a:p>
        </p:txBody>
      </p:sp>
      <p:sp>
        <p:nvSpPr>
          <p:cNvPr id="20" name="Text 17"/>
          <p:cNvSpPr txBox="1"/>
          <p:nvPr/>
        </p:nvSpPr>
        <p:spPr>
          <a:xfrm>
            <a:off x="9098280" y="3657600"/>
            <a:ext cx="2544775" cy="3657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order/năm, báo cáo vẫn ổn định</a:t>
            </a:r>
            <a:endParaRPr lang="en-US" sz="1200" dirty="0"/>
          </a:p>
        </p:txBody>
      </p:sp>
      <p:sp>
        <p:nvSpPr>
          <p:cNvPr id="21" name="Text 18"/>
          <p:cNvSpPr txBox="1"/>
          <p:nvPr/>
        </p:nvSpPr>
        <p:spPr>
          <a:xfrm>
            <a:off x="9098280" y="4005072"/>
            <a:ext cx="1371600" cy="228600"/>
          </a:xfrm>
          <a:prstGeom prst="rect">
            <a:avLst/>
          </a:prstGeom>
          <a:noFill/>
          <a:ln/>
        </p:spPr>
        <p:txBody>
          <a:bodyPr wrap="square" lIns="0" tIns="0" rIns="0" bIns="0" rtlCol="0" anchor="t"/>
          <a:lstStyle/>
          <a:p>
            <a:pPr indent="0" marL="0">
              <a:buNone/>
            </a:pPr>
            <a:r>
              <a:rPr lang="en-US" sz="1000" dirty="0">
                <a:solidFill>
                  <a:srgbClr val="5B6573"/>
                </a:solidFill>
                <a:latin typeface="Arial" pitchFamily="34" charset="0"/>
                <a:ea typeface="Arial" pitchFamily="34" charset="-122"/>
                <a:cs typeface="Arial" pitchFamily="34" charset="-120"/>
              </a:rPr>
              <a:t>NFR-03</a:t>
            </a:r>
            <a:endParaRPr lang="en-US" sz="1000" dirty="0"/>
          </a:p>
        </p:txBody>
      </p:sp>
      <p:sp>
        <p:nvSpPr>
          <p:cNvPr id="22" name="Shape 19"/>
          <p:cNvSpPr/>
          <p:nvPr/>
        </p:nvSpPr>
        <p:spPr>
          <a:xfrm>
            <a:off x="7406640" y="4370832"/>
            <a:ext cx="4236415" cy="0"/>
          </a:xfrm>
          <a:prstGeom prst="line">
            <a:avLst/>
          </a:prstGeom>
          <a:noFill/>
          <a:ln w="9525">
            <a:solidFill>
              <a:srgbClr val="D5DCE4"/>
            </a:solidFill>
            <a:prstDash val="solid"/>
          </a:ln>
        </p:spPr>
      </p:sp>
      <p:sp>
        <p:nvSpPr>
          <p:cNvPr id="23" name="Text 20"/>
          <p:cNvSpPr txBox="1"/>
          <p:nvPr/>
        </p:nvSpPr>
        <p:spPr>
          <a:xfrm>
            <a:off x="7406640" y="4480560"/>
            <a:ext cx="1600200" cy="54864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Chỉ đọc</a:t>
            </a:r>
            <a:endParaRPr lang="en-US" sz="2000" dirty="0"/>
          </a:p>
        </p:txBody>
      </p:sp>
      <p:sp>
        <p:nvSpPr>
          <p:cNvPr id="24" name="Text 21"/>
          <p:cNvSpPr txBox="1"/>
          <p:nvPr/>
        </p:nvSpPr>
        <p:spPr>
          <a:xfrm>
            <a:off x="9098280" y="4480560"/>
            <a:ext cx="2544775" cy="3657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AI chỉ SELECT trên view vai trò</a:t>
            </a:r>
            <a:endParaRPr lang="en-US" sz="1200" dirty="0"/>
          </a:p>
        </p:txBody>
      </p:sp>
      <p:sp>
        <p:nvSpPr>
          <p:cNvPr id="25" name="Text 22"/>
          <p:cNvSpPr txBox="1"/>
          <p:nvPr/>
        </p:nvSpPr>
        <p:spPr>
          <a:xfrm>
            <a:off x="9098280" y="4828032"/>
            <a:ext cx="1371600" cy="228600"/>
          </a:xfrm>
          <a:prstGeom prst="rect">
            <a:avLst/>
          </a:prstGeom>
          <a:noFill/>
          <a:ln/>
        </p:spPr>
        <p:txBody>
          <a:bodyPr wrap="square" lIns="0" tIns="0" rIns="0" bIns="0" rtlCol="0" anchor="t"/>
          <a:lstStyle/>
          <a:p>
            <a:pPr indent="0" marL="0">
              <a:buNone/>
            </a:pPr>
            <a:r>
              <a:rPr lang="en-US" sz="1000" dirty="0">
                <a:solidFill>
                  <a:srgbClr val="5B6573"/>
                </a:solidFill>
                <a:latin typeface="Arial" pitchFamily="34" charset="0"/>
                <a:ea typeface="Arial" pitchFamily="34" charset="-122"/>
                <a:cs typeface="Arial" pitchFamily="34" charset="-120"/>
              </a:rPr>
              <a:t>NFR-06</a:t>
            </a:r>
            <a:endParaRPr lang="en-US" sz="1000" dirty="0"/>
          </a:p>
        </p:txBody>
      </p:sp>
      <p:sp>
        <p:nvSpPr>
          <p:cNvPr id="26" name="Shape 23"/>
          <p:cNvSpPr/>
          <p:nvPr/>
        </p:nvSpPr>
        <p:spPr>
          <a:xfrm>
            <a:off x="7406640" y="5193792"/>
            <a:ext cx="4236415" cy="0"/>
          </a:xfrm>
          <a:prstGeom prst="line">
            <a:avLst/>
          </a:prstGeom>
          <a:noFill/>
          <a:ln w="9525">
            <a:solidFill>
              <a:srgbClr val="D5DCE4"/>
            </a:solidFill>
            <a:prstDash val="solid"/>
          </a:ln>
        </p:spPr>
      </p:sp>
      <p:sp>
        <p:nvSpPr>
          <p:cNvPr id="27" name="Text 24"/>
          <p:cNvSpPr txBox="1"/>
          <p:nvPr/>
        </p:nvSpPr>
        <p:spPr>
          <a:xfrm>
            <a:off x="7406640" y="5303520"/>
            <a:ext cx="160020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Không sửa</a:t>
            </a:r>
            <a:endParaRPr lang="en-US" sz="2000" dirty="0"/>
          </a:p>
        </p:txBody>
      </p:sp>
      <p:sp>
        <p:nvSpPr>
          <p:cNvPr id="28" name="Text 25"/>
          <p:cNvSpPr txBox="1"/>
          <p:nvPr/>
        </p:nvSpPr>
        <p:spPr>
          <a:xfrm>
            <a:off x="9098280" y="5303520"/>
            <a:ext cx="2544775" cy="3657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audit log, nhật ký câu hỏi AI</a:t>
            </a:r>
            <a:endParaRPr lang="en-US" sz="1200" dirty="0"/>
          </a:p>
        </p:txBody>
      </p:sp>
      <p:sp>
        <p:nvSpPr>
          <p:cNvPr id="29" name="Text 26"/>
          <p:cNvSpPr txBox="1"/>
          <p:nvPr/>
        </p:nvSpPr>
        <p:spPr>
          <a:xfrm>
            <a:off x="9098280" y="5650992"/>
            <a:ext cx="1371600" cy="228600"/>
          </a:xfrm>
          <a:prstGeom prst="rect">
            <a:avLst/>
          </a:prstGeom>
          <a:noFill/>
          <a:ln/>
        </p:spPr>
        <p:txBody>
          <a:bodyPr wrap="square" lIns="0" tIns="0" rIns="0" bIns="0" rtlCol="0" anchor="t"/>
          <a:lstStyle/>
          <a:p>
            <a:pPr indent="0" marL="0">
              <a:buNone/>
            </a:pPr>
            <a:r>
              <a:rPr lang="en-US" sz="1000" dirty="0">
                <a:solidFill>
                  <a:srgbClr val="5B6573"/>
                </a:solidFill>
                <a:latin typeface="Arial" pitchFamily="34" charset="0"/>
                <a:ea typeface="Arial" pitchFamily="34" charset="-122"/>
                <a:cs typeface="Arial" pitchFamily="34" charset="-120"/>
              </a:rPr>
              <a:t>NFR-07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03  PHÂN TÍCH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Tác nhân và sơ đồ Use Case tổng quan</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11 / 22</a:t>
            </a:r>
            <a:endParaRPr lang="en-US" sz="900" dirty="0"/>
          </a:p>
        </p:txBody>
      </p:sp>
      <p:pic>
        <p:nvPicPr>
          <p:cNvPr id="6" name="Image 0" descr="/Users/nmh/work/Mac/NMHx/Personal/KLTN/docs/Images/image2.png">    </p:cNvPr>
          <p:cNvPicPr>
            <a:picLocks noChangeAspect="1"/>
          </p:cNvPicPr>
          <p:nvPr/>
        </p:nvPicPr>
        <p:blipFill>
          <a:blip r:embed="rId1"/>
          <a:stretch>
            <a:fillRect/>
          </a:stretch>
        </p:blipFill>
        <p:spPr>
          <a:xfrm>
            <a:off x="596756" y="1417320"/>
            <a:ext cx="5298728" cy="4892040"/>
          </a:xfrm>
          <a:prstGeom prst="rect">
            <a:avLst/>
          </a:prstGeom>
        </p:spPr>
      </p:pic>
      <p:sp>
        <p:nvSpPr>
          <p:cNvPr id="7" name="Text 4"/>
          <p:cNvSpPr txBox="1"/>
          <p:nvPr/>
        </p:nvSpPr>
        <p:spPr>
          <a:xfrm>
            <a:off x="6492240" y="1554480"/>
            <a:ext cx="5150815" cy="32004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Quản lý</a:t>
            </a:r>
            <a:endParaRPr lang="en-US" sz="1500" dirty="0"/>
          </a:p>
        </p:txBody>
      </p:sp>
      <p:sp>
        <p:nvSpPr>
          <p:cNvPr id="8" name="Text 5"/>
          <p:cNvSpPr txBox="1"/>
          <p:nvPr/>
        </p:nvSpPr>
        <p:spPr>
          <a:xfrm>
            <a:off x="6492240" y="1883664"/>
            <a:ext cx="5150815" cy="59436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Toàn quyền; kế thừa mọi chức năng của Thu ngân và Bếp, thêm danh mục, báo cáo, cài đặt, audit log.</a:t>
            </a:r>
            <a:endParaRPr lang="en-US" sz="1250" dirty="0"/>
          </a:p>
        </p:txBody>
      </p:sp>
      <p:sp>
        <p:nvSpPr>
          <p:cNvPr id="9" name="Text 6"/>
          <p:cNvSpPr txBox="1"/>
          <p:nvPr/>
        </p:nvSpPr>
        <p:spPr>
          <a:xfrm>
            <a:off x="6492240" y="2542032"/>
            <a:ext cx="5150815" cy="32004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Thu ngân / NV order</a:t>
            </a:r>
            <a:endParaRPr lang="en-US" sz="1500" dirty="0"/>
          </a:p>
        </p:txBody>
      </p:sp>
      <p:sp>
        <p:nvSpPr>
          <p:cNvPr id="10" name="Text 7"/>
          <p:cNvSpPr txBox="1"/>
          <p:nvPr/>
        </p:nvSpPr>
        <p:spPr>
          <a:xfrm>
            <a:off x="6492240" y="2871216"/>
            <a:ext cx="5150815" cy="59436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Lập order, theo dõi món, thanh toán, in hóa đơn; tra doanh thu qua AI trong phạm vi bán hàng.</a:t>
            </a:r>
            <a:endParaRPr lang="en-US" sz="1250" dirty="0"/>
          </a:p>
        </p:txBody>
      </p:sp>
      <p:sp>
        <p:nvSpPr>
          <p:cNvPr id="11" name="Text 8"/>
          <p:cNvSpPr txBox="1"/>
          <p:nvPr/>
        </p:nvSpPr>
        <p:spPr>
          <a:xfrm>
            <a:off x="6492240" y="3529584"/>
            <a:ext cx="5150815" cy="32004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Bếp</a:t>
            </a:r>
            <a:endParaRPr lang="en-US" sz="1500" dirty="0"/>
          </a:p>
        </p:txBody>
      </p:sp>
      <p:sp>
        <p:nvSpPr>
          <p:cNvPr id="12" name="Text 9"/>
          <p:cNvSpPr txBox="1"/>
          <p:nvPr/>
        </p:nvSpPr>
        <p:spPr>
          <a:xfrm>
            <a:off x="6492240" y="3858768"/>
            <a:ext cx="5150815" cy="59436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Nguyên liệu, nhà cung cấp, nhập / xuất / kiểm kê kho; AI trong phạm vi tồn kho.</a:t>
            </a:r>
            <a:endParaRPr lang="en-US" sz="1250" dirty="0"/>
          </a:p>
        </p:txBody>
      </p:sp>
      <p:sp>
        <p:nvSpPr>
          <p:cNvPr id="13" name="Text 10"/>
          <p:cNvSpPr txBox="1"/>
          <p:nvPr/>
        </p:nvSpPr>
        <p:spPr>
          <a:xfrm>
            <a:off x="6492240" y="4517136"/>
            <a:ext cx="5150815" cy="320040"/>
          </a:xfrm>
          <a:prstGeom prst="rect">
            <a:avLst/>
          </a:prstGeom>
          <a:noFill/>
          <a:ln/>
        </p:spPr>
        <p:txBody>
          <a:bodyPr wrap="square" lIns="0" tIns="0" rIns="0" bIns="0" rtlCol="0" anchor="t"/>
          <a:lstStyle/>
          <a:p>
            <a:pPr indent="0" marL="0">
              <a:buNone/>
            </a:pPr>
            <a:r>
              <a:rPr lang="en-US" sz="1500" b="1" dirty="0">
                <a:solidFill>
                  <a:srgbClr val="5B6573"/>
                </a:solidFill>
                <a:latin typeface="Arial" pitchFamily="34" charset="0"/>
                <a:ea typeface="Arial" pitchFamily="34" charset="-122"/>
                <a:cs typeface="Arial" pitchFamily="34" charset="-120"/>
              </a:rPr>
              <a:t>Hệ thống ngoài</a:t>
            </a:r>
            <a:endParaRPr lang="en-US" sz="1500" dirty="0"/>
          </a:p>
        </p:txBody>
      </p:sp>
      <p:sp>
        <p:nvSpPr>
          <p:cNvPr id="14" name="Text 11"/>
          <p:cNvSpPr txBox="1"/>
          <p:nvPr/>
        </p:nvSpPr>
        <p:spPr>
          <a:xfrm>
            <a:off x="6492240" y="4846320"/>
            <a:ext cx="5150815" cy="59436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Cổng thanh toán (webhook QR) và LLM API.</a:t>
            </a:r>
            <a:endParaRPr lang="en-US" sz="1250" dirty="0"/>
          </a:p>
        </p:txBody>
      </p:sp>
      <p:sp>
        <p:nvSpPr>
          <p:cNvPr id="15" name="Shape 12"/>
          <p:cNvSpPr/>
          <p:nvPr/>
        </p:nvSpPr>
        <p:spPr>
          <a:xfrm>
            <a:off x="6492240" y="5486400"/>
            <a:ext cx="5150815" cy="731520"/>
          </a:xfrm>
          <a:prstGeom prst="roundRect">
            <a:avLst>
              <a:gd name="adj" fmla="val 7500"/>
            </a:avLst>
          </a:prstGeom>
          <a:solidFill>
            <a:srgbClr val="F3F6F9"/>
          </a:solidFill>
          <a:ln/>
        </p:spPr>
      </p:sp>
      <p:sp>
        <p:nvSpPr>
          <p:cNvPr id="16" name="Text 13"/>
          <p:cNvSpPr txBox="1"/>
          <p:nvPr/>
        </p:nvSpPr>
        <p:spPr>
          <a:xfrm>
            <a:off x="6675120" y="5486400"/>
            <a:ext cx="4785055" cy="731520"/>
          </a:xfrm>
          <a:prstGeom prst="rect">
            <a:avLst/>
          </a:prstGeom>
          <a:noFill/>
          <a:ln/>
        </p:spPr>
        <p:txBody>
          <a:bodyPr wrap="square" lIns="0" tIns="0" rIns="0" bIns="0" rtlCol="0" anchor="ctr"/>
          <a:lstStyle/>
          <a:p>
            <a:pPr indent="0" marL="0">
              <a:buNone/>
            </a:pPr>
            <a:r>
              <a:rPr lang="en-US" sz="1100" dirty="0">
                <a:solidFill>
                  <a:srgbClr val="5B6573"/>
                </a:solidFill>
                <a:latin typeface="Arial" pitchFamily="34" charset="0"/>
                <a:ea typeface="Arial" pitchFamily="34" charset="-122"/>
                <a:cs typeface="Arial" pitchFamily="34" charset="-120"/>
              </a:rPr>
              <a:t>Hành vi tự động (trừ/hoàn kho, in phiếu, cảnh báo, ghi audit) là quy tắc nghiệp vụ nên không vẽ thành use case. 6 sơ đồ chi tiết ở phần phụ lục.</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03  PHÂN TÍCH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Một số quy tắc nghiệp vụ đáng chú ý</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12 / 22</a:t>
            </a:r>
            <a:endParaRPr lang="en-US" sz="900" dirty="0"/>
          </a:p>
        </p:txBody>
      </p:sp>
      <p:sp>
        <p:nvSpPr>
          <p:cNvPr id="6" name="Text 4"/>
          <p:cNvSpPr txBox="1"/>
          <p:nvPr/>
        </p:nvSpPr>
        <p:spPr>
          <a:xfrm>
            <a:off x="548640" y="1554480"/>
            <a:ext cx="5272888"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Business Date</a:t>
            </a:r>
            <a:endParaRPr lang="en-US" sz="1600" dirty="0"/>
          </a:p>
        </p:txBody>
      </p:sp>
      <p:sp>
        <p:nvSpPr>
          <p:cNvPr id="7" name="Text 5"/>
          <p:cNvSpPr txBox="1"/>
          <p:nvPr/>
        </p:nvSpPr>
        <p:spPr>
          <a:xfrm>
            <a:off x="548640" y="1965960"/>
            <a:ext cx="5272888" cy="96012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Ngày kinh doanh bắt đầu từ mốc giờ Quản lý cấu hình, không phải 0 giờ. Là căn cứ hiệu lực giá, công thức và nhóm báo cáo theo ngày.</a:t>
            </a:r>
            <a:endParaRPr lang="en-US" sz="1250" dirty="0"/>
          </a:p>
        </p:txBody>
      </p:sp>
      <p:sp>
        <p:nvSpPr>
          <p:cNvPr id="8" name="Shape 6"/>
          <p:cNvSpPr/>
          <p:nvPr/>
        </p:nvSpPr>
        <p:spPr>
          <a:xfrm>
            <a:off x="548640" y="2971800"/>
            <a:ext cx="5272888" cy="0"/>
          </a:xfrm>
          <a:prstGeom prst="line">
            <a:avLst/>
          </a:prstGeom>
          <a:noFill/>
          <a:ln w="9525">
            <a:solidFill>
              <a:srgbClr val="D5DCE4"/>
            </a:solidFill>
            <a:prstDash val="solid"/>
          </a:ln>
        </p:spPr>
      </p:sp>
      <p:sp>
        <p:nvSpPr>
          <p:cNvPr id="9" name="Text 7"/>
          <p:cNvSpPr txBox="1"/>
          <p:nvPr/>
        </p:nvSpPr>
        <p:spPr>
          <a:xfrm>
            <a:off x="6370168" y="1554480"/>
            <a:ext cx="5272888"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Giá và công thức có phiên bản</a:t>
            </a:r>
            <a:endParaRPr lang="en-US" sz="1600" dirty="0"/>
          </a:p>
        </p:txBody>
      </p:sp>
      <p:sp>
        <p:nvSpPr>
          <p:cNvPr id="10" name="Text 8"/>
          <p:cNvSpPr txBox="1"/>
          <p:nvPr/>
        </p:nvSpPr>
        <p:spPr>
          <a:xfrm>
            <a:off x="6370168" y="1965960"/>
            <a:ext cx="5272888" cy="96012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Lên lịch theo Business Date, hoặc sửa trực tiếp khi cần gấp. Mỗi dòng món giữ đúng phiên bản tại lúc được thêm, nên doanh thu và giá vốn tính lại luôn khớp.</a:t>
            </a:r>
            <a:endParaRPr lang="en-US" sz="1250" dirty="0"/>
          </a:p>
        </p:txBody>
      </p:sp>
      <p:sp>
        <p:nvSpPr>
          <p:cNvPr id="11" name="Shape 9"/>
          <p:cNvSpPr/>
          <p:nvPr/>
        </p:nvSpPr>
        <p:spPr>
          <a:xfrm>
            <a:off x="6370168" y="2971800"/>
            <a:ext cx="5272888" cy="0"/>
          </a:xfrm>
          <a:prstGeom prst="line">
            <a:avLst/>
          </a:prstGeom>
          <a:noFill/>
          <a:ln w="9525">
            <a:solidFill>
              <a:srgbClr val="D5DCE4"/>
            </a:solidFill>
            <a:prstDash val="solid"/>
          </a:ln>
        </p:spPr>
      </p:sp>
      <p:sp>
        <p:nvSpPr>
          <p:cNvPr id="12" name="Text 10"/>
          <p:cNvSpPr txBox="1"/>
          <p:nvPr/>
        </p:nvSpPr>
        <p:spPr>
          <a:xfrm>
            <a:off x="548640" y="3127248"/>
            <a:ext cx="5272888"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Trạng thái món được suy ra</a:t>
            </a:r>
            <a:endParaRPr lang="en-US" sz="1600" dirty="0"/>
          </a:p>
        </p:txBody>
      </p:sp>
      <p:sp>
        <p:nvSpPr>
          <p:cNvPr id="13" name="Text 11"/>
          <p:cNvSpPr txBox="1"/>
          <p:nvPr/>
        </p:nvSpPr>
        <p:spPr>
          <a:xfrm>
            <a:off x="548640" y="3538728"/>
            <a:ext cx="5272888" cy="96012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Nháp (chưa có công thức, bị ẩn) · Hết nguyên liệu · Tạm dừng phục vụ · Hoạt động. Hai trạng thái chặn vẫn hiện mờ, không cho gọi.</a:t>
            </a:r>
            <a:endParaRPr lang="en-US" sz="1250" dirty="0"/>
          </a:p>
        </p:txBody>
      </p:sp>
      <p:sp>
        <p:nvSpPr>
          <p:cNvPr id="14" name="Shape 12"/>
          <p:cNvSpPr/>
          <p:nvPr/>
        </p:nvSpPr>
        <p:spPr>
          <a:xfrm>
            <a:off x="548640" y="4544568"/>
            <a:ext cx="5272888" cy="0"/>
          </a:xfrm>
          <a:prstGeom prst="line">
            <a:avLst/>
          </a:prstGeom>
          <a:noFill/>
          <a:ln w="9525">
            <a:solidFill>
              <a:srgbClr val="D5DCE4"/>
            </a:solidFill>
            <a:prstDash val="solid"/>
          </a:ln>
        </p:spPr>
      </p:sp>
      <p:sp>
        <p:nvSpPr>
          <p:cNvPr id="15" name="Text 13"/>
          <p:cNvSpPr txBox="1"/>
          <p:nvPr/>
        </p:nvSpPr>
        <p:spPr>
          <a:xfrm>
            <a:off x="6370168" y="3127248"/>
            <a:ext cx="5272888"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Tồn kho không bao giờ âm</a:t>
            </a:r>
            <a:endParaRPr lang="en-US" sz="1600" dirty="0"/>
          </a:p>
        </p:txBody>
      </p:sp>
      <p:sp>
        <p:nvSpPr>
          <p:cNvPr id="16" name="Text 14"/>
          <p:cNvSpPr txBox="1"/>
          <p:nvPr/>
        </p:nvSpPr>
        <p:spPr>
          <a:xfrm>
            <a:off x="6370168" y="3538728"/>
            <a:ext cx="5272888" cy="96012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Kiểm tra lại tồn ngay trong transaction submit; nhiều người cùng gọi một nguyên liệu thì ai submit trước được trước.</a:t>
            </a:r>
            <a:endParaRPr lang="en-US" sz="1250" dirty="0"/>
          </a:p>
        </p:txBody>
      </p:sp>
      <p:sp>
        <p:nvSpPr>
          <p:cNvPr id="17" name="Shape 15"/>
          <p:cNvSpPr/>
          <p:nvPr/>
        </p:nvSpPr>
        <p:spPr>
          <a:xfrm>
            <a:off x="6370168" y="4544568"/>
            <a:ext cx="5272888" cy="0"/>
          </a:xfrm>
          <a:prstGeom prst="line">
            <a:avLst/>
          </a:prstGeom>
          <a:noFill/>
          <a:ln w="9525">
            <a:solidFill>
              <a:srgbClr val="D5DCE4"/>
            </a:solidFill>
            <a:prstDash val="solid"/>
          </a:ln>
        </p:spPr>
      </p:sp>
      <p:sp>
        <p:nvSpPr>
          <p:cNvPr id="18" name="Text 16"/>
          <p:cNvSpPr txBox="1"/>
          <p:nvPr/>
        </p:nvSpPr>
        <p:spPr>
          <a:xfrm>
            <a:off x="548640" y="4700016"/>
            <a:ext cx="5272888"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Xóa mềm</a:t>
            </a:r>
            <a:endParaRPr lang="en-US" sz="1600" dirty="0"/>
          </a:p>
        </p:txBody>
      </p:sp>
      <p:sp>
        <p:nvSpPr>
          <p:cNvPr id="19" name="Text 17"/>
          <p:cNvSpPr txBox="1"/>
          <p:nvPr/>
        </p:nvSpPr>
        <p:spPr>
          <a:xfrm>
            <a:off x="548640" y="5111496"/>
            <a:ext cx="5272888" cy="96012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Đối tượng đã có lịch sử chỉ bị ẩn khỏi màn hình vận hành. Món ăn luôn xóa mềm để giữ lịch sử giá và công thức.</a:t>
            </a:r>
            <a:endParaRPr lang="en-US" sz="1250" dirty="0"/>
          </a:p>
        </p:txBody>
      </p:sp>
      <p:sp>
        <p:nvSpPr>
          <p:cNvPr id="20" name="Text 18"/>
          <p:cNvSpPr txBox="1"/>
          <p:nvPr/>
        </p:nvSpPr>
        <p:spPr>
          <a:xfrm>
            <a:off x="6370168" y="4700016"/>
            <a:ext cx="5272888"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Audit log</a:t>
            </a:r>
            <a:endParaRPr lang="en-US" sz="1600" dirty="0"/>
          </a:p>
        </p:txBody>
      </p:sp>
      <p:sp>
        <p:nvSpPr>
          <p:cNvPr id="21" name="Text 19"/>
          <p:cNvSpPr txBox="1"/>
          <p:nvPr/>
        </p:nvSpPr>
        <p:spPr>
          <a:xfrm>
            <a:off x="6370168" y="5111496"/>
            <a:ext cx="5272888" cy="96012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Hủy order, hủy món, đổi bàn, đối soát, xuất hủy, sửa giá… đều ghi người làm, thời điểm, dữ liệu trước/sau. Không ai sửa được.</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03  PHÂN TÍCH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Mô hình lớp và mô hình tương tác</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13 / 22</a:t>
            </a:r>
            <a:endParaRPr lang="en-US" sz="900" dirty="0"/>
          </a:p>
        </p:txBody>
      </p:sp>
      <p:sp>
        <p:nvSpPr>
          <p:cNvPr id="6" name="Text 4"/>
          <p:cNvSpPr txBox="1"/>
          <p:nvPr/>
        </p:nvSpPr>
        <p:spPr>
          <a:xfrm>
            <a:off x="548640" y="1508760"/>
            <a:ext cx="6035040" cy="36576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29 lớp đối tượng, chia theo module</a:t>
            </a:r>
            <a:endParaRPr lang="en-US" sz="1500" dirty="0"/>
          </a:p>
        </p:txBody>
      </p:sp>
      <p:sp>
        <p:nvSpPr>
          <p:cNvPr id="7" name="Shape 5"/>
          <p:cNvSpPr/>
          <p:nvPr/>
        </p:nvSpPr>
        <p:spPr>
          <a:xfrm>
            <a:off x="548640" y="1965960"/>
            <a:ext cx="804987" cy="457200"/>
          </a:xfrm>
          <a:prstGeom prst="rect">
            <a:avLst/>
          </a:prstGeom>
          <a:solidFill>
            <a:srgbClr val="5B6573"/>
          </a:solidFill>
          <a:ln/>
        </p:spPr>
      </p:sp>
      <p:sp>
        <p:nvSpPr>
          <p:cNvPr id="8" name="Text 6"/>
          <p:cNvSpPr txBox="1"/>
          <p:nvPr/>
        </p:nvSpPr>
        <p:spPr>
          <a:xfrm>
            <a:off x="548640" y="1965960"/>
            <a:ext cx="804987"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9" name="Shape 7"/>
          <p:cNvSpPr/>
          <p:nvPr/>
        </p:nvSpPr>
        <p:spPr>
          <a:xfrm>
            <a:off x="1381059" y="1965960"/>
            <a:ext cx="1637407" cy="457200"/>
          </a:xfrm>
          <a:prstGeom prst="rect">
            <a:avLst/>
          </a:prstGeom>
          <a:solidFill>
            <a:srgbClr val="6FA8DC"/>
          </a:solidFill>
          <a:ln/>
        </p:spPr>
      </p:sp>
      <p:sp>
        <p:nvSpPr>
          <p:cNvPr id="10" name="Text 8"/>
          <p:cNvSpPr txBox="1"/>
          <p:nvPr/>
        </p:nvSpPr>
        <p:spPr>
          <a:xfrm>
            <a:off x="1381059" y="1965960"/>
            <a:ext cx="1637407"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11" name="Shape 9"/>
          <p:cNvSpPr/>
          <p:nvPr/>
        </p:nvSpPr>
        <p:spPr>
          <a:xfrm>
            <a:off x="3045898" y="1965960"/>
            <a:ext cx="1221197" cy="457200"/>
          </a:xfrm>
          <a:prstGeom prst="rect">
            <a:avLst/>
          </a:prstGeom>
          <a:solidFill>
            <a:srgbClr val="0A6EBD"/>
          </a:solidFill>
          <a:ln/>
        </p:spPr>
      </p:sp>
      <p:sp>
        <p:nvSpPr>
          <p:cNvPr id="12" name="Text 10"/>
          <p:cNvSpPr txBox="1"/>
          <p:nvPr/>
        </p:nvSpPr>
        <p:spPr>
          <a:xfrm>
            <a:off x="3045898" y="1965960"/>
            <a:ext cx="1221197"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3" name="Shape 11"/>
          <p:cNvSpPr/>
          <p:nvPr/>
        </p:nvSpPr>
        <p:spPr>
          <a:xfrm>
            <a:off x="4294527" y="1965960"/>
            <a:ext cx="1845511" cy="457200"/>
          </a:xfrm>
          <a:prstGeom prst="rect">
            <a:avLst/>
          </a:prstGeom>
          <a:solidFill>
            <a:srgbClr val="0B2E4F"/>
          </a:solidFill>
          <a:ln/>
        </p:spPr>
      </p:sp>
      <p:sp>
        <p:nvSpPr>
          <p:cNvPr id="14" name="Text 12"/>
          <p:cNvSpPr txBox="1"/>
          <p:nvPr/>
        </p:nvSpPr>
        <p:spPr>
          <a:xfrm>
            <a:off x="4294527" y="1965960"/>
            <a:ext cx="1845511"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15" name="Shape 13"/>
          <p:cNvSpPr/>
          <p:nvPr/>
        </p:nvSpPr>
        <p:spPr>
          <a:xfrm>
            <a:off x="6167470" y="1965960"/>
            <a:ext cx="388778" cy="457200"/>
          </a:xfrm>
          <a:prstGeom prst="rect">
            <a:avLst/>
          </a:prstGeom>
          <a:solidFill>
            <a:srgbClr val="E8590C"/>
          </a:solidFill>
          <a:ln/>
        </p:spPr>
      </p:sp>
      <p:sp>
        <p:nvSpPr>
          <p:cNvPr id="16" name="Text 14"/>
          <p:cNvSpPr txBox="1"/>
          <p:nvPr/>
        </p:nvSpPr>
        <p:spPr>
          <a:xfrm>
            <a:off x="6167470" y="1965960"/>
            <a:ext cx="38877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txBox="1"/>
          <p:nvPr/>
        </p:nvSpPr>
        <p:spPr>
          <a:xfrm>
            <a:off x="548640" y="2606040"/>
            <a:ext cx="1783080" cy="320040"/>
          </a:xfrm>
          <a:prstGeom prst="rect">
            <a:avLst/>
          </a:prstGeom>
          <a:noFill/>
          <a:ln/>
        </p:spPr>
        <p:txBody>
          <a:bodyPr wrap="square" lIns="0" tIns="0" rIns="0" bIns="0" rtlCol="0" anchor="t"/>
          <a:lstStyle/>
          <a:p>
            <a:pPr indent="0" marL="0">
              <a:buNone/>
            </a:pPr>
            <a:r>
              <a:rPr lang="en-US" sz="1150" b="1" dirty="0">
                <a:solidFill>
                  <a:srgbClr val="0B2E4F"/>
                </a:solidFill>
                <a:latin typeface="Arial" pitchFamily="34" charset="0"/>
                <a:ea typeface="Arial" pitchFamily="34" charset="-122"/>
                <a:cs typeface="Arial" pitchFamily="34" charset="-120"/>
              </a:rPr>
              <a:t>Người dùng, hệ thống</a:t>
            </a:r>
            <a:endParaRPr lang="en-US" sz="1150" dirty="0"/>
          </a:p>
        </p:txBody>
      </p:sp>
      <p:sp>
        <p:nvSpPr>
          <p:cNvPr id="18" name="Text 16"/>
          <p:cNvSpPr txBox="1"/>
          <p:nvPr/>
        </p:nvSpPr>
        <p:spPr>
          <a:xfrm>
            <a:off x="2377440" y="2606040"/>
            <a:ext cx="4206240" cy="320040"/>
          </a:xfrm>
          <a:prstGeom prst="rect">
            <a:avLst/>
          </a:prstGeom>
          <a:noFill/>
          <a:ln/>
        </p:spPr>
        <p:txBody>
          <a:bodyPr wrap="square" lIns="0" tIns="0" rIns="0" bIns="0" rtlCol="0" anchor="t"/>
          <a:lstStyle/>
          <a:p>
            <a:pPr indent="0" marL="0">
              <a:buNone/>
            </a:pPr>
            <a:r>
              <a:rPr lang="en-US" sz="1000" dirty="0">
                <a:solidFill>
                  <a:srgbClr val="1F2933"/>
                </a:solidFill>
                <a:latin typeface="Courier New" pitchFamily="34" charset="0"/>
                <a:ea typeface="Courier New" pitchFamily="34" charset="-122"/>
                <a:cs typeface="Courier New" pitchFamily="34" charset="-120"/>
              </a:rPr>
              <a:t>VAI_TRO, NGUOI_DUNG, CAU_HINH_HE_THONG, NHAT_KY_HE_THONG</a:t>
            </a:r>
            <a:endParaRPr lang="en-US" sz="1000" dirty="0"/>
          </a:p>
        </p:txBody>
      </p:sp>
      <p:sp>
        <p:nvSpPr>
          <p:cNvPr id="19" name="Text 17"/>
          <p:cNvSpPr txBox="1"/>
          <p:nvPr/>
        </p:nvSpPr>
        <p:spPr>
          <a:xfrm>
            <a:off x="548640" y="2990088"/>
            <a:ext cx="1783080" cy="320040"/>
          </a:xfrm>
          <a:prstGeom prst="rect">
            <a:avLst/>
          </a:prstGeom>
          <a:noFill/>
          <a:ln/>
        </p:spPr>
        <p:txBody>
          <a:bodyPr wrap="square" lIns="0" tIns="0" rIns="0" bIns="0" rtlCol="0" anchor="t"/>
          <a:lstStyle/>
          <a:p>
            <a:pPr indent="0" marL="0">
              <a:buNone/>
            </a:pPr>
            <a:r>
              <a:rPr lang="en-US" sz="1150" b="1" dirty="0">
                <a:solidFill>
                  <a:srgbClr val="0B2E4F"/>
                </a:solidFill>
                <a:latin typeface="Arial" pitchFamily="34" charset="0"/>
                <a:ea typeface="Arial" pitchFamily="34" charset="-122"/>
                <a:cs typeface="Arial" pitchFamily="34" charset="-120"/>
              </a:rPr>
              <a:t>Danh mục</a:t>
            </a:r>
            <a:endParaRPr lang="en-US" sz="1150" dirty="0"/>
          </a:p>
        </p:txBody>
      </p:sp>
      <p:sp>
        <p:nvSpPr>
          <p:cNvPr id="20" name="Text 18"/>
          <p:cNvSpPr txBox="1"/>
          <p:nvPr/>
        </p:nvSpPr>
        <p:spPr>
          <a:xfrm>
            <a:off x="2377440" y="2990088"/>
            <a:ext cx="4206240" cy="320040"/>
          </a:xfrm>
          <a:prstGeom prst="rect">
            <a:avLst/>
          </a:prstGeom>
          <a:noFill/>
          <a:ln/>
        </p:spPr>
        <p:txBody>
          <a:bodyPr wrap="square" lIns="0" tIns="0" rIns="0" bIns="0" rtlCol="0" anchor="t"/>
          <a:lstStyle/>
          <a:p>
            <a:pPr indent="0" marL="0">
              <a:buNone/>
            </a:pPr>
            <a:r>
              <a:rPr lang="en-US" sz="1000" dirty="0">
                <a:solidFill>
                  <a:srgbClr val="1F2933"/>
                </a:solidFill>
                <a:latin typeface="Courier New" pitchFamily="34" charset="0"/>
                <a:ea typeface="Courier New" pitchFamily="34" charset="-122"/>
                <a:cs typeface="Courier New" pitchFamily="34" charset="-120"/>
              </a:rPr>
              <a:t>NHOM_MON, MON_AN, LICH_SU_GIA_MON, CONG_THUC, NGUYEN_LIEU, BAN…</a:t>
            </a:r>
            <a:endParaRPr lang="en-US" sz="1000" dirty="0"/>
          </a:p>
        </p:txBody>
      </p:sp>
      <p:sp>
        <p:nvSpPr>
          <p:cNvPr id="21" name="Text 19"/>
          <p:cNvSpPr txBox="1"/>
          <p:nvPr/>
        </p:nvSpPr>
        <p:spPr>
          <a:xfrm>
            <a:off x="548640" y="3374136"/>
            <a:ext cx="1783080" cy="320040"/>
          </a:xfrm>
          <a:prstGeom prst="rect">
            <a:avLst/>
          </a:prstGeom>
          <a:noFill/>
          <a:ln/>
        </p:spPr>
        <p:txBody>
          <a:bodyPr wrap="square" lIns="0" tIns="0" rIns="0" bIns="0" rtlCol="0" anchor="t"/>
          <a:lstStyle/>
          <a:p>
            <a:pPr indent="0" marL="0">
              <a:buNone/>
            </a:pPr>
            <a:r>
              <a:rPr lang="en-US" sz="1150" b="1" dirty="0">
                <a:solidFill>
                  <a:srgbClr val="0B2E4F"/>
                </a:solidFill>
                <a:latin typeface="Arial" pitchFamily="34" charset="0"/>
                <a:ea typeface="Arial" pitchFamily="34" charset="-122"/>
                <a:cs typeface="Arial" pitchFamily="34" charset="-120"/>
              </a:rPr>
              <a:t>Bán hàng</a:t>
            </a:r>
            <a:endParaRPr lang="en-US" sz="1150" dirty="0"/>
          </a:p>
        </p:txBody>
      </p:sp>
      <p:sp>
        <p:nvSpPr>
          <p:cNvPr id="22" name="Text 20"/>
          <p:cNvSpPr txBox="1"/>
          <p:nvPr/>
        </p:nvSpPr>
        <p:spPr>
          <a:xfrm>
            <a:off x="2377440" y="3374136"/>
            <a:ext cx="4206240" cy="320040"/>
          </a:xfrm>
          <a:prstGeom prst="rect">
            <a:avLst/>
          </a:prstGeom>
          <a:noFill/>
          <a:ln/>
        </p:spPr>
        <p:txBody>
          <a:bodyPr wrap="square" lIns="0" tIns="0" rIns="0" bIns="0" rtlCol="0" anchor="t"/>
          <a:lstStyle/>
          <a:p>
            <a:pPr indent="0" marL="0">
              <a:buNone/>
            </a:pPr>
            <a:r>
              <a:rPr lang="en-US" sz="1000" dirty="0">
                <a:solidFill>
                  <a:srgbClr val="1F2933"/>
                </a:solidFill>
                <a:latin typeface="Courier New" pitchFamily="34" charset="0"/>
                <a:ea typeface="Courier New" pitchFamily="34" charset="-122"/>
                <a:cs typeface="Courier New" pitchFamily="34" charset="-120"/>
              </a:rPr>
              <a:t>ORDER, CHI_TIET_ORDER, HOA_DON, GIAO_DICH_THANH_TOAN, PHIEU_BEP…</a:t>
            </a:r>
            <a:endParaRPr lang="en-US" sz="1000" dirty="0"/>
          </a:p>
        </p:txBody>
      </p:sp>
      <p:sp>
        <p:nvSpPr>
          <p:cNvPr id="23" name="Text 21"/>
          <p:cNvSpPr txBox="1"/>
          <p:nvPr/>
        </p:nvSpPr>
        <p:spPr>
          <a:xfrm>
            <a:off x="548640" y="3758184"/>
            <a:ext cx="1783080" cy="320040"/>
          </a:xfrm>
          <a:prstGeom prst="rect">
            <a:avLst/>
          </a:prstGeom>
          <a:noFill/>
          <a:ln/>
        </p:spPr>
        <p:txBody>
          <a:bodyPr wrap="square" lIns="0" tIns="0" rIns="0" bIns="0" rtlCol="0" anchor="t"/>
          <a:lstStyle/>
          <a:p>
            <a:pPr indent="0" marL="0">
              <a:buNone/>
            </a:pPr>
            <a:r>
              <a:rPr lang="en-US" sz="1150" b="1" dirty="0">
                <a:solidFill>
                  <a:srgbClr val="0B2E4F"/>
                </a:solidFill>
                <a:latin typeface="Arial" pitchFamily="34" charset="0"/>
                <a:ea typeface="Arial" pitchFamily="34" charset="-122"/>
                <a:cs typeface="Arial" pitchFamily="34" charset="-120"/>
              </a:rPr>
              <a:t>Kho</a:t>
            </a:r>
            <a:endParaRPr lang="en-US" sz="1150" dirty="0"/>
          </a:p>
        </p:txBody>
      </p:sp>
      <p:sp>
        <p:nvSpPr>
          <p:cNvPr id="24" name="Text 22"/>
          <p:cNvSpPr txBox="1"/>
          <p:nvPr/>
        </p:nvSpPr>
        <p:spPr>
          <a:xfrm>
            <a:off x="2377440" y="3758184"/>
            <a:ext cx="4206240" cy="320040"/>
          </a:xfrm>
          <a:prstGeom prst="rect">
            <a:avLst/>
          </a:prstGeom>
          <a:noFill/>
          <a:ln/>
        </p:spPr>
        <p:txBody>
          <a:bodyPr wrap="square" lIns="0" tIns="0" rIns="0" bIns="0" rtlCol="0" anchor="t"/>
          <a:lstStyle/>
          <a:p>
            <a:pPr indent="0" marL="0">
              <a:buNone/>
            </a:pPr>
            <a:r>
              <a:rPr lang="en-US" sz="1000" dirty="0">
                <a:solidFill>
                  <a:srgbClr val="1F2933"/>
                </a:solidFill>
                <a:latin typeface="Courier New" pitchFamily="34" charset="0"/>
                <a:ea typeface="Courier New" pitchFamily="34" charset="-122"/>
                <a:cs typeface="Courier New" pitchFamily="34" charset="-120"/>
              </a:rPr>
              <a:t>PHIEU_NHAP_KHO, LO_NGUYEN_LIEU, GIAO_DICH_KHO, GIA_BINH_QUAN_THANG…</a:t>
            </a:r>
            <a:endParaRPr lang="en-US" sz="1000" dirty="0"/>
          </a:p>
        </p:txBody>
      </p:sp>
      <p:sp>
        <p:nvSpPr>
          <p:cNvPr id="25" name="Text 23"/>
          <p:cNvSpPr txBox="1"/>
          <p:nvPr/>
        </p:nvSpPr>
        <p:spPr>
          <a:xfrm>
            <a:off x="548640" y="4142232"/>
            <a:ext cx="1783080" cy="320040"/>
          </a:xfrm>
          <a:prstGeom prst="rect">
            <a:avLst/>
          </a:prstGeom>
          <a:noFill/>
          <a:ln/>
        </p:spPr>
        <p:txBody>
          <a:bodyPr wrap="square" lIns="0" tIns="0" rIns="0" bIns="0" rtlCol="0" anchor="t"/>
          <a:lstStyle/>
          <a:p>
            <a:pPr indent="0" marL="0">
              <a:buNone/>
            </a:pPr>
            <a:r>
              <a:rPr lang="en-US" sz="1150" b="1" dirty="0">
                <a:solidFill>
                  <a:srgbClr val="0B2E4F"/>
                </a:solidFill>
                <a:latin typeface="Arial" pitchFamily="34" charset="0"/>
                <a:ea typeface="Arial" pitchFamily="34" charset="-122"/>
                <a:cs typeface="Arial" pitchFamily="34" charset="-120"/>
              </a:rPr>
              <a:t>AI</a:t>
            </a:r>
            <a:endParaRPr lang="en-US" sz="1150" dirty="0"/>
          </a:p>
        </p:txBody>
      </p:sp>
      <p:sp>
        <p:nvSpPr>
          <p:cNvPr id="26" name="Text 24"/>
          <p:cNvSpPr txBox="1"/>
          <p:nvPr/>
        </p:nvSpPr>
        <p:spPr>
          <a:xfrm>
            <a:off x="2377440" y="4142232"/>
            <a:ext cx="4206240" cy="320040"/>
          </a:xfrm>
          <a:prstGeom prst="rect">
            <a:avLst/>
          </a:prstGeom>
          <a:noFill/>
          <a:ln/>
        </p:spPr>
        <p:txBody>
          <a:bodyPr wrap="square" lIns="0" tIns="0" rIns="0" bIns="0" rtlCol="0" anchor="t"/>
          <a:lstStyle/>
          <a:p>
            <a:pPr indent="0" marL="0">
              <a:buNone/>
            </a:pPr>
            <a:r>
              <a:rPr lang="en-US" sz="1000" dirty="0">
                <a:solidFill>
                  <a:srgbClr val="1F2933"/>
                </a:solidFill>
                <a:latin typeface="Courier New" pitchFamily="34" charset="0"/>
                <a:ea typeface="Courier New" pitchFamily="34" charset="-122"/>
                <a:cs typeface="Courier New" pitchFamily="34" charset="-120"/>
              </a:rPr>
              <a:t>PHIEN_CHAT_AI, TRUY_VAN_AI</a:t>
            </a:r>
            <a:endParaRPr lang="en-US" sz="1000" dirty="0"/>
          </a:p>
        </p:txBody>
      </p:sp>
      <p:sp>
        <p:nvSpPr>
          <p:cNvPr id="27" name="Shape 25"/>
          <p:cNvSpPr/>
          <p:nvPr/>
        </p:nvSpPr>
        <p:spPr>
          <a:xfrm>
            <a:off x="548640" y="4617720"/>
            <a:ext cx="6035040" cy="0"/>
          </a:xfrm>
          <a:prstGeom prst="line">
            <a:avLst/>
          </a:prstGeom>
          <a:noFill/>
          <a:ln w="9525">
            <a:solidFill>
              <a:srgbClr val="D5DCE4"/>
            </a:solidFill>
            <a:prstDash val="solid"/>
          </a:ln>
        </p:spPr>
      </p:sp>
      <p:sp>
        <p:nvSpPr>
          <p:cNvPr id="28" name="Text 26"/>
          <p:cNvSpPr txBox="1"/>
          <p:nvPr/>
        </p:nvSpPr>
        <p:spPr>
          <a:xfrm>
            <a:off x="548640" y="4754880"/>
            <a:ext cx="6035040" cy="320040"/>
          </a:xfrm>
          <a:prstGeom prst="rect">
            <a:avLst/>
          </a:prstGeom>
          <a:noFill/>
          <a:ln/>
        </p:spPr>
        <p:txBody>
          <a:bodyPr wrap="square" lIns="0" tIns="0" rIns="0" bIns="0" rtlCol="0" anchor="t"/>
          <a:lstStyle/>
          <a:p>
            <a:pPr indent="0" marL="0">
              <a:buNone/>
            </a:pPr>
            <a:r>
              <a:rPr lang="en-US" sz="1400" b="1" dirty="0">
                <a:solidFill>
                  <a:srgbClr val="0B2E4F"/>
                </a:solidFill>
                <a:latin typeface="Arial" pitchFamily="34" charset="0"/>
                <a:ea typeface="Arial" pitchFamily="34" charset="-122"/>
                <a:cs typeface="Arial" pitchFamily="34" charset="-120"/>
              </a:rPr>
              <a:t>6 sơ đồ tuần tự cho các use case chính</a:t>
            </a:r>
            <a:endParaRPr lang="en-US" sz="1400" dirty="0"/>
          </a:p>
        </p:txBody>
      </p:sp>
      <p:sp>
        <p:nvSpPr>
          <p:cNvPr id="29" name="Text 27"/>
          <p:cNvSpPr txBox="1"/>
          <p:nvPr/>
        </p:nvSpPr>
        <p:spPr>
          <a:xfrm>
            <a:off x="548640" y="5120640"/>
            <a:ext cx="6035040" cy="8229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SD-01 Đăng nhập, phân quyền · SD-02 Lập order gửi bếp · SD-03a/b Thanh toán QR, đối soát · SD-04 Nhập kho tạo lô · SD-05 Hỏi AI Assistant</a:t>
            </a:r>
            <a:endParaRPr lang="en-US" sz="1200" dirty="0"/>
          </a:p>
        </p:txBody>
      </p:sp>
      <p:pic>
        <p:nvPicPr>
          <p:cNvPr id="30" name="Image 0" descr="/Users/nmh/work/Mac/NMHx/Personal/KLTN/docs/Images/image11.png">    </p:cNvPr>
          <p:cNvPicPr>
            <a:picLocks noChangeAspect="1"/>
          </p:cNvPicPr>
          <p:nvPr/>
        </p:nvPicPr>
        <p:blipFill>
          <a:blip r:embed="rId1"/>
          <a:stretch>
            <a:fillRect/>
          </a:stretch>
        </p:blipFill>
        <p:spPr>
          <a:xfrm>
            <a:off x="7331575" y="1463040"/>
            <a:ext cx="3929344" cy="4526280"/>
          </a:xfrm>
          <a:prstGeom prst="rect">
            <a:avLst/>
          </a:prstGeom>
        </p:spPr>
      </p:pic>
      <p:sp>
        <p:nvSpPr>
          <p:cNvPr id="31" name="Text 28"/>
          <p:cNvSpPr txBox="1"/>
          <p:nvPr/>
        </p:nvSpPr>
        <p:spPr>
          <a:xfrm>
            <a:off x="6949440" y="6062472"/>
            <a:ext cx="4693615" cy="274320"/>
          </a:xfrm>
          <a:prstGeom prst="rect">
            <a:avLst/>
          </a:prstGeom>
          <a:noFill/>
          <a:ln/>
        </p:spPr>
        <p:txBody>
          <a:bodyPr wrap="square" lIns="0" tIns="0" rIns="0" bIns="0" rtlCol="0" anchor="t"/>
          <a:lstStyle/>
          <a:p>
            <a:pPr algn="ctr" indent="0" marL="0">
              <a:buNone/>
            </a:pPr>
            <a:r>
              <a:rPr lang="en-US" sz="1000" i="1" dirty="0">
                <a:solidFill>
                  <a:srgbClr val="5B6573"/>
                </a:solidFill>
                <a:latin typeface="Arial" pitchFamily="34" charset="0"/>
                <a:ea typeface="Arial" pitchFamily="34" charset="-122"/>
                <a:cs typeface="Arial" pitchFamily="34" charset="-120"/>
              </a:rPr>
              <a:t>Class Diagram – Module Quản lý bán hàng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04  THIẾT KẾ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Kiến trúc tổng thể</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14 / 22</a:t>
            </a:r>
            <a:endParaRPr lang="en-US" sz="900" dirty="0"/>
          </a:p>
        </p:txBody>
      </p:sp>
      <p:sp>
        <p:nvSpPr>
          <p:cNvPr id="6" name="Shape 4"/>
          <p:cNvSpPr/>
          <p:nvPr/>
        </p:nvSpPr>
        <p:spPr>
          <a:xfrm>
            <a:off x="548640" y="1508760"/>
            <a:ext cx="8229600" cy="1097280"/>
          </a:xfrm>
          <a:prstGeom prst="roundRect">
            <a:avLst>
              <a:gd name="adj" fmla="val 4167"/>
            </a:avLst>
          </a:prstGeom>
          <a:solidFill>
            <a:srgbClr val="F3F6F9"/>
          </a:solidFill>
          <a:ln/>
        </p:spPr>
      </p:sp>
      <p:sp>
        <p:nvSpPr>
          <p:cNvPr id="7" name="Text 5"/>
          <p:cNvSpPr txBox="1"/>
          <p:nvPr/>
        </p:nvSpPr>
        <p:spPr>
          <a:xfrm>
            <a:off x="731520" y="1618488"/>
            <a:ext cx="1828800" cy="32004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Tầng giao diện</a:t>
            </a:r>
            <a:endParaRPr lang="en-US" sz="1300" dirty="0"/>
          </a:p>
        </p:txBody>
      </p:sp>
      <p:sp>
        <p:nvSpPr>
          <p:cNvPr id="8" name="Text 6"/>
          <p:cNvSpPr txBox="1"/>
          <p:nvPr/>
        </p:nvSpPr>
        <p:spPr>
          <a:xfrm>
            <a:off x="731520" y="1920240"/>
            <a:ext cx="1828800" cy="457200"/>
          </a:xfrm>
          <a:prstGeom prst="rect">
            <a:avLst/>
          </a:prstGeom>
          <a:noFill/>
          <a:ln/>
        </p:spPr>
        <p:txBody>
          <a:bodyPr wrap="square" lIns="0" tIns="0" rIns="0" bIns="0" rtlCol="0" anchor="t"/>
          <a:lstStyle/>
          <a:p>
            <a:pPr indent="0" marL="0">
              <a:buNone/>
            </a:pPr>
            <a:r>
              <a:rPr lang="en-US" sz="1100" b="1" dirty="0">
                <a:solidFill>
                  <a:srgbClr val="0A6EBD"/>
                </a:solidFill>
                <a:latin typeface="Arial" pitchFamily="34" charset="0"/>
                <a:ea typeface="Arial" pitchFamily="34" charset="-122"/>
                <a:cs typeface="Arial" pitchFamily="34" charset="-120"/>
              </a:rPr>
              <a:t>Next.js (web)</a:t>
            </a:r>
            <a:endParaRPr lang="en-US" sz="1100" dirty="0"/>
          </a:p>
        </p:txBody>
      </p:sp>
      <p:sp>
        <p:nvSpPr>
          <p:cNvPr id="9" name="Shape 7"/>
          <p:cNvSpPr/>
          <p:nvPr/>
        </p:nvSpPr>
        <p:spPr>
          <a:xfrm>
            <a:off x="2697480" y="1673352"/>
            <a:ext cx="1371600" cy="768096"/>
          </a:xfrm>
          <a:prstGeom prst="roundRect">
            <a:avLst>
              <a:gd name="adj" fmla="val 7143"/>
            </a:avLst>
          </a:prstGeom>
          <a:solidFill>
            <a:srgbClr val="FFFFFF"/>
          </a:solidFill>
          <a:ln w="12700">
            <a:solidFill>
              <a:srgbClr val="D5DCE4"/>
            </a:solidFill>
            <a:prstDash val="solid"/>
          </a:ln>
        </p:spPr>
      </p:sp>
      <p:sp>
        <p:nvSpPr>
          <p:cNvPr id="10" name="Text 8"/>
          <p:cNvSpPr txBox="1"/>
          <p:nvPr/>
        </p:nvSpPr>
        <p:spPr>
          <a:xfrm>
            <a:off x="2743200" y="1673352"/>
            <a:ext cx="1280160" cy="76809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Quản lý</a:t>
            </a:r>
            <a:endParaRPr lang="en-US" sz="1100" dirty="0"/>
          </a:p>
        </p:txBody>
      </p:sp>
      <p:sp>
        <p:nvSpPr>
          <p:cNvPr id="11" name="Shape 9"/>
          <p:cNvSpPr/>
          <p:nvPr/>
        </p:nvSpPr>
        <p:spPr>
          <a:xfrm>
            <a:off x="4206240" y="1673352"/>
            <a:ext cx="1371600" cy="768096"/>
          </a:xfrm>
          <a:prstGeom prst="roundRect">
            <a:avLst>
              <a:gd name="adj" fmla="val 7143"/>
            </a:avLst>
          </a:prstGeom>
          <a:solidFill>
            <a:srgbClr val="FFFFFF"/>
          </a:solidFill>
          <a:ln w="12700">
            <a:solidFill>
              <a:srgbClr val="D5DCE4"/>
            </a:solidFill>
            <a:prstDash val="solid"/>
          </a:ln>
        </p:spPr>
      </p:sp>
      <p:sp>
        <p:nvSpPr>
          <p:cNvPr id="12" name="Text 10"/>
          <p:cNvSpPr txBox="1"/>
          <p:nvPr/>
        </p:nvSpPr>
        <p:spPr>
          <a:xfrm>
            <a:off x="4251960" y="1673352"/>
            <a:ext cx="1280160" cy="76809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Thu ngân / NV order</a:t>
            </a:r>
            <a:endParaRPr lang="en-US" sz="1100" dirty="0"/>
          </a:p>
        </p:txBody>
      </p:sp>
      <p:sp>
        <p:nvSpPr>
          <p:cNvPr id="13" name="Shape 11"/>
          <p:cNvSpPr/>
          <p:nvPr/>
        </p:nvSpPr>
        <p:spPr>
          <a:xfrm>
            <a:off x="5715000" y="1673352"/>
            <a:ext cx="1371600" cy="768096"/>
          </a:xfrm>
          <a:prstGeom prst="roundRect">
            <a:avLst>
              <a:gd name="adj" fmla="val 7143"/>
            </a:avLst>
          </a:prstGeom>
          <a:solidFill>
            <a:srgbClr val="FFFFFF"/>
          </a:solidFill>
          <a:ln w="12700">
            <a:solidFill>
              <a:srgbClr val="D5DCE4"/>
            </a:solidFill>
            <a:prstDash val="solid"/>
          </a:ln>
        </p:spPr>
      </p:sp>
      <p:sp>
        <p:nvSpPr>
          <p:cNvPr id="14" name="Text 12"/>
          <p:cNvSpPr txBox="1"/>
          <p:nvPr/>
        </p:nvSpPr>
        <p:spPr>
          <a:xfrm>
            <a:off x="5760720" y="1673352"/>
            <a:ext cx="1280160" cy="76809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Bếp</a:t>
            </a:r>
            <a:endParaRPr lang="en-US" sz="1100" dirty="0"/>
          </a:p>
        </p:txBody>
      </p:sp>
      <p:sp>
        <p:nvSpPr>
          <p:cNvPr id="15" name="Shape 13"/>
          <p:cNvSpPr/>
          <p:nvPr/>
        </p:nvSpPr>
        <p:spPr>
          <a:xfrm>
            <a:off x="7223760" y="1673352"/>
            <a:ext cx="1371600" cy="768096"/>
          </a:xfrm>
          <a:prstGeom prst="roundRect">
            <a:avLst>
              <a:gd name="adj" fmla="val 7143"/>
            </a:avLst>
          </a:prstGeom>
          <a:solidFill>
            <a:srgbClr val="FDEDE4"/>
          </a:solidFill>
          <a:ln w="12700">
            <a:solidFill>
              <a:srgbClr val="E8590C"/>
            </a:solidFill>
            <a:prstDash val="solid"/>
          </a:ln>
        </p:spPr>
      </p:sp>
      <p:sp>
        <p:nvSpPr>
          <p:cNvPr id="16" name="Text 14"/>
          <p:cNvSpPr txBox="1"/>
          <p:nvPr/>
        </p:nvSpPr>
        <p:spPr>
          <a:xfrm>
            <a:off x="7269480" y="1673352"/>
            <a:ext cx="1280160" cy="768096"/>
          </a:xfrm>
          <a:prstGeom prst="rect">
            <a:avLst/>
          </a:prstGeom>
          <a:noFill/>
          <a:ln/>
        </p:spPr>
        <p:txBody>
          <a:bodyPr wrap="square" lIns="0" tIns="0" rIns="0" bIns="0" rtlCol="0" anchor="ctr"/>
          <a:lstStyle/>
          <a:p>
            <a:pPr algn="ctr" indent="0" marL="0">
              <a:buNone/>
            </a:pPr>
            <a:r>
              <a:rPr lang="en-US" sz="1100" b="1" dirty="0">
                <a:solidFill>
                  <a:srgbClr val="E8590C"/>
                </a:solidFill>
                <a:latin typeface="Arial" pitchFamily="34" charset="0"/>
                <a:ea typeface="Arial" pitchFamily="34" charset="-122"/>
                <a:cs typeface="Arial" pitchFamily="34" charset="-120"/>
              </a:rPr>
              <a:t>Chat AI Assistant</a:t>
            </a:r>
            <a:endParaRPr lang="en-US" sz="1100" dirty="0"/>
          </a:p>
        </p:txBody>
      </p:sp>
      <p:sp>
        <p:nvSpPr>
          <p:cNvPr id="17" name="Shape 15"/>
          <p:cNvSpPr/>
          <p:nvPr/>
        </p:nvSpPr>
        <p:spPr>
          <a:xfrm>
            <a:off x="548640" y="3017520"/>
            <a:ext cx="8229600" cy="1234440"/>
          </a:xfrm>
          <a:prstGeom prst="roundRect">
            <a:avLst>
              <a:gd name="adj" fmla="val 3704"/>
            </a:avLst>
          </a:prstGeom>
          <a:solidFill>
            <a:srgbClr val="F3F6F9"/>
          </a:solidFill>
          <a:ln/>
        </p:spPr>
      </p:sp>
      <p:sp>
        <p:nvSpPr>
          <p:cNvPr id="18" name="Text 16"/>
          <p:cNvSpPr txBox="1"/>
          <p:nvPr/>
        </p:nvSpPr>
        <p:spPr>
          <a:xfrm>
            <a:off x="731520" y="3127248"/>
            <a:ext cx="1828800" cy="32004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Tầng ứng dụng</a:t>
            </a:r>
            <a:endParaRPr lang="en-US" sz="1300" dirty="0"/>
          </a:p>
        </p:txBody>
      </p:sp>
      <p:sp>
        <p:nvSpPr>
          <p:cNvPr id="19" name="Text 17"/>
          <p:cNvSpPr txBox="1"/>
          <p:nvPr/>
        </p:nvSpPr>
        <p:spPr>
          <a:xfrm>
            <a:off x="731520" y="3429000"/>
            <a:ext cx="1828800" cy="457200"/>
          </a:xfrm>
          <a:prstGeom prst="rect">
            <a:avLst/>
          </a:prstGeom>
          <a:noFill/>
          <a:ln/>
        </p:spPr>
        <p:txBody>
          <a:bodyPr wrap="square" lIns="0" tIns="0" rIns="0" bIns="0" rtlCol="0" anchor="t"/>
          <a:lstStyle/>
          <a:p>
            <a:pPr indent="0" marL="0">
              <a:buNone/>
            </a:pPr>
            <a:r>
              <a:rPr lang="en-US" sz="1100" b="1" dirty="0">
                <a:solidFill>
                  <a:srgbClr val="0A6EBD"/>
                </a:solidFill>
                <a:latin typeface="Arial" pitchFamily="34" charset="0"/>
                <a:ea typeface="Arial" pitchFamily="34" charset="-122"/>
                <a:cs typeface="Arial" pitchFamily="34" charset="-120"/>
              </a:rPr>
              <a:t>Python / FastAPI</a:t>
            </a:r>
            <a:endParaRPr lang="en-US" sz="1100" dirty="0"/>
          </a:p>
        </p:txBody>
      </p:sp>
      <p:sp>
        <p:nvSpPr>
          <p:cNvPr id="20" name="Shape 18"/>
          <p:cNvSpPr/>
          <p:nvPr/>
        </p:nvSpPr>
        <p:spPr>
          <a:xfrm>
            <a:off x="2697480" y="3182112"/>
            <a:ext cx="868680" cy="905256"/>
          </a:xfrm>
          <a:prstGeom prst="roundRect">
            <a:avLst>
              <a:gd name="adj" fmla="val 6316"/>
            </a:avLst>
          </a:prstGeom>
          <a:solidFill>
            <a:srgbClr val="FFFFFF"/>
          </a:solidFill>
          <a:ln w="12700">
            <a:solidFill>
              <a:srgbClr val="D5DCE4"/>
            </a:solidFill>
            <a:prstDash val="solid"/>
          </a:ln>
        </p:spPr>
      </p:sp>
      <p:sp>
        <p:nvSpPr>
          <p:cNvPr id="21" name="Text 19"/>
          <p:cNvSpPr txBox="1"/>
          <p:nvPr/>
        </p:nvSpPr>
        <p:spPr>
          <a:xfrm>
            <a:off x="2743200" y="3182112"/>
            <a:ext cx="777240" cy="90525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Danh mục</a:t>
            </a:r>
            <a:endParaRPr lang="en-US" sz="1100" dirty="0"/>
          </a:p>
        </p:txBody>
      </p:sp>
      <p:sp>
        <p:nvSpPr>
          <p:cNvPr id="22" name="Shape 20"/>
          <p:cNvSpPr/>
          <p:nvPr/>
        </p:nvSpPr>
        <p:spPr>
          <a:xfrm>
            <a:off x="3703320" y="3182112"/>
            <a:ext cx="868680" cy="905256"/>
          </a:xfrm>
          <a:prstGeom prst="roundRect">
            <a:avLst>
              <a:gd name="adj" fmla="val 6316"/>
            </a:avLst>
          </a:prstGeom>
          <a:solidFill>
            <a:srgbClr val="FFFFFF"/>
          </a:solidFill>
          <a:ln w="12700">
            <a:solidFill>
              <a:srgbClr val="D5DCE4"/>
            </a:solidFill>
            <a:prstDash val="solid"/>
          </a:ln>
        </p:spPr>
      </p:sp>
      <p:sp>
        <p:nvSpPr>
          <p:cNvPr id="23" name="Text 21"/>
          <p:cNvSpPr txBox="1"/>
          <p:nvPr/>
        </p:nvSpPr>
        <p:spPr>
          <a:xfrm>
            <a:off x="3749040" y="3182112"/>
            <a:ext cx="777240" cy="90525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Bán hàng</a:t>
            </a:r>
            <a:endParaRPr lang="en-US" sz="1100" dirty="0"/>
          </a:p>
        </p:txBody>
      </p:sp>
      <p:sp>
        <p:nvSpPr>
          <p:cNvPr id="24" name="Shape 22"/>
          <p:cNvSpPr/>
          <p:nvPr/>
        </p:nvSpPr>
        <p:spPr>
          <a:xfrm>
            <a:off x="4709160" y="3182112"/>
            <a:ext cx="868680" cy="905256"/>
          </a:xfrm>
          <a:prstGeom prst="roundRect">
            <a:avLst>
              <a:gd name="adj" fmla="val 6316"/>
            </a:avLst>
          </a:prstGeom>
          <a:solidFill>
            <a:srgbClr val="FFFFFF"/>
          </a:solidFill>
          <a:ln w="12700">
            <a:solidFill>
              <a:srgbClr val="D5DCE4"/>
            </a:solidFill>
            <a:prstDash val="solid"/>
          </a:ln>
        </p:spPr>
      </p:sp>
      <p:sp>
        <p:nvSpPr>
          <p:cNvPr id="25" name="Text 23"/>
          <p:cNvSpPr txBox="1"/>
          <p:nvPr/>
        </p:nvSpPr>
        <p:spPr>
          <a:xfrm>
            <a:off x="4754880" y="3182112"/>
            <a:ext cx="777240" cy="90525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Kho</a:t>
            </a:r>
            <a:endParaRPr lang="en-US" sz="1100" dirty="0"/>
          </a:p>
        </p:txBody>
      </p:sp>
      <p:sp>
        <p:nvSpPr>
          <p:cNvPr id="26" name="Shape 24"/>
          <p:cNvSpPr/>
          <p:nvPr/>
        </p:nvSpPr>
        <p:spPr>
          <a:xfrm>
            <a:off x="5715000" y="3182112"/>
            <a:ext cx="868680" cy="905256"/>
          </a:xfrm>
          <a:prstGeom prst="roundRect">
            <a:avLst>
              <a:gd name="adj" fmla="val 6316"/>
            </a:avLst>
          </a:prstGeom>
          <a:solidFill>
            <a:srgbClr val="FFFFFF"/>
          </a:solidFill>
          <a:ln w="12700">
            <a:solidFill>
              <a:srgbClr val="D5DCE4"/>
            </a:solidFill>
            <a:prstDash val="solid"/>
          </a:ln>
        </p:spPr>
      </p:sp>
      <p:sp>
        <p:nvSpPr>
          <p:cNvPr id="27" name="Text 25"/>
          <p:cNvSpPr txBox="1"/>
          <p:nvPr/>
        </p:nvSpPr>
        <p:spPr>
          <a:xfrm>
            <a:off x="5760720" y="3182112"/>
            <a:ext cx="777240" cy="90525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Báo cáo</a:t>
            </a:r>
            <a:endParaRPr lang="en-US" sz="1100" dirty="0"/>
          </a:p>
        </p:txBody>
      </p:sp>
      <p:sp>
        <p:nvSpPr>
          <p:cNvPr id="28" name="Shape 26"/>
          <p:cNvSpPr/>
          <p:nvPr/>
        </p:nvSpPr>
        <p:spPr>
          <a:xfrm>
            <a:off x="6720840" y="3182112"/>
            <a:ext cx="868680" cy="905256"/>
          </a:xfrm>
          <a:prstGeom prst="roundRect">
            <a:avLst>
              <a:gd name="adj" fmla="val 6316"/>
            </a:avLst>
          </a:prstGeom>
          <a:solidFill>
            <a:srgbClr val="FFFFFF"/>
          </a:solidFill>
          <a:ln w="12700">
            <a:solidFill>
              <a:srgbClr val="D5DCE4"/>
            </a:solidFill>
            <a:prstDash val="solid"/>
          </a:ln>
        </p:spPr>
      </p:sp>
      <p:sp>
        <p:nvSpPr>
          <p:cNvPr id="29" name="Text 27"/>
          <p:cNvSpPr txBox="1"/>
          <p:nvPr/>
        </p:nvSpPr>
        <p:spPr>
          <a:xfrm>
            <a:off x="6766560" y="3182112"/>
            <a:ext cx="777240" cy="90525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Cài đặt</a:t>
            </a:r>
            <a:endParaRPr lang="en-US" sz="1100" dirty="0"/>
          </a:p>
        </p:txBody>
      </p:sp>
      <p:sp>
        <p:nvSpPr>
          <p:cNvPr id="30" name="Shape 28"/>
          <p:cNvSpPr/>
          <p:nvPr/>
        </p:nvSpPr>
        <p:spPr>
          <a:xfrm>
            <a:off x="7726680" y="3182112"/>
            <a:ext cx="868680" cy="905256"/>
          </a:xfrm>
          <a:prstGeom prst="roundRect">
            <a:avLst>
              <a:gd name="adj" fmla="val 6316"/>
            </a:avLst>
          </a:prstGeom>
          <a:solidFill>
            <a:srgbClr val="FDEDE4"/>
          </a:solidFill>
          <a:ln w="12700">
            <a:solidFill>
              <a:srgbClr val="E8590C"/>
            </a:solidFill>
            <a:prstDash val="solid"/>
          </a:ln>
        </p:spPr>
      </p:sp>
      <p:sp>
        <p:nvSpPr>
          <p:cNvPr id="31" name="Text 29"/>
          <p:cNvSpPr txBox="1"/>
          <p:nvPr/>
        </p:nvSpPr>
        <p:spPr>
          <a:xfrm>
            <a:off x="7772400" y="3182112"/>
            <a:ext cx="777240" cy="905256"/>
          </a:xfrm>
          <a:prstGeom prst="rect">
            <a:avLst/>
          </a:prstGeom>
          <a:noFill/>
          <a:ln/>
        </p:spPr>
        <p:txBody>
          <a:bodyPr wrap="square" lIns="0" tIns="0" rIns="0" bIns="0" rtlCol="0" anchor="ctr"/>
          <a:lstStyle/>
          <a:p>
            <a:pPr algn="ctr" indent="0" marL="0">
              <a:buNone/>
            </a:pPr>
            <a:r>
              <a:rPr lang="en-US" sz="1100" b="1" dirty="0">
                <a:solidFill>
                  <a:srgbClr val="E8590C"/>
                </a:solidFill>
                <a:latin typeface="Arial" pitchFamily="34" charset="0"/>
                <a:ea typeface="Arial" pitchFamily="34" charset="-122"/>
                <a:cs typeface="Arial" pitchFamily="34" charset="-120"/>
              </a:rPr>
              <a:t>AI Assistant</a:t>
            </a:r>
            <a:endParaRPr lang="en-US" sz="1100" dirty="0"/>
          </a:p>
        </p:txBody>
      </p:sp>
      <p:sp>
        <p:nvSpPr>
          <p:cNvPr id="32" name="Shape 30"/>
          <p:cNvSpPr/>
          <p:nvPr/>
        </p:nvSpPr>
        <p:spPr>
          <a:xfrm>
            <a:off x="548640" y="4663440"/>
            <a:ext cx="8229600" cy="1234440"/>
          </a:xfrm>
          <a:prstGeom prst="roundRect">
            <a:avLst>
              <a:gd name="adj" fmla="val 3704"/>
            </a:avLst>
          </a:prstGeom>
          <a:solidFill>
            <a:srgbClr val="F3F6F9"/>
          </a:solidFill>
          <a:ln/>
        </p:spPr>
      </p:sp>
      <p:sp>
        <p:nvSpPr>
          <p:cNvPr id="33" name="Text 31"/>
          <p:cNvSpPr txBox="1"/>
          <p:nvPr/>
        </p:nvSpPr>
        <p:spPr>
          <a:xfrm>
            <a:off x="731520" y="4773168"/>
            <a:ext cx="1828800" cy="32004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Tầng dữ liệu</a:t>
            </a:r>
            <a:endParaRPr lang="en-US" sz="1300" dirty="0"/>
          </a:p>
        </p:txBody>
      </p:sp>
      <p:sp>
        <p:nvSpPr>
          <p:cNvPr id="34" name="Text 32"/>
          <p:cNvSpPr txBox="1"/>
          <p:nvPr/>
        </p:nvSpPr>
        <p:spPr>
          <a:xfrm>
            <a:off x="731520" y="5074920"/>
            <a:ext cx="1828800" cy="457200"/>
          </a:xfrm>
          <a:prstGeom prst="rect">
            <a:avLst/>
          </a:prstGeom>
          <a:noFill/>
          <a:ln/>
        </p:spPr>
        <p:txBody>
          <a:bodyPr wrap="square" lIns="0" tIns="0" rIns="0" bIns="0" rtlCol="0" anchor="t"/>
          <a:lstStyle/>
          <a:p>
            <a:pPr indent="0" marL="0">
              <a:buNone/>
            </a:pPr>
            <a:r>
              <a:rPr lang="en-US" sz="1100" b="1" dirty="0">
                <a:solidFill>
                  <a:srgbClr val="0A6EBD"/>
                </a:solidFill>
                <a:latin typeface="Arial" pitchFamily="34" charset="0"/>
                <a:ea typeface="Arial" pitchFamily="34" charset="-122"/>
                <a:cs typeface="Arial" pitchFamily="34" charset="-120"/>
              </a:rPr>
              <a:t>MySQL</a:t>
            </a:r>
            <a:endParaRPr lang="en-US" sz="1100" dirty="0"/>
          </a:p>
        </p:txBody>
      </p:sp>
      <p:sp>
        <p:nvSpPr>
          <p:cNvPr id="35" name="Shape 33"/>
          <p:cNvSpPr/>
          <p:nvPr/>
        </p:nvSpPr>
        <p:spPr>
          <a:xfrm>
            <a:off x="2697480" y="4828032"/>
            <a:ext cx="1371600" cy="905256"/>
          </a:xfrm>
          <a:prstGeom prst="roundRect">
            <a:avLst>
              <a:gd name="adj" fmla="val 6061"/>
            </a:avLst>
          </a:prstGeom>
          <a:solidFill>
            <a:srgbClr val="FFFFFF"/>
          </a:solidFill>
          <a:ln w="12700">
            <a:solidFill>
              <a:srgbClr val="D5DCE4"/>
            </a:solidFill>
            <a:prstDash val="solid"/>
          </a:ln>
        </p:spPr>
      </p:sp>
      <p:sp>
        <p:nvSpPr>
          <p:cNvPr id="36" name="Text 34"/>
          <p:cNvSpPr txBox="1"/>
          <p:nvPr/>
        </p:nvSpPr>
        <p:spPr>
          <a:xfrm>
            <a:off x="2743200" y="4828032"/>
            <a:ext cx="1280160" cy="905256"/>
          </a:xfrm>
          <a:prstGeom prst="rect">
            <a:avLst/>
          </a:prstGeom>
          <a:noFill/>
          <a:ln/>
        </p:spPr>
        <p:txBody>
          <a:bodyPr wrap="square" lIns="0" tIns="0" rIns="0" bIns="0" rtlCol="0" anchor="ctr"/>
          <a:lstStyle/>
          <a:p>
            <a:pPr algn="ctr" indent="0" marL="0">
              <a:buNone/>
            </a:pPr>
            <a:r>
              <a:rPr lang="en-US" sz="1100" dirty="0">
                <a:solidFill>
                  <a:srgbClr val="1F2933"/>
                </a:solidFill>
                <a:latin typeface="Arial" pitchFamily="34" charset="0"/>
                <a:ea typeface="Arial" pitchFamily="34" charset="-122"/>
                <a:cs typeface="Arial" pitchFamily="34" charset="-120"/>
              </a:rPr>
              <a:t>Bảng nghiệp vụ lõi</a:t>
            </a:r>
            <a:endParaRPr lang="en-US" sz="1100" dirty="0"/>
          </a:p>
        </p:txBody>
      </p:sp>
      <p:sp>
        <p:nvSpPr>
          <p:cNvPr id="37" name="Shape 35"/>
          <p:cNvSpPr/>
          <p:nvPr/>
        </p:nvSpPr>
        <p:spPr>
          <a:xfrm>
            <a:off x="4206240" y="4828032"/>
            <a:ext cx="1371600" cy="905256"/>
          </a:xfrm>
          <a:prstGeom prst="roundRect">
            <a:avLst>
              <a:gd name="adj" fmla="val 6061"/>
            </a:avLst>
          </a:prstGeom>
          <a:solidFill>
            <a:srgbClr val="FDEDE4"/>
          </a:solidFill>
          <a:ln w="12700">
            <a:solidFill>
              <a:srgbClr val="E8590C"/>
            </a:solidFill>
            <a:prstDash val="solid"/>
          </a:ln>
        </p:spPr>
      </p:sp>
      <p:sp>
        <p:nvSpPr>
          <p:cNvPr id="38" name="Text 36"/>
          <p:cNvSpPr txBox="1"/>
          <p:nvPr/>
        </p:nvSpPr>
        <p:spPr>
          <a:xfrm>
            <a:off x="4251960" y="4828032"/>
            <a:ext cx="1280160" cy="905256"/>
          </a:xfrm>
          <a:prstGeom prst="rect">
            <a:avLst/>
          </a:prstGeom>
          <a:noFill/>
          <a:ln/>
        </p:spPr>
        <p:txBody>
          <a:bodyPr wrap="square" lIns="0" tIns="0" rIns="0" bIns="0" rtlCol="0" anchor="ctr"/>
          <a:lstStyle/>
          <a:p>
            <a:pPr algn="ctr" indent="0" marL="0">
              <a:buNone/>
            </a:pPr>
            <a:r>
              <a:rPr lang="en-US" sz="1100" b="1" dirty="0">
                <a:solidFill>
                  <a:srgbClr val="E8590C"/>
                </a:solidFill>
                <a:latin typeface="Arial" pitchFamily="34" charset="0"/>
                <a:ea typeface="Arial" pitchFamily="34" charset="-122"/>
                <a:cs typeface="Arial" pitchFamily="34" charset="-120"/>
              </a:rPr>
              <a:t>vw_ai_quanly</a:t>
            </a:r>
            <a:endParaRPr lang="en-US" sz="1100" dirty="0"/>
          </a:p>
        </p:txBody>
      </p:sp>
      <p:sp>
        <p:nvSpPr>
          <p:cNvPr id="39" name="Shape 37"/>
          <p:cNvSpPr/>
          <p:nvPr/>
        </p:nvSpPr>
        <p:spPr>
          <a:xfrm>
            <a:off x="5715000" y="4828032"/>
            <a:ext cx="1371600" cy="905256"/>
          </a:xfrm>
          <a:prstGeom prst="roundRect">
            <a:avLst>
              <a:gd name="adj" fmla="val 6061"/>
            </a:avLst>
          </a:prstGeom>
          <a:solidFill>
            <a:srgbClr val="FDEDE4"/>
          </a:solidFill>
          <a:ln w="12700">
            <a:solidFill>
              <a:srgbClr val="E8590C"/>
            </a:solidFill>
            <a:prstDash val="solid"/>
          </a:ln>
        </p:spPr>
      </p:sp>
      <p:sp>
        <p:nvSpPr>
          <p:cNvPr id="40" name="Text 38"/>
          <p:cNvSpPr txBox="1"/>
          <p:nvPr/>
        </p:nvSpPr>
        <p:spPr>
          <a:xfrm>
            <a:off x="5760720" y="4828032"/>
            <a:ext cx="1280160" cy="905256"/>
          </a:xfrm>
          <a:prstGeom prst="rect">
            <a:avLst/>
          </a:prstGeom>
          <a:noFill/>
          <a:ln/>
        </p:spPr>
        <p:txBody>
          <a:bodyPr wrap="square" lIns="0" tIns="0" rIns="0" bIns="0" rtlCol="0" anchor="ctr"/>
          <a:lstStyle/>
          <a:p>
            <a:pPr algn="ctr" indent="0" marL="0">
              <a:buNone/>
            </a:pPr>
            <a:r>
              <a:rPr lang="en-US" sz="1100" b="1" dirty="0">
                <a:solidFill>
                  <a:srgbClr val="E8590C"/>
                </a:solidFill>
                <a:latin typeface="Arial" pitchFamily="34" charset="0"/>
                <a:ea typeface="Arial" pitchFamily="34" charset="-122"/>
                <a:cs typeface="Arial" pitchFamily="34" charset="-120"/>
              </a:rPr>
              <a:t>vw_ai_thungan</a:t>
            </a:r>
            <a:endParaRPr lang="en-US" sz="1100" dirty="0"/>
          </a:p>
        </p:txBody>
      </p:sp>
      <p:sp>
        <p:nvSpPr>
          <p:cNvPr id="41" name="Shape 39"/>
          <p:cNvSpPr/>
          <p:nvPr/>
        </p:nvSpPr>
        <p:spPr>
          <a:xfrm>
            <a:off x="7223760" y="4828032"/>
            <a:ext cx="1371600" cy="905256"/>
          </a:xfrm>
          <a:prstGeom prst="roundRect">
            <a:avLst>
              <a:gd name="adj" fmla="val 6061"/>
            </a:avLst>
          </a:prstGeom>
          <a:solidFill>
            <a:srgbClr val="FDEDE4"/>
          </a:solidFill>
          <a:ln w="12700">
            <a:solidFill>
              <a:srgbClr val="E8590C"/>
            </a:solidFill>
            <a:prstDash val="solid"/>
          </a:ln>
        </p:spPr>
      </p:sp>
      <p:sp>
        <p:nvSpPr>
          <p:cNvPr id="42" name="Text 40"/>
          <p:cNvSpPr txBox="1"/>
          <p:nvPr/>
        </p:nvSpPr>
        <p:spPr>
          <a:xfrm>
            <a:off x="7269480" y="4828032"/>
            <a:ext cx="1280160" cy="905256"/>
          </a:xfrm>
          <a:prstGeom prst="rect">
            <a:avLst/>
          </a:prstGeom>
          <a:noFill/>
          <a:ln/>
        </p:spPr>
        <p:txBody>
          <a:bodyPr wrap="square" lIns="0" tIns="0" rIns="0" bIns="0" rtlCol="0" anchor="ctr"/>
          <a:lstStyle/>
          <a:p>
            <a:pPr algn="ctr" indent="0" marL="0">
              <a:buNone/>
            </a:pPr>
            <a:r>
              <a:rPr lang="en-US" sz="1100" b="1" dirty="0">
                <a:solidFill>
                  <a:srgbClr val="E8590C"/>
                </a:solidFill>
                <a:latin typeface="Arial" pitchFamily="34" charset="0"/>
                <a:ea typeface="Arial" pitchFamily="34" charset="-122"/>
                <a:cs typeface="Arial" pitchFamily="34" charset="-120"/>
              </a:rPr>
              <a:t>vw_ai_kho</a:t>
            </a:r>
            <a:endParaRPr lang="en-US" sz="1100" dirty="0"/>
          </a:p>
        </p:txBody>
      </p:sp>
      <p:sp>
        <p:nvSpPr>
          <p:cNvPr id="43" name="Shape 41"/>
          <p:cNvSpPr/>
          <p:nvPr/>
        </p:nvSpPr>
        <p:spPr>
          <a:xfrm>
            <a:off x="4663440" y="2606040"/>
            <a:ext cx="0" cy="411480"/>
          </a:xfrm>
          <a:prstGeom prst="line">
            <a:avLst/>
          </a:prstGeom>
          <a:noFill/>
          <a:ln w="15875">
            <a:solidFill>
              <a:srgbClr val="0B2E4F"/>
            </a:solidFill>
            <a:prstDash val="solid"/>
            <a:tailEnd type="triangle"/>
          </a:ln>
        </p:spPr>
      </p:sp>
      <p:sp>
        <p:nvSpPr>
          <p:cNvPr id="44" name="Shape 42"/>
          <p:cNvSpPr/>
          <p:nvPr/>
        </p:nvSpPr>
        <p:spPr>
          <a:xfrm flipV="1">
            <a:off x="4937760" y="2606040"/>
            <a:ext cx="0" cy="411480"/>
          </a:xfrm>
          <a:prstGeom prst="line">
            <a:avLst/>
          </a:prstGeom>
          <a:noFill/>
          <a:ln w="15875">
            <a:solidFill>
              <a:srgbClr val="0B2E4F"/>
            </a:solidFill>
            <a:prstDash val="solid"/>
            <a:tailEnd type="triangle"/>
          </a:ln>
        </p:spPr>
      </p:sp>
      <p:sp>
        <p:nvSpPr>
          <p:cNvPr id="45" name="Shape 43"/>
          <p:cNvSpPr/>
          <p:nvPr/>
        </p:nvSpPr>
        <p:spPr>
          <a:xfrm>
            <a:off x="4663440" y="4251960"/>
            <a:ext cx="0" cy="411480"/>
          </a:xfrm>
          <a:prstGeom prst="line">
            <a:avLst/>
          </a:prstGeom>
          <a:noFill/>
          <a:ln w="15875">
            <a:solidFill>
              <a:srgbClr val="0B2E4F"/>
            </a:solidFill>
            <a:prstDash val="solid"/>
            <a:tailEnd type="triangle"/>
          </a:ln>
        </p:spPr>
      </p:sp>
      <p:sp>
        <p:nvSpPr>
          <p:cNvPr id="46" name="Shape 44"/>
          <p:cNvSpPr/>
          <p:nvPr/>
        </p:nvSpPr>
        <p:spPr>
          <a:xfrm flipV="1">
            <a:off x="4937760" y="4251960"/>
            <a:ext cx="0" cy="411480"/>
          </a:xfrm>
          <a:prstGeom prst="line">
            <a:avLst/>
          </a:prstGeom>
          <a:noFill/>
          <a:ln w="15875">
            <a:solidFill>
              <a:srgbClr val="0B2E4F"/>
            </a:solidFill>
            <a:prstDash val="solid"/>
            <a:tailEnd type="triangle"/>
          </a:ln>
        </p:spPr>
      </p:sp>
      <p:sp>
        <p:nvSpPr>
          <p:cNvPr id="47" name="Text 45"/>
          <p:cNvSpPr txBox="1"/>
          <p:nvPr/>
        </p:nvSpPr>
        <p:spPr>
          <a:xfrm>
            <a:off x="9189720" y="1554480"/>
            <a:ext cx="2453335" cy="274320"/>
          </a:xfrm>
          <a:prstGeom prst="rect">
            <a:avLst/>
          </a:prstGeom>
          <a:noFill/>
          <a:ln/>
        </p:spPr>
        <p:txBody>
          <a:bodyPr wrap="square" lIns="0" tIns="0" rIns="0" bIns="0" rtlCol="0" anchor="t"/>
          <a:lstStyle/>
          <a:p>
            <a:pPr indent="0" marL="0">
              <a:buNone/>
            </a:pPr>
            <a:r>
              <a:rPr lang="en-US" sz="1000" b="1" spc="100" kern="0" dirty="0">
                <a:solidFill>
                  <a:srgbClr val="5B6573"/>
                </a:solidFill>
                <a:latin typeface="Arial" pitchFamily="34" charset="0"/>
                <a:ea typeface="Arial" pitchFamily="34" charset="-122"/>
                <a:cs typeface="Arial" pitchFamily="34" charset="-120"/>
              </a:rPr>
              <a:t>HỆ THỐNG NGOÀI</a:t>
            </a:r>
            <a:endParaRPr lang="en-US" sz="1000" dirty="0"/>
          </a:p>
        </p:txBody>
      </p:sp>
      <p:sp>
        <p:nvSpPr>
          <p:cNvPr id="48" name="Shape 46"/>
          <p:cNvSpPr/>
          <p:nvPr/>
        </p:nvSpPr>
        <p:spPr>
          <a:xfrm>
            <a:off x="9189720" y="3017520"/>
            <a:ext cx="2453335" cy="1234440"/>
          </a:xfrm>
          <a:prstGeom prst="roundRect">
            <a:avLst>
              <a:gd name="adj" fmla="val 4444"/>
            </a:avLst>
          </a:prstGeom>
          <a:solidFill>
            <a:srgbClr val="FFFFFF"/>
          </a:solidFill>
          <a:ln w="12700">
            <a:solidFill>
              <a:srgbClr val="0B2E4F"/>
            </a:solidFill>
            <a:prstDash val="solid"/>
          </a:ln>
        </p:spPr>
      </p:sp>
      <p:sp>
        <p:nvSpPr>
          <p:cNvPr id="49" name="Text 47"/>
          <p:cNvSpPr txBox="1"/>
          <p:nvPr/>
        </p:nvSpPr>
        <p:spPr>
          <a:xfrm>
            <a:off x="9299448" y="3063240"/>
            <a:ext cx="2233879" cy="1143000"/>
          </a:xfrm>
          <a:prstGeom prst="rect">
            <a:avLst/>
          </a:prstGeom>
          <a:noFill/>
          <a:ln/>
        </p:spPr>
        <p:txBody>
          <a:bodyPr wrap="square" lIns="0" tIns="0" rIns="0" bIns="0" rtlCol="0" anchor="ctr"/>
          <a:lstStyle/>
          <a:p>
            <a:pPr indent="0" marL="0">
              <a:buNone/>
            </a:pPr>
            <a:r>
              <a:rPr lang="en-US" sz="1300" b="1" dirty="0">
                <a:solidFill>
                  <a:srgbClr val="0B2E4F"/>
                </a:solidFill>
                <a:latin typeface="Arial" pitchFamily="34" charset="0"/>
                <a:ea typeface="Arial" pitchFamily="34" charset="-122"/>
                <a:cs typeface="Arial" pitchFamily="34" charset="-120"/>
              </a:rPr>
              <a:t>LLM API</a:t>
            </a:r>
            <a:endParaRPr lang="en-US" sz="1300" dirty="0"/>
          </a:p>
          <a:p>
            <a:pPr indent="0" marL="0">
              <a:buNone/>
            </a:pPr>
            <a:r>
              <a:rPr lang="en-US" sz="1000" dirty="0">
                <a:solidFill>
                  <a:srgbClr val="5B6573"/>
                </a:solidFill>
                <a:latin typeface="Arial" pitchFamily="34" charset="0"/>
                <a:ea typeface="Arial" pitchFamily="34" charset="-122"/>
                <a:cs typeface="Arial" pitchFamily="34" charset="-120"/>
              </a:rPr>
              <a:t>Model chính qua API; dự phòng mô hình nguồn mở tại chỗ (Ollama)</a:t>
            </a:r>
            <a:endParaRPr lang="en-US" sz="1300" dirty="0"/>
          </a:p>
        </p:txBody>
      </p:sp>
      <p:sp>
        <p:nvSpPr>
          <p:cNvPr id="50" name="Shape 48"/>
          <p:cNvSpPr/>
          <p:nvPr/>
        </p:nvSpPr>
        <p:spPr>
          <a:xfrm>
            <a:off x="9189720" y="1828800"/>
            <a:ext cx="2453335" cy="914400"/>
          </a:xfrm>
          <a:prstGeom prst="roundRect">
            <a:avLst>
              <a:gd name="adj" fmla="val 6000"/>
            </a:avLst>
          </a:prstGeom>
          <a:solidFill>
            <a:srgbClr val="FFFFFF"/>
          </a:solidFill>
          <a:ln w="12700">
            <a:solidFill>
              <a:srgbClr val="0B2E4F"/>
            </a:solidFill>
            <a:prstDash val="solid"/>
          </a:ln>
        </p:spPr>
      </p:sp>
      <p:sp>
        <p:nvSpPr>
          <p:cNvPr id="51" name="Text 49"/>
          <p:cNvSpPr txBox="1"/>
          <p:nvPr/>
        </p:nvSpPr>
        <p:spPr>
          <a:xfrm>
            <a:off x="9299448" y="1828800"/>
            <a:ext cx="2233879" cy="914400"/>
          </a:xfrm>
          <a:prstGeom prst="rect">
            <a:avLst/>
          </a:prstGeom>
          <a:noFill/>
          <a:ln/>
        </p:spPr>
        <p:txBody>
          <a:bodyPr wrap="square" lIns="0" tIns="0" rIns="0" bIns="0" rtlCol="0" anchor="ctr"/>
          <a:lstStyle/>
          <a:p>
            <a:pPr indent="0" marL="0">
              <a:buNone/>
            </a:pPr>
            <a:r>
              <a:rPr lang="en-US" sz="1300" b="1" dirty="0">
                <a:solidFill>
                  <a:srgbClr val="0B2E4F"/>
                </a:solidFill>
                <a:latin typeface="Arial" pitchFamily="34" charset="0"/>
                <a:ea typeface="Arial" pitchFamily="34" charset="-122"/>
                <a:cs typeface="Arial" pitchFamily="34" charset="-120"/>
              </a:rPr>
              <a:t>Cổng thanh toán</a:t>
            </a:r>
            <a:endParaRPr lang="en-US" sz="1300" dirty="0"/>
          </a:p>
          <a:p>
            <a:pPr indent="0" marL="0">
              <a:buNone/>
            </a:pPr>
            <a:r>
              <a:rPr lang="en-US" sz="1000" dirty="0">
                <a:solidFill>
                  <a:srgbClr val="5B6573"/>
                </a:solidFill>
                <a:latin typeface="Arial" pitchFamily="34" charset="0"/>
                <a:ea typeface="Arial" pitchFamily="34" charset="-122"/>
                <a:cs typeface="Arial" pitchFamily="34" charset="-120"/>
              </a:rPr>
              <a:t>Tạo mã QR, gửi webhook xác nhận về module Bán hàng</a:t>
            </a:r>
            <a:endParaRPr lang="en-US" sz="1300" dirty="0"/>
          </a:p>
        </p:txBody>
      </p:sp>
      <p:sp>
        <p:nvSpPr>
          <p:cNvPr id="52" name="Shape 50"/>
          <p:cNvSpPr/>
          <p:nvPr/>
        </p:nvSpPr>
        <p:spPr>
          <a:xfrm>
            <a:off x="8778240" y="3639312"/>
            <a:ext cx="411480" cy="0"/>
          </a:xfrm>
          <a:prstGeom prst="line">
            <a:avLst/>
          </a:prstGeom>
          <a:noFill/>
          <a:ln w="19050">
            <a:solidFill>
              <a:srgbClr val="E8590C"/>
            </a:solidFill>
            <a:prstDash val="solid"/>
            <a:tailEnd type="triangle"/>
          </a:ln>
        </p:spPr>
      </p:sp>
      <p:sp>
        <p:nvSpPr>
          <p:cNvPr id="53" name="Text 51"/>
          <p:cNvSpPr txBox="1"/>
          <p:nvPr/>
        </p:nvSpPr>
        <p:spPr>
          <a:xfrm>
            <a:off x="9189720" y="4663440"/>
            <a:ext cx="2453335" cy="123444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Tách AI khỏi bảng lõi: AI chỉ đọc qua view, nên thay đổi bảng nghiệp vụ không làm gián đoạn AI (NFR-12).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04  THIẾT KẾ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Thiết kế cơ sở dữ liệu</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15 / 22</a:t>
            </a:r>
            <a:endParaRPr lang="en-US" sz="900" dirty="0"/>
          </a:p>
        </p:txBody>
      </p:sp>
      <p:sp>
        <p:nvSpPr>
          <p:cNvPr id="6" name="Text 4"/>
          <p:cNvSpPr txBox="1"/>
          <p:nvPr/>
        </p:nvSpPr>
        <p:spPr>
          <a:xfrm>
            <a:off x="548640" y="1463040"/>
            <a:ext cx="2011680" cy="685800"/>
          </a:xfrm>
          <a:prstGeom prst="rect">
            <a:avLst/>
          </a:prstGeom>
          <a:noFill/>
          <a:ln/>
        </p:spPr>
        <p:txBody>
          <a:bodyPr wrap="square" lIns="0" tIns="0" rIns="0" bIns="0" rtlCol="0" anchor="t"/>
          <a:lstStyle/>
          <a:p>
            <a:pPr indent="0" marL="0">
              <a:buNone/>
            </a:pPr>
            <a:r>
              <a:rPr lang="en-US" sz="3600" b="1" dirty="0">
                <a:solidFill>
                  <a:srgbClr val="0A6EBD"/>
                </a:solidFill>
                <a:latin typeface="Arial" pitchFamily="34" charset="0"/>
                <a:ea typeface="Arial" pitchFamily="34" charset="-122"/>
                <a:cs typeface="Arial" pitchFamily="34" charset="-120"/>
              </a:rPr>
              <a:t>29</a:t>
            </a:r>
            <a:endParaRPr lang="en-US" sz="3600" dirty="0"/>
          </a:p>
        </p:txBody>
      </p:sp>
      <p:sp>
        <p:nvSpPr>
          <p:cNvPr id="7" name="Text 5"/>
          <p:cNvSpPr txBox="1"/>
          <p:nvPr/>
        </p:nvSpPr>
        <p:spPr>
          <a:xfrm>
            <a:off x="548640" y="2148840"/>
            <a:ext cx="1920240" cy="59436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lớp ánh xạ sang bảng</a:t>
            </a:r>
            <a:endParaRPr lang="en-US" sz="1100" dirty="0"/>
          </a:p>
        </p:txBody>
      </p:sp>
      <p:sp>
        <p:nvSpPr>
          <p:cNvPr id="8" name="Text 6"/>
          <p:cNvSpPr txBox="1"/>
          <p:nvPr/>
        </p:nvSpPr>
        <p:spPr>
          <a:xfrm>
            <a:off x="2697480" y="1463040"/>
            <a:ext cx="2011680" cy="685800"/>
          </a:xfrm>
          <a:prstGeom prst="rect">
            <a:avLst/>
          </a:prstGeom>
          <a:noFill/>
          <a:ln/>
        </p:spPr>
        <p:txBody>
          <a:bodyPr wrap="square" lIns="0" tIns="0" rIns="0" bIns="0" rtlCol="0" anchor="t"/>
          <a:lstStyle/>
          <a:p>
            <a:pPr indent="0" marL="0">
              <a:buNone/>
            </a:pPr>
            <a:r>
              <a:rPr lang="en-US" sz="3600" b="1" dirty="0">
                <a:solidFill>
                  <a:srgbClr val="0A6EBD"/>
                </a:solidFill>
                <a:latin typeface="Arial" pitchFamily="34" charset="0"/>
                <a:ea typeface="Arial" pitchFamily="34" charset="-122"/>
                <a:cs typeface="Arial" pitchFamily="34" charset="-120"/>
              </a:rPr>
              <a:t>3NF</a:t>
            </a:r>
            <a:endParaRPr lang="en-US" sz="3600" dirty="0"/>
          </a:p>
        </p:txBody>
      </p:sp>
      <p:sp>
        <p:nvSpPr>
          <p:cNvPr id="9" name="Text 7"/>
          <p:cNvSpPr txBox="1"/>
          <p:nvPr/>
        </p:nvSpPr>
        <p:spPr>
          <a:xfrm>
            <a:off x="2697480" y="2148840"/>
            <a:ext cx="1920240" cy="59436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chỉ phi chuẩn có kiểm soát ở giá trị dẫn xuất</a:t>
            </a:r>
            <a:endParaRPr lang="en-US" sz="1100" dirty="0"/>
          </a:p>
        </p:txBody>
      </p:sp>
      <p:sp>
        <p:nvSpPr>
          <p:cNvPr id="10" name="Text 8"/>
          <p:cNvSpPr txBox="1"/>
          <p:nvPr/>
        </p:nvSpPr>
        <p:spPr>
          <a:xfrm>
            <a:off x="4846320" y="1463040"/>
            <a:ext cx="2011680" cy="685800"/>
          </a:xfrm>
          <a:prstGeom prst="rect">
            <a:avLst/>
          </a:prstGeom>
          <a:noFill/>
          <a:ln/>
        </p:spPr>
        <p:txBody>
          <a:bodyPr wrap="square" lIns="0" tIns="0" rIns="0" bIns="0" rtlCol="0" anchor="t"/>
          <a:lstStyle/>
          <a:p>
            <a:pPr indent="0" marL="0">
              <a:buNone/>
            </a:pPr>
            <a:r>
              <a:rPr lang="en-US" sz="3600" b="1" dirty="0">
                <a:solidFill>
                  <a:srgbClr val="0A6EBD"/>
                </a:solidFill>
                <a:latin typeface="Arial" pitchFamily="34" charset="0"/>
                <a:ea typeface="Arial" pitchFamily="34" charset="-122"/>
                <a:cs typeface="Arial" pitchFamily="34" charset="-120"/>
              </a:rPr>
              <a:t>9</a:t>
            </a:r>
            <a:endParaRPr lang="en-US" sz="3600" dirty="0"/>
          </a:p>
        </p:txBody>
      </p:sp>
      <p:sp>
        <p:nvSpPr>
          <p:cNvPr id="11" name="Text 9"/>
          <p:cNvSpPr txBox="1"/>
          <p:nvPr/>
        </p:nvSpPr>
        <p:spPr>
          <a:xfrm>
            <a:off x="4846320" y="2148840"/>
            <a:ext cx="1920240" cy="594360"/>
          </a:xfrm>
          <a:prstGeom prst="rect">
            <a:avLst/>
          </a:prstGeom>
          <a:noFill/>
          <a:ln/>
        </p:spPr>
        <p:txBody>
          <a:bodyPr wrap="square" lIns="0" tIns="0" rIns="0" bIns="0" rtlCol="0" anchor="t"/>
          <a:lstStyle/>
          <a:p>
            <a:pPr indent="0" marL="0">
              <a:buNone/>
            </a:pPr>
            <a:r>
              <a:rPr lang="en-US" sz="1100" dirty="0">
                <a:solidFill>
                  <a:srgbClr val="5B6573"/>
                </a:solidFill>
                <a:latin typeface="Arial" pitchFamily="34" charset="0"/>
                <a:ea typeface="Arial" pitchFamily="34" charset="-122"/>
                <a:cs typeface="Arial" pitchFamily="34" charset="-120"/>
              </a:rPr>
              <a:t>chỉ mục chính cho truy vấn vận hành và AI</a:t>
            </a:r>
            <a:endParaRPr lang="en-US" sz="1100" dirty="0"/>
          </a:p>
        </p:txBody>
      </p:sp>
      <p:sp>
        <p:nvSpPr>
          <p:cNvPr id="12" name="Text 10"/>
          <p:cNvSpPr txBox="1"/>
          <p:nvPr/>
        </p:nvSpPr>
        <p:spPr>
          <a:xfrm>
            <a:off x="548640" y="3017520"/>
            <a:ext cx="6126480" cy="68580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Bảo toàn lịch sử: </a:t>
            </a:r>
            <a:pPr indent="0" marL="0">
              <a:buNone/>
            </a:pPr>
            <a:r>
              <a:rPr lang="en-US" sz="1300" dirty="0">
                <a:solidFill>
                  <a:srgbClr val="1F2933"/>
                </a:solidFill>
                <a:latin typeface="Arial" pitchFamily="34" charset="0"/>
                <a:ea typeface="Arial" pitchFamily="34" charset="-122"/>
                <a:cs typeface="Arial" pitchFamily="34" charset="-120"/>
              </a:rPr>
              <a:t>xóa mềm bằng cờ DaXoa khi đối tượng đã được tham chiếu.</a:t>
            </a:r>
            <a:endParaRPr lang="en-US" sz="1300" dirty="0"/>
          </a:p>
        </p:txBody>
      </p:sp>
      <p:sp>
        <p:nvSpPr>
          <p:cNvPr id="13" name="Shape 11"/>
          <p:cNvSpPr/>
          <p:nvPr/>
        </p:nvSpPr>
        <p:spPr>
          <a:xfrm>
            <a:off x="548640" y="3703320"/>
            <a:ext cx="6126480" cy="0"/>
          </a:xfrm>
          <a:prstGeom prst="line">
            <a:avLst/>
          </a:prstGeom>
          <a:noFill/>
          <a:ln w="9525">
            <a:solidFill>
              <a:srgbClr val="D5DCE4"/>
            </a:solidFill>
            <a:prstDash val="solid"/>
          </a:ln>
        </p:spPr>
      </p:sp>
      <p:sp>
        <p:nvSpPr>
          <p:cNvPr id="14" name="Text 12"/>
          <p:cNvSpPr txBox="1"/>
          <p:nvPr/>
        </p:nvSpPr>
        <p:spPr>
          <a:xfrm>
            <a:off x="548640" y="3794760"/>
            <a:ext cx="6126480" cy="68580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Hiệu lực theo thời gian: </a:t>
            </a:r>
            <a:pPr indent="0" marL="0">
              <a:buNone/>
            </a:pPr>
            <a:r>
              <a:rPr lang="en-US" sz="1300" dirty="0">
                <a:solidFill>
                  <a:srgbClr val="1F2933"/>
                </a:solidFill>
                <a:latin typeface="Arial" pitchFamily="34" charset="0"/>
                <a:ea typeface="Arial" pitchFamily="34" charset="-122"/>
                <a:cs typeface="Arial" pitchFamily="34" charset="-120"/>
              </a:rPr>
              <a:t>giá, công thức lưu thành phiên bản có mốc hiệu lực.</a:t>
            </a:r>
            <a:endParaRPr lang="en-US" sz="1300" dirty="0"/>
          </a:p>
        </p:txBody>
      </p:sp>
      <p:sp>
        <p:nvSpPr>
          <p:cNvPr id="15" name="Shape 13"/>
          <p:cNvSpPr/>
          <p:nvPr/>
        </p:nvSpPr>
        <p:spPr>
          <a:xfrm>
            <a:off x="548640" y="4480560"/>
            <a:ext cx="6126480" cy="0"/>
          </a:xfrm>
          <a:prstGeom prst="line">
            <a:avLst/>
          </a:prstGeom>
          <a:noFill/>
          <a:ln w="9525">
            <a:solidFill>
              <a:srgbClr val="D5DCE4"/>
            </a:solidFill>
            <a:prstDash val="solid"/>
          </a:ln>
        </p:spPr>
      </p:sp>
      <p:sp>
        <p:nvSpPr>
          <p:cNvPr id="16" name="Text 14"/>
          <p:cNvSpPr txBox="1"/>
          <p:nvPr/>
        </p:nvSpPr>
        <p:spPr>
          <a:xfrm>
            <a:off x="548640" y="4572000"/>
            <a:ext cx="6126480" cy="68580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Ghi sổ mọi biến động kho: </a:t>
            </a:r>
            <a:pPr indent="0" marL="0">
              <a:buNone/>
            </a:pPr>
            <a:r>
              <a:rPr lang="en-US" sz="1300" dirty="0">
                <a:solidFill>
                  <a:srgbClr val="1F2933"/>
                </a:solidFill>
                <a:latin typeface="Arial" pitchFamily="34" charset="0"/>
                <a:ea typeface="Arial" pitchFamily="34" charset="-122"/>
                <a:cs typeface="Arial" pitchFamily="34" charset="-120"/>
              </a:rPr>
              <a:t>không chỉ cập nhật số tồn.</a:t>
            </a:r>
            <a:endParaRPr lang="en-US" sz="1300" dirty="0"/>
          </a:p>
        </p:txBody>
      </p:sp>
      <p:sp>
        <p:nvSpPr>
          <p:cNvPr id="17" name="Shape 15"/>
          <p:cNvSpPr/>
          <p:nvPr/>
        </p:nvSpPr>
        <p:spPr>
          <a:xfrm>
            <a:off x="548640" y="5257800"/>
            <a:ext cx="6126480" cy="0"/>
          </a:xfrm>
          <a:prstGeom prst="line">
            <a:avLst/>
          </a:prstGeom>
          <a:noFill/>
          <a:ln w="9525">
            <a:solidFill>
              <a:srgbClr val="D5DCE4"/>
            </a:solidFill>
            <a:prstDash val="solid"/>
          </a:ln>
        </p:spPr>
      </p:sp>
      <p:sp>
        <p:nvSpPr>
          <p:cNvPr id="18" name="Text 16"/>
          <p:cNvSpPr txBox="1"/>
          <p:nvPr/>
        </p:nvSpPr>
        <p:spPr>
          <a:xfrm>
            <a:off x="548640" y="5349240"/>
            <a:ext cx="6126480" cy="68580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Phục vụ phân quyền: </a:t>
            </a:r>
            <a:pPr indent="0" marL="0">
              <a:buNone/>
            </a:pPr>
            <a:r>
              <a:rPr lang="en-US" sz="1300" dirty="0">
                <a:solidFill>
                  <a:srgbClr val="1F2933"/>
                </a:solidFill>
                <a:latin typeface="Arial" pitchFamily="34" charset="0"/>
                <a:ea typeface="Arial" pitchFamily="34" charset="-122"/>
                <a:cs typeface="Arial" pitchFamily="34" charset="-120"/>
              </a:rPr>
              <a:t>dữ liệu tổ chức để dựng được view riêng cho từng vai trò.</a:t>
            </a:r>
            <a:endParaRPr lang="en-US" sz="1300" dirty="0"/>
          </a:p>
        </p:txBody>
      </p:sp>
      <p:sp>
        <p:nvSpPr>
          <p:cNvPr id="19" name="Text 17"/>
          <p:cNvSpPr txBox="1"/>
          <p:nvPr/>
        </p:nvSpPr>
        <p:spPr>
          <a:xfrm>
            <a:off x="7223760" y="1463040"/>
            <a:ext cx="4419295" cy="36576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Tồn kho lưu ba tầng, luôn đối chiếu được</a:t>
            </a:r>
            <a:endParaRPr lang="en-US" sz="1500" dirty="0"/>
          </a:p>
        </p:txBody>
      </p:sp>
      <p:sp>
        <p:nvSpPr>
          <p:cNvPr id="20" name="Shape 18"/>
          <p:cNvSpPr/>
          <p:nvPr/>
        </p:nvSpPr>
        <p:spPr>
          <a:xfrm>
            <a:off x="7223760" y="1965960"/>
            <a:ext cx="4419295" cy="1005840"/>
          </a:xfrm>
          <a:prstGeom prst="roundRect">
            <a:avLst>
              <a:gd name="adj" fmla="val 5455"/>
            </a:avLst>
          </a:prstGeom>
          <a:solidFill>
            <a:srgbClr val="0B2E4F"/>
          </a:solidFill>
          <a:ln w="12700">
            <a:solidFill>
              <a:srgbClr val="0B2E4F"/>
            </a:solidFill>
            <a:prstDash val="solid"/>
          </a:ln>
        </p:spPr>
      </p:sp>
      <p:sp>
        <p:nvSpPr>
          <p:cNvPr id="21" name="Text 19"/>
          <p:cNvSpPr txBox="1"/>
          <p:nvPr/>
        </p:nvSpPr>
        <p:spPr>
          <a:xfrm>
            <a:off x="7406640" y="2057400"/>
            <a:ext cx="4053535" cy="32004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GIAO_DICH_KHO</a:t>
            </a:r>
            <a:endParaRPr lang="en-US" sz="1200" dirty="0"/>
          </a:p>
        </p:txBody>
      </p:sp>
      <p:sp>
        <p:nvSpPr>
          <p:cNvPr id="22" name="Text 20"/>
          <p:cNvSpPr txBox="1"/>
          <p:nvPr/>
        </p:nvSpPr>
        <p:spPr>
          <a:xfrm>
            <a:off x="7406640" y="2395728"/>
            <a:ext cx="4053535" cy="50292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Sổ cái, nguồn gốc: nhập, trừ tự động, hoàn kho, xuất hủy, điều chỉnh kiểm kê</a:t>
            </a:r>
            <a:endParaRPr lang="en-US" sz="1150" dirty="0"/>
          </a:p>
        </p:txBody>
      </p:sp>
      <p:sp>
        <p:nvSpPr>
          <p:cNvPr id="23" name="Shape 21"/>
          <p:cNvSpPr/>
          <p:nvPr/>
        </p:nvSpPr>
        <p:spPr>
          <a:xfrm>
            <a:off x="9433408" y="2971800"/>
            <a:ext cx="0" cy="365760"/>
          </a:xfrm>
          <a:prstGeom prst="line">
            <a:avLst/>
          </a:prstGeom>
          <a:noFill/>
          <a:ln w="19050">
            <a:solidFill>
              <a:srgbClr val="0B2E4F"/>
            </a:solidFill>
            <a:prstDash val="solid"/>
            <a:tailEnd type="triangle"/>
          </a:ln>
        </p:spPr>
      </p:sp>
      <p:sp>
        <p:nvSpPr>
          <p:cNvPr id="24" name="Shape 22"/>
          <p:cNvSpPr/>
          <p:nvPr/>
        </p:nvSpPr>
        <p:spPr>
          <a:xfrm>
            <a:off x="7223760" y="3337560"/>
            <a:ext cx="4419295" cy="1005840"/>
          </a:xfrm>
          <a:prstGeom prst="roundRect">
            <a:avLst>
              <a:gd name="adj" fmla="val 5455"/>
            </a:avLst>
          </a:prstGeom>
          <a:solidFill>
            <a:srgbClr val="E8F1FA"/>
          </a:solidFill>
          <a:ln w="12700">
            <a:solidFill>
              <a:srgbClr val="0B2E4F"/>
            </a:solidFill>
            <a:prstDash val="solid"/>
          </a:ln>
        </p:spPr>
      </p:sp>
      <p:sp>
        <p:nvSpPr>
          <p:cNvPr id="25" name="Text 23"/>
          <p:cNvSpPr txBox="1"/>
          <p:nvPr/>
        </p:nvSpPr>
        <p:spPr>
          <a:xfrm>
            <a:off x="7406640" y="3429000"/>
            <a:ext cx="4053535" cy="320040"/>
          </a:xfrm>
          <a:prstGeom prst="rect">
            <a:avLst/>
          </a:prstGeom>
          <a:noFill/>
          <a:ln/>
        </p:spPr>
        <p:txBody>
          <a:bodyPr wrap="square" lIns="0" tIns="0" rIns="0" bIns="0" rtlCol="0" anchor="t"/>
          <a:lstStyle/>
          <a:p>
            <a:pPr indent="0" marL="0">
              <a:buNone/>
            </a:pPr>
            <a:r>
              <a:rPr lang="en-US" sz="1200" b="1" dirty="0">
                <a:solidFill>
                  <a:srgbClr val="0B2E4F"/>
                </a:solidFill>
                <a:latin typeface="Courier New" pitchFamily="34" charset="0"/>
                <a:ea typeface="Courier New" pitchFamily="34" charset="-122"/>
                <a:cs typeface="Courier New" pitchFamily="34" charset="-120"/>
              </a:rPr>
              <a:t>LO_NGUYEN_LIEU.SoLuongConLai</a:t>
            </a:r>
            <a:endParaRPr lang="en-US" sz="1200" dirty="0"/>
          </a:p>
        </p:txBody>
      </p:sp>
      <p:sp>
        <p:nvSpPr>
          <p:cNvPr id="26" name="Text 24"/>
          <p:cNvSpPr txBox="1"/>
          <p:nvPr/>
        </p:nvSpPr>
        <p:spPr>
          <a:xfrm>
            <a:off x="7406640" y="3767328"/>
            <a:ext cx="4053535" cy="502920"/>
          </a:xfrm>
          <a:prstGeom prst="rect">
            <a:avLst/>
          </a:prstGeom>
          <a:noFill/>
          <a:ln/>
        </p:spPr>
        <p:txBody>
          <a:bodyPr wrap="square" lIns="0" tIns="0" rIns="0" bIns="0" rtlCol="0" anchor="t"/>
          <a:lstStyle/>
          <a:p>
            <a:pPr indent="0" marL="0">
              <a:buNone/>
            </a:pPr>
            <a:r>
              <a:rPr lang="en-US" sz="1150" dirty="0">
                <a:solidFill>
                  <a:srgbClr val="0B2E4F"/>
                </a:solidFill>
                <a:latin typeface="Arial" pitchFamily="34" charset="0"/>
                <a:ea typeface="Arial" pitchFamily="34" charset="-122"/>
                <a:cs typeface="Arial" pitchFamily="34" charset="-120"/>
              </a:rPr>
              <a:t>Tồn theo từng lô, phục vụ FIFO và cảnh báo hạn dùng</a:t>
            </a:r>
            <a:endParaRPr lang="en-US" sz="1150" dirty="0"/>
          </a:p>
        </p:txBody>
      </p:sp>
      <p:sp>
        <p:nvSpPr>
          <p:cNvPr id="27" name="Shape 25"/>
          <p:cNvSpPr/>
          <p:nvPr/>
        </p:nvSpPr>
        <p:spPr>
          <a:xfrm>
            <a:off x="9433408" y="4343400"/>
            <a:ext cx="0" cy="365760"/>
          </a:xfrm>
          <a:prstGeom prst="line">
            <a:avLst/>
          </a:prstGeom>
          <a:noFill/>
          <a:ln w="19050">
            <a:solidFill>
              <a:srgbClr val="0B2E4F"/>
            </a:solidFill>
            <a:prstDash val="solid"/>
            <a:tailEnd type="triangle"/>
          </a:ln>
        </p:spPr>
      </p:sp>
      <p:sp>
        <p:nvSpPr>
          <p:cNvPr id="28" name="Shape 26"/>
          <p:cNvSpPr/>
          <p:nvPr/>
        </p:nvSpPr>
        <p:spPr>
          <a:xfrm>
            <a:off x="7223760" y="4709160"/>
            <a:ext cx="4419295" cy="1005840"/>
          </a:xfrm>
          <a:prstGeom prst="roundRect">
            <a:avLst>
              <a:gd name="adj" fmla="val 5455"/>
            </a:avLst>
          </a:prstGeom>
          <a:solidFill>
            <a:srgbClr val="FFFFFF"/>
          </a:solidFill>
          <a:ln w="12700">
            <a:solidFill>
              <a:srgbClr val="0B2E4F"/>
            </a:solidFill>
            <a:prstDash val="solid"/>
          </a:ln>
        </p:spPr>
      </p:sp>
      <p:sp>
        <p:nvSpPr>
          <p:cNvPr id="29" name="Text 27"/>
          <p:cNvSpPr txBox="1"/>
          <p:nvPr/>
        </p:nvSpPr>
        <p:spPr>
          <a:xfrm>
            <a:off x="7406640" y="4800600"/>
            <a:ext cx="4053535" cy="320040"/>
          </a:xfrm>
          <a:prstGeom prst="rect">
            <a:avLst/>
          </a:prstGeom>
          <a:noFill/>
          <a:ln/>
        </p:spPr>
        <p:txBody>
          <a:bodyPr wrap="square" lIns="0" tIns="0" rIns="0" bIns="0" rtlCol="0" anchor="t"/>
          <a:lstStyle/>
          <a:p>
            <a:pPr indent="0" marL="0">
              <a:buNone/>
            </a:pPr>
            <a:r>
              <a:rPr lang="en-US" sz="1200" b="1" dirty="0">
                <a:solidFill>
                  <a:srgbClr val="0B2E4F"/>
                </a:solidFill>
                <a:latin typeface="Courier New" pitchFamily="34" charset="0"/>
                <a:ea typeface="Courier New" pitchFamily="34" charset="-122"/>
                <a:cs typeface="Courier New" pitchFamily="34" charset="-120"/>
              </a:rPr>
              <a:t>NGUYEN_LIEU.SoLuongTon</a:t>
            </a:r>
            <a:endParaRPr lang="en-US" sz="1200" dirty="0"/>
          </a:p>
        </p:txBody>
      </p:sp>
      <p:sp>
        <p:nvSpPr>
          <p:cNvPr id="30" name="Text 28"/>
          <p:cNvSpPr txBox="1"/>
          <p:nvPr/>
        </p:nvSpPr>
        <p:spPr>
          <a:xfrm>
            <a:off x="7406640" y="5138928"/>
            <a:ext cx="4053535" cy="502920"/>
          </a:xfrm>
          <a:prstGeom prst="rect">
            <a:avLst/>
          </a:prstGeom>
          <a:noFill/>
          <a:ln/>
        </p:spPr>
        <p:txBody>
          <a:bodyPr wrap="square" lIns="0" tIns="0" rIns="0" bIns="0" rtlCol="0" anchor="t"/>
          <a:lstStyle/>
          <a:p>
            <a:pPr indent="0" marL="0">
              <a:buNone/>
            </a:pPr>
            <a:r>
              <a:rPr lang="en-US" sz="1150" dirty="0">
                <a:solidFill>
                  <a:srgbClr val="0B2E4F"/>
                </a:solidFill>
                <a:latin typeface="Arial" pitchFamily="34" charset="0"/>
                <a:ea typeface="Arial" pitchFamily="34" charset="-122"/>
                <a:cs typeface="Arial" pitchFamily="34" charset="-120"/>
              </a:rPr>
              <a:t>Tồn vật lý = tổng số còn lại của mọi lô</a:t>
            </a:r>
            <a:endParaRPr lang="en-US" sz="1150" dirty="0"/>
          </a:p>
        </p:txBody>
      </p:sp>
      <p:sp>
        <p:nvSpPr>
          <p:cNvPr id="31" name="Text 29"/>
          <p:cNvSpPr txBox="1"/>
          <p:nvPr/>
        </p:nvSpPr>
        <p:spPr>
          <a:xfrm>
            <a:off x="7223760" y="5852160"/>
            <a:ext cx="4419295" cy="365760"/>
          </a:xfrm>
          <a:prstGeom prst="rect">
            <a:avLst/>
          </a:prstGeom>
          <a:noFill/>
          <a:ln/>
        </p:spPr>
        <p:txBody>
          <a:bodyPr wrap="square" lIns="0" tIns="0" rIns="0" bIns="0" rtlCol="0" anchor="t"/>
          <a:lstStyle/>
          <a:p>
            <a:pPr indent="0" marL="0">
              <a:buNone/>
            </a:pPr>
            <a:r>
              <a:rPr lang="en-US" sz="1100" i="1" dirty="0">
                <a:solidFill>
                  <a:srgbClr val="5B6573"/>
                </a:solidFill>
                <a:latin typeface="Arial" pitchFamily="34" charset="0"/>
                <a:ea typeface="Arial" pitchFamily="34" charset="-122"/>
                <a:cs typeface="Arial" pitchFamily="34" charset="-120"/>
              </a:rPr>
              <a:t>Khóa dòng SELECT … FOR UPDATE khi submit để không bao giờ tồn âm.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E4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FD7EE"/>
                </a:solidFill>
                <a:latin typeface="Arial" pitchFamily="34" charset="0"/>
                <a:ea typeface="Arial" pitchFamily="34" charset="-122"/>
                <a:cs typeface="Arial" pitchFamily="34" charset="-120"/>
              </a:rPr>
              <a:t>04  THIẾT KẾ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AI Assistant: từ câu hỏi tiếng Việt đến câu trả lời có số liệu</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BFD7EE"/>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BFD7EE"/>
                </a:solidFill>
                <a:latin typeface="Arial" pitchFamily="34" charset="0"/>
                <a:ea typeface="Arial" pitchFamily="34" charset="-122"/>
                <a:cs typeface="Arial" pitchFamily="34" charset="-120"/>
              </a:rPr>
              <a:t>16 / 22</a:t>
            </a:r>
            <a:endParaRPr lang="en-US" sz="900" dirty="0"/>
          </a:p>
        </p:txBody>
      </p:sp>
      <p:sp>
        <p:nvSpPr>
          <p:cNvPr id="6" name="Shape 4"/>
          <p:cNvSpPr/>
          <p:nvPr/>
        </p:nvSpPr>
        <p:spPr>
          <a:xfrm>
            <a:off x="548640" y="1645920"/>
            <a:ext cx="1635709" cy="1600200"/>
          </a:xfrm>
          <a:prstGeom prst="roundRect">
            <a:avLst>
              <a:gd name="adj" fmla="val 4571"/>
            </a:avLst>
          </a:prstGeom>
          <a:solidFill>
            <a:srgbClr val="123A60"/>
          </a:solidFill>
          <a:ln w="12700">
            <a:solidFill>
              <a:srgbClr val="2A5680"/>
            </a:solidFill>
            <a:prstDash val="solid"/>
          </a:ln>
        </p:spPr>
      </p:sp>
      <p:sp>
        <p:nvSpPr>
          <p:cNvPr id="7" name="Text 5"/>
          <p:cNvSpPr txBox="1"/>
          <p:nvPr/>
        </p:nvSpPr>
        <p:spPr>
          <a:xfrm>
            <a:off x="685800" y="1755648"/>
            <a:ext cx="457200" cy="365760"/>
          </a:xfrm>
          <a:prstGeom prst="rect">
            <a:avLst/>
          </a:prstGeom>
          <a:noFill/>
          <a:ln/>
        </p:spPr>
        <p:txBody>
          <a:bodyPr wrap="square" lIns="0" tIns="0" rIns="0" bIns="0" rtlCol="0" anchor="t"/>
          <a:lstStyle/>
          <a:p>
            <a:pPr indent="0" marL="0">
              <a:buNone/>
            </a:pPr>
            <a:r>
              <a:rPr lang="en-US" sz="1800" b="1" dirty="0">
                <a:solidFill>
                  <a:srgbClr val="BFD7EE"/>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685800" y="2148840"/>
            <a:ext cx="1361389" cy="45720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Chuẩn hóa câu hỏi</a:t>
            </a:r>
            <a:endParaRPr lang="en-US" sz="1350" dirty="0"/>
          </a:p>
        </p:txBody>
      </p:sp>
      <p:sp>
        <p:nvSpPr>
          <p:cNvPr id="9" name="Text 7"/>
          <p:cNvSpPr txBox="1"/>
          <p:nvPr/>
        </p:nvSpPr>
        <p:spPr>
          <a:xfrm>
            <a:off x="685800" y="2587752"/>
            <a:ext cx="1361389" cy="594360"/>
          </a:xfrm>
          <a:prstGeom prst="rect">
            <a:avLst/>
          </a:prstGeom>
          <a:noFill/>
          <a:ln/>
        </p:spPr>
        <p:txBody>
          <a:bodyPr wrap="square" lIns="0" tIns="0" rIns="0" bIns="0" rtlCol="0" anchor="t"/>
          <a:lstStyle/>
          <a:p>
            <a:pPr indent="0" marL="0">
              <a:buNone/>
            </a:pPr>
            <a:r>
              <a:rPr lang="en-US" sz="1050" dirty="0">
                <a:solidFill>
                  <a:srgbClr val="CFE3F5"/>
                </a:solidFill>
                <a:latin typeface="Arial" pitchFamily="34" charset="0"/>
                <a:ea typeface="Arial" pitchFamily="34" charset="-122"/>
                <a:cs typeface="Arial" pitchFamily="34" charset="-120"/>
              </a:rPr>
              <a:t>kiểm tra hạn mức ngày, cache theo vai trò</a:t>
            </a:r>
            <a:endParaRPr lang="en-US" sz="1050" dirty="0"/>
          </a:p>
        </p:txBody>
      </p:sp>
      <p:sp>
        <p:nvSpPr>
          <p:cNvPr id="10" name="Shape 8"/>
          <p:cNvSpPr/>
          <p:nvPr/>
        </p:nvSpPr>
        <p:spPr>
          <a:xfrm>
            <a:off x="2202637" y="2446020"/>
            <a:ext cx="219456" cy="0"/>
          </a:xfrm>
          <a:prstGeom prst="line">
            <a:avLst/>
          </a:prstGeom>
          <a:noFill/>
          <a:ln w="19050">
            <a:solidFill>
              <a:srgbClr val="BFD7EE"/>
            </a:solidFill>
            <a:prstDash val="solid"/>
            <a:tailEnd type="triangle"/>
          </a:ln>
        </p:spPr>
      </p:sp>
      <p:sp>
        <p:nvSpPr>
          <p:cNvPr id="11" name="Shape 9"/>
          <p:cNvSpPr/>
          <p:nvPr/>
        </p:nvSpPr>
        <p:spPr>
          <a:xfrm>
            <a:off x="2440381" y="1645920"/>
            <a:ext cx="1635709" cy="1600200"/>
          </a:xfrm>
          <a:prstGeom prst="roundRect">
            <a:avLst>
              <a:gd name="adj" fmla="val 4571"/>
            </a:avLst>
          </a:prstGeom>
          <a:solidFill>
            <a:srgbClr val="123A60"/>
          </a:solidFill>
          <a:ln w="12700">
            <a:solidFill>
              <a:srgbClr val="2A5680"/>
            </a:solidFill>
            <a:prstDash val="solid"/>
          </a:ln>
        </p:spPr>
      </p:sp>
      <p:sp>
        <p:nvSpPr>
          <p:cNvPr id="12" name="Text 10"/>
          <p:cNvSpPr txBox="1"/>
          <p:nvPr/>
        </p:nvSpPr>
        <p:spPr>
          <a:xfrm>
            <a:off x="2577541" y="1755648"/>
            <a:ext cx="457200" cy="365760"/>
          </a:xfrm>
          <a:prstGeom prst="rect">
            <a:avLst/>
          </a:prstGeom>
          <a:noFill/>
          <a:ln/>
        </p:spPr>
        <p:txBody>
          <a:bodyPr wrap="square" lIns="0" tIns="0" rIns="0" bIns="0" rtlCol="0" anchor="t"/>
          <a:lstStyle/>
          <a:p>
            <a:pPr indent="0" marL="0">
              <a:buNone/>
            </a:pPr>
            <a:r>
              <a:rPr lang="en-US" sz="1800" b="1" dirty="0">
                <a:solidFill>
                  <a:srgbClr val="BFD7EE"/>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2577541" y="2148840"/>
            <a:ext cx="1361389" cy="45720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Xác định phạm vi</a:t>
            </a:r>
            <a:endParaRPr lang="en-US" sz="1350" dirty="0"/>
          </a:p>
        </p:txBody>
      </p:sp>
      <p:sp>
        <p:nvSpPr>
          <p:cNvPr id="14" name="Text 12"/>
          <p:cNvSpPr txBox="1"/>
          <p:nvPr/>
        </p:nvSpPr>
        <p:spPr>
          <a:xfrm>
            <a:off x="2577541" y="2587752"/>
            <a:ext cx="1361389" cy="594360"/>
          </a:xfrm>
          <a:prstGeom prst="rect">
            <a:avLst/>
          </a:prstGeom>
          <a:noFill/>
          <a:ln/>
        </p:spPr>
        <p:txBody>
          <a:bodyPr wrap="square" lIns="0" tIns="0" rIns="0" bIns="0" rtlCol="0" anchor="t"/>
          <a:lstStyle/>
          <a:p>
            <a:pPr indent="0" marL="0">
              <a:buNone/>
            </a:pPr>
            <a:r>
              <a:rPr lang="en-US" sz="1050" dirty="0">
                <a:solidFill>
                  <a:srgbClr val="CFE3F5"/>
                </a:solidFill>
                <a:latin typeface="Arial" pitchFamily="34" charset="0"/>
                <a:ea typeface="Arial" pitchFamily="34" charset="-122"/>
                <a:cs typeface="Arial" pitchFamily="34" charset="-120"/>
              </a:rPr>
              <a:t>chọn view đúng vai trò của phiên chat</a:t>
            </a:r>
            <a:endParaRPr lang="en-US" sz="1050" dirty="0"/>
          </a:p>
        </p:txBody>
      </p:sp>
      <p:sp>
        <p:nvSpPr>
          <p:cNvPr id="15" name="Shape 13"/>
          <p:cNvSpPr/>
          <p:nvPr/>
        </p:nvSpPr>
        <p:spPr>
          <a:xfrm>
            <a:off x="4094378" y="2446020"/>
            <a:ext cx="219456" cy="0"/>
          </a:xfrm>
          <a:prstGeom prst="line">
            <a:avLst/>
          </a:prstGeom>
          <a:noFill/>
          <a:ln w="19050">
            <a:solidFill>
              <a:srgbClr val="BFD7EE"/>
            </a:solidFill>
            <a:prstDash val="solid"/>
            <a:tailEnd type="triangle"/>
          </a:ln>
        </p:spPr>
      </p:sp>
      <p:sp>
        <p:nvSpPr>
          <p:cNvPr id="16" name="Shape 14"/>
          <p:cNvSpPr/>
          <p:nvPr/>
        </p:nvSpPr>
        <p:spPr>
          <a:xfrm>
            <a:off x="4332122" y="1645920"/>
            <a:ext cx="1635709" cy="1600200"/>
          </a:xfrm>
          <a:prstGeom prst="roundRect">
            <a:avLst>
              <a:gd name="adj" fmla="val 4571"/>
            </a:avLst>
          </a:prstGeom>
          <a:solidFill>
            <a:srgbClr val="123A60"/>
          </a:solidFill>
          <a:ln w="12700">
            <a:solidFill>
              <a:srgbClr val="2A5680"/>
            </a:solidFill>
            <a:prstDash val="solid"/>
          </a:ln>
        </p:spPr>
      </p:sp>
      <p:sp>
        <p:nvSpPr>
          <p:cNvPr id="17" name="Text 15"/>
          <p:cNvSpPr txBox="1"/>
          <p:nvPr/>
        </p:nvSpPr>
        <p:spPr>
          <a:xfrm>
            <a:off x="4469282" y="1755648"/>
            <a:ext cx="457200" cy="365760"/>
          </a:xfrm>
          <a:prstGeom prst="rect">
            <a:avLst/>
          </a:prstGeom>
          <a:noFill/>
          <a:ln/>
        </p:spPr>
        <p:txBody>
          <a:bodyPr wrap="square" lIns="0" tIns="0" rIns="0" bIns="0" rtlCol="0" anchor="t"/>
          <a:lstStyle/>
          <a:p>
            <a:pPr indent="0" marL="0">
              <a:buNone/>
            </a:pPr>
            <a:r>
              <a:rPr lang="en-US" sz="1800" b="1" dirty="0">
                <a:solidFill>
                  <a:srgbClr val="BFD7EE"/>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4469282" y="2148840"/>
            <a:ext cx="1361389" cy="45720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LLM sinh SQL</a:t>
            </a:r>
            <a:endParaRPr lang="en-US" sz="1350" dirty="0"/>
          </a:p>
        </p:txBody>
      </p:sp>
      <p:sp>
        <p:nvSpPr>
          <p:cNvPr id="19" name="Text 17"/>
          <p:cNvSpPr txBox="1"/>
          <p:nvPr/>
        </p:nvSpPr>
        <p:spPr>
          <a:xfrm>
            <a:off x="4469282" y="2587752"/>
            <a:ext cx="1361389" cy="594360"/>
          </a:xfrm>
          <a:prstGeom prst="rect">
            <a:avLst/>
          </a:prstGeom>
          <a:noFill/>
          <a:ln/>
        </p:spPr>
        <p:txBody>
          <a:bodyPr wrap="square" lIns="0" tIns="0" rIns="0" bIns="0" rtlCol="0" anchor="t"/>
          <a:lstStyle/>
          <a:p>
            <a:pPr indent="0" marL="0">
              <a:buNone/>
            </a:pPr>
            <a:r>
              <a:rPr lang="en-US" sz="1050" dirty="0">
                <a:solidFill>
                  <a:srgbClr val="CFE3F5"/>
                </a:solidFill>
                <a:latin typeface="Arial" pitchFamily="34" charset="0"/>
                <a:ea typeface="Arial" pitchFamily="34" charset="-122"/>
                <a:cs typeface="Arial" pitchFamily="34" charset="-120"/>
              </a:rPr>
              <a:t>chỉ đưa lược đồ view của vai trò vào prompt</a:t>
            </a:r>
            <a:endParaRPr lang="en-US" sz="1050" dirty="0"/>
          </a:p>
        </p:txBody>
      </p:sp>
      <p:sp>
        <p:nvSpPr>
          <p:cNvPr id="20" name="Shape 18"/>
          <p:cNvSpPr/>
          <p:nvPr/>
        </p:nvSpPr>
        <p:spPr>
          <a:xfrm>
            <a:off x="5986120" y="2446020"/>
            <a:ext cx="219456" cy="0"/>
          </a:xfrm>
          <a:prstGeom prst="line">
            <a:avLst/>
          </a:prstGeom>
          <a:noFill/>
          <a:ln w="19050">
            <a:solidFill>
              <a:srgbClr val="BFD7EE"/>
            </a:solidFill>
            <a:prstDash val="solid"/>
            <a:tailEnd type="triangle"/>
          </a:ln>
        </p:spPr>
      </p:sp>
      <p:sp>
        <p:nvSpPr>
          <p:cNvPr id="21" name="Shape 19"/>
          <p:cNvSpPr/>
          <p:nvPr/>
        </p:nvSpPr>
        <p:spPr>
          <a:xfrm>
            <a:off x="6223864" y="1645920"/>
            <a:ext cx="1635709" cy="1600200"/>
          </a:xfrm>
          <a:prstGeom prst="roundRect">
            <a:avLst>
              <a:gd name="adj" fmla="val 4571"/>
            </a:avLst>
          </a:prstGeom>
          <a:solidFill>
            <a:srgbClr val="E8590C"/>
          </a:solidFill>
          <a:ln w="12700">
            <a:solidFill>
              <a:srgbClr val="E8590C"/>
            </a:solidFill>
            <a:prstDash val="solid"/>
          </a:ln>
        </p:spPr>
      </p:sp>
      <p:sp>
        <p:nvSpPr>
          <p:cNvPr id="22" name="Text 20"/>
          <p:cNvSpPr txBox="1"/>
          <p:nvPr/>
        </p:nvSpPr>
        <p:spPr>
          <a:xfrm>
            <a:off x="6361024" y="1755648"/>
            <a:ext cx="4572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3" name="Text 21"/>
          <p:cNvSpPr txBox="1"/>
          <p:nvPr/>
        </p:nvSpPr>
        <p:spPr>
          <a:xfrm>
            <a:off x="6361024" y="2148840"/>
            <a:ext cx="1361389" cy="45720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Kiểm duyệt sqlglot</a:t>
            </a:r>
            <a:endParaRPr lang="en-US" sz="1350" dirty="0"/>
          </a:p>
        </p:txBody>
      </p:sp>
      <p:sp>
        <p:nvSpPr>
          <p:cNvPr id="24" name="Text 22"/>
          <p:cNvSpPr txBox="1"/>
          <p:nvPr/>
        </p:nvSpPr>
        <p:spPr>
          <a:xfrm>
            <a:off x="6361024" y="2587752"/>
            <a:ext cx="1361389" cy="59436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chỉ một câu SELECT, chỉ trên view được phép</a:t>
            </a:r>
            <a:endParaRPr lang="en-US" sz="1050" dirty="0"/>
          </a:p>
        </p:txBody>
      </p:sp>
      <p:sp>
        <p:nvSpPr>
          <p:cNvPr id="25" name="Shape 23"/>
          <p:cNvSpPr/>
          <p:nvPr/>
        </p:nvSpPr>
        <p:spPr>
          <a:xfrm>
            <a:off x="7877861" y="2446020"/>
            <a:ext cx="219456" cy="0"/>
          </a:xfrm>
          <a:prstGeom prst="line">
            <a:avLst/>
          </a:prstGeom>
          <a:noFill/>
          <a:ln w="19050">
            <a:solidFill>
              <a:srgbClr val="BFD7EE"/>
            </a:solidFill>
            <a:prstDash val="solid"/>
            <a:tailEnd type="triangle"/>
          </a:ln>
        </p:spPr>
      </p:sp>
      <p:sp>
        <p:nvSpPr>
          <p:cNvPr id="26" name="Shape 24"/>
          <p:cNvSpPr/>
          <p:nvPr/>
        </p:nvSpPr>
        <p:spPr>
          <a:xfrm>
            <a:off x="8115605" y="1645920"/>
            <a:ext cx="1635709" cy="1600200"/>
          </a:xfrm>
          <a:prstGeom prst="roundRect">
            <a:avLst>
              <a:gd name="adj" fmla="val 4571"/>
            </a:avLst>
          </a:prstGeom>
          <a:solidFill>
            <a:srgbClr val="123A60"/>
          </a:solidFill>
          <a:ln w="12700">
            <a:solidFill>
              <a:srgbClr val="2A5680"/>
            </a:solidFill>
            <a:prstDash val="solid"/>
          </a:ln>
        </p:spPr>
      </p:sp>
      <p:sp>
        <p:nvSpPr>
          <p:cNvPr id="27" name="Text 25"/>
          <p:cNvSpPr txBox="1"/>
          <p:nvPr/>
        </p:nvSpPr>
        <p:spPr>
          <a:xfrm>
            <a:off x="8252765" y="1755648"/>
            <a:ext cx="457200" cy="365760"/>
          </a:xfrm>
          <a:prstGeom prst="rect">
            <a:avLst/>
          </a:prstGeom>
          <a:noFill/>
          <a:ln/>
        </p:spPr>
        <p:txBody>
          <a:bodyPr wrap="square" lIns="0" tIns="0" rIns="0" bIns="0" rtlCol="0" anchor="t"/>
          <a:lstStyle/>
          <a:p>
            <a:pPr indent="0" marL="0">
              <a:buNone/>
            </a:pPr>
            <a:r>
              <a:rPr lang="en-US" sz="1800" b="1" dirty="0">
                <a:solidFill>
                  <a:srgbClr val="BFD7EE"/>
                </a:solidFill>
                <a:latin typeface="Arial" pitchFamily="34" charset="0"/>
                <a:ea typeface="Arial" pitchFamily="34" charset="-122"/>
                <a:cs typeface="Arial" pitchFamily="34" charset="-120"/>
              </a:rPr>
              <a:t>5</a:t>
            </a:r>
            <a:endParaRPr lang="en-US" sz="1800" dirty="0"/>
          </a:p>
        </p:txBody>
      </p:sp>
      <p:sp>
        <p:nvSpPr>
          <p:cNvPr id="28" name="Text 26"/>
          <p:cNvSpPr txBox="1"/>
          <p:nvPr/>
        </p:nvSpPr>
        <p:spPr>
          <a:xfrm>
            <a:off x="8252765" y="2148840"/>
            <a:ext cx="1361389" cy="45720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Thực thi chỉ-đọc</a:t>
            </a:r>
            <a:endParaRPr lang="en-US" sz="1350" dirty="0"/>
          </a:p>
        </p:txBody>
      </p:sp>
      <p:sp>
        <p:nvSpPr>
          <p:cNvPr id="29" name="Text 27"/>
          <p:cNvSpPr txBox="1"/>
          <p:nvPr/>
        </p:nvSpPr>
        <p:spPr>
          <a:xfrm>
            <a:off x="8252765" y="2587752"/>
            <a:ext cx="1361389" cy="594360"/>
          </a:xfrm>
          <a:prstGeom prst="rect">
            <a:avLst/>
          </a:prstGeom>
          <a:noFill/>
          <a:ln/>
        </p:spPr>
        <p:txBody>
          <a:bodyPr wrap="square" lIns="0" tIns="0" rIns="0" bIns="0" rtlCol="0" anchor="t"/>
          <a:lstStyle/>
          <a:p>
            <a:pPr indent="0" marL="0">
              <a:buNone/>
            </a:pPr>
            <a:r>
              <a:rPr lang="en-US" sz="1050" dirty="0">
                <a:solidFill>
                  <a:srgbClr val="CFE3F5"/>
                </a:solidFill>
                <a:latin typeface="Arial" pitchFamily="34" charset="0"/>
                <a:ea typeface="Arial" pitchFamily="34" charset="-122"/>
                <a:cs typeface="Arial" pitchFamily="34" charset="-120"/>
              </a:rPr>
              <a:t>tài khoản CSDL riêng, ≤ 3 giây, ≤ 500 dòng</a:t>
            </a:r>
            <a:endParaRPr lang="en-US" sz="1050" dirty="0"/>
          </a:p>
        </p:txBody>
      </p:sp>
      <p:sp>
        <p:nvSpPr>
          <p:cNvPr id="30" name="Shape 28"/>
          <p:cNvSpPr/>
          <p:nvPr/>
        </p:nvSpPr>
        <p:spPr>
          <a:xfrm>
            <a:off x="9769602" y="2446020"/>
            <a:ext cx="219456" cy="0"/>
          </a:xfrm>
          <a:prstGeom prst="line">
            <a:avLst/>
          </a:prstGeom>
          <a:noFill/>
          <a:ln w="19050">
            <a:solidFill>
              <a:srgbClr val="BFD7EE"/>
            </a:solidFill>
            <a:prstDash val="solid"/>
            <a:tailEnd type="triangle"/>
          </a:ln>
        </p:spPr>
      </p:sp>
      <p:sp>
        <p:nvSpPr>
          <p:cNvPr id="31" name="Shape 29"/>
          <p:cNvSpPr/>
          <p:nvPr/>
        </p:nvSpPr>
        <p:spPr>
          <a:xfrm>
            <a:off x="10007346" y="1645920"/>
            <a:ext cx="1635709" cy="1600200"/>
          </a:xfrm>
          <a:prstGeom prst="roundRect">
            <a:avLst>
              <a:gd name="adj" fmla="val 4571"/>
            </a:avLst>
          </a:prstGeom>
          <a:solidFill>
            <a:srgbClr val="123A60"/>
          </a:solidFill>
          <a:ln w="12700">
            <a:solidFill>
              <a:srgbClr val="2A5680"/>
            </a:solidFill>
            <a:prstDash val="solid"/>
          </a:ln>
        </p:spPr>
      </p:sp>
      <p:sp>
        <p:nvSpPr>
          <p:cNvPr id="32" name="Text 30"/>
          <p:cNvSpPr txBox="1"/>
          <p:nvPr/>
        </p:nvSpPr>
        <p:spPr>
          <a:xfrm>
            <a:off x="10144506" y="1755648"/>
            <a:ext cx="457200" cy="365760"/>
          </a:xfrm>
          <a:prstGeom prst="rect">
            <a:avLst/>
          </a:prstGeom>
          <a:noFill/>
          <a:ln/>
        </p:spPr>
        <p:txBody>
          <a:bodyPr wrap="square" lIns="0" tIns="0" rIns="0" bIns="0" rtlCol="0" anchor="t"/>
          <a:lstStyle/>
          <a:p>
            <a:pPr indent="0" marL="0">
              <a:buNone/>
            </a:pPr>
            <a:r>
              <a:rPr lang="en-US" sz="1800" b="1" dirty="0">
                <a:solidFill>
                  <a:srgbClr val="BFD7EE"/>
                </a:solidFill>
                <a:latin typeface="Arial" pitchFamily="34" charset="0"/>
                <a:ea typeface="Arial" pitchFamily="34" charset="-122"/>
                <a:cs typeface="Arial" pitchFamily="34" charset="-120"/>
              </a:rPr>
              <a:t>6</a:t>
            </a:r>
            <a:endParaRPr lang="en-US" sz="1800" dirty="0"/>
          </a:p>
        </p:txBody>
      </p:sp>
      <p:sp>
        <p:nvSpPr>
          <p:cNvPr id="33" name="Text 31"/>
          <p:cNvSpPr txBox="1"/>
          <p:nvPr/>
        </p:nvSpPr>
        <p:spPr>
          <a:xfrm>
            <a:off x="10144506" y="2148840"/>
            <a:ext cx="1361389" cy="45720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Diễn giải</a:t>
            </a:r>
            <a:endParaRPr lang="en-US" sz="1350" dirty="0"/>
          </a:p>
        </p:txBody>
      </p:sp>
      <p:sp>
        <p:nvSpPr>
          <p:cNvPr id="34" name="Text 32"/>
          <p:cNvSpPr txBox="1"/>
          <p:nvPr/>
        </p:nvSpPr>
        <p:spPr>
          <a:xfrm>
            <a:off x="10144506" y="2587752"/>
            <a:ext cx="1361389" cy="594360"/>
          </a:xfrm>
          <a:prstGeom prst="rect">
            <a:avLst/>
          </a:prstGeom>
          <a:noFill/>
          <a:ln/>
        </p:spPr>
        <p:txBody>
          <a:bodyPr wrap="square" lIns="0" tIns="0" rIns="0" bIns="0" rtlCol="0" anchor="t"/>
          <a:lstStyle/>
          <a:p>
            <a:pPr indent="0" marL="0">
              <a:buNone/>
            </a:pPr>
            <a:r>
              <a:rPr lang="en-US" sz="1050" dirty="0">
                <a:solidFill>
                  <a:srgbClr val="CFE3F5"/>
                </a:solidFill>
                <a:latin typeface="Arial" pitchFamily="34" charset="0"/>
                <a:ea typeface="Arial" pitchFamily="34" charset="-122"/>
                <a:cs typeface="Arial" pitchFamily="34" charset="-120"/>
              </a:rPr>
              <a:t>LLM tóm tắt tiếng Việt, chọn biểu đồ</a:t>
            </a:r>
            <a:endParaRPr lang="en-US" sz="1050" dirty="0"/>
          </a:p>
        </p:txBody>
      </p:sp>
      <p:sp>
        <p:nvSpPr>
          <p:cNvPr id="35" name="Text 33"/>
          <p:cNvSpPr txBox="1"/>
          <p:nvPr/>
        </p:nvSpPr>
        <p:spPr>
          <a:xfrm>
            <a:off x="548640" y="3337560"/>
            <a:ext cx="11094415" cy="320040"/>
          </a:xfrm>
          <a:prstGeom prst="rect">
            <a:avLst/>
          </a:prstGeom>
          <a:noFill/>
          <a:ln/>
        </p:spPr>
        <p:txBody>
          <a:bodyPr wrap="square" lIns="0" tIns="0" rIns="0" bIns="0" rtlCol="0" anchor="t"/>
          <a:lstStyle/>
          <a:p>
            <a:pPr indent="0" marL="0">
              <a:buNone/>
            </a:pPr>
            <a:r>
              <a:rPr lang="en-US" sz="1200" i="1" dirty="0">
                <a:solidFill>
                  <a:srgbClr val="BFD7EE"/>
                </a:solidFill>
                <a:latin typeface="Arial" pitchFamily="34" charset="0"/>
                <a:ea typeface="Arial" pitchFamily="34" charset="-122"/>
                <a:cs typeface="Arial" pitchFamily="34" charset="-120"/>
              </a:rPr>
              <a:t>SQL không hợp lệ hoặc lỗi → sinh lại, tối đa 2 lần; sau đó dừng và báo người dùng diễn đạt lại.</a:t>
            </a:r>
            <a:endParaRPr lang="en-US" sz="1200" dirty="0"/>
          </a:p>
        </p:txBody>
      </p:sp>
      <p:sp>
        <p:nvSpPr>
          <p:cNvPr id="36" name="Text 34"/>
          <p:cNvSpPr txBox="1"/>
          <p:nvPr/>
        </p:nvSpPr>
        <p:spPr>
          <a:xfrm>
            <a:off x="548640" y="3931920"/>
            <a:ext cx="3657600" cy="274320"/>
          </a:xfrm>
          <a:prstGeom prst="rect">
            <a:avLst/>
          </a:prstGeom>
          <a:noFill/>
          <a:ln/>
        </p:spPr>
        <p:txBody>
          <a:bodyPr wrap="square" lIns="0" tIns="0" rIns="0" bIns="0" rtlCol="0" anchor="t"/>
          <a:lstStyle/>
          <a:p>
            <a:pPr indent="0" marL="0">
              <a:buNone/>
            </a:pPr>
            <a:r>
              <a:rPr lang="en-US" sz="1000" b="1" spc="200" kern="0" dirty="0">
                <a:solidFill>
                  <a:srgbClr val="BFD7EE"/>
                </a:solidFill>
                <a:latin typeface="Arial" pitchFamily="34" charset="0"/>
                <a:ea typeface="Arial" pitchFamily="34" charset="-122"/>
                <a:cs typeface="Arial" pitchFamily="34" charset="-120"/>
              </a:rPr>
              <a:t>VÍ DỤ MINH HỌA</a:t>
            </a:r>
            <a:endParaRPr lang="en-US" sz="1000" dirty="0"/>
          </a:p>
        </p:txBody>
      </p:sp>
      <p:sp>
        <p:nvSpPr>
          <p:cNvPr id="37" name="Shape 35"/>
          <p:cNvSpPr/>
          <p:nvPr/>
        </p:nvSpPr>
        <p:spPr>
          <a:xfrm>
            <a:off x="548640" y="4251960"/>
            <a:ext cx="3017520" cy="1783080"/>
          </a:xfrm>
          <a:prstGeom prst="roundRect">
            <a:avLst>
              <a:gd name="adj" fmla="val 5128"/>
            </a:avLst>
          </a:prstGeom>
          <a:solidFill>
            <a:srgbClr val="0A6EBD"/>
          </a:solidFill>
          <a:ln/>
        </p:spPr>
      </p:sp>
      <p:sp>
        <p:nvSpPr>
          <p:cNvPr id="38" name="Text 36"/>
          <p:cNvSpPr txBox="1"/>
          <p:nvPr/>
        </p:nvSpPr>
        <p:spPr>
          <a:xfrm>
            <a:off x="731520" y="4251960"/>
            <a:ext cx="2651760" cy="178308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“Doanh thu 7 ngày gần nhất theo từng ngày?”</a:t>
            </a:r>
            <a:endParaRPr lang="en-US" sz="1500" dirty="0"/>
          </a:p>
        </p:txBody>
      </p:sp>
      <p:sp>
        <p:nvSpPr>
          <p:cNvPr id="39" name="Shape 37"/>
          <p:cNvSpPr/>
          <p:nvPr/>
        </p:nvSpPr>
        <p:spPr>
          <a:xfrm>
            <a:off x="3611880" y="5138928"/>
            <a:ext cx="365760" cy="0"/>
          </a:xfrm>
          <a:prstGeom prst="line">
            <a:avLst/>
          </a:prstGeom>
          <a:noFill/>
          <a:ln w="19050">
            <a:solidFill>
              <a:srgbClr val="BFD7EE"/>
            </a:solidFill>
            <a:prstDash val="solid"/>
            <a:tailEnd type="triangle"/>
          </a:ln>
        </p:spPr>
      </p:sp>
      <p:sp>
        <p:nvSpPr>
          <p:cNvPr id="40" name="Shape 38"/>
          <p:cNvSpPr/>
          <p:nvPr/>
        </p:nvSpPr>
        <p:spPr>
          <a:xfrm>
            <a:off x="4023360" y="4251960"/>
            <a:ext cx="3977640" cy="1783080"/>
          </a:xfrm>
          <a:prstGeom prst="roundRect">
            <a:avLst>
              <a:gd name="adj" fmla="val 3077"/>
            </a:avLst>
          </a:prstGeom>
          <a:solidFill>
            <a:srgbClr val="0A2440"/>
          </a:solidFill>
          <a:ln w="12700">
            <a:solidFill>
              <a:srgbClr val="2A5680"/>
            </a:solidFill>
            <a:prstDash val="solid"/>
          </a:ln>
        </p:spPr>
      </p:sp>
      <p:sp>
        <p:nvSpPr>
          <p:cNvPr id="41" name="Text 39"/>
          <p:cNvSpPr txBox="1"/>
          <p:nvPr/>
        </p:nvSpPr>
        <p:spPr>
          <a:xfrm>
            <a:off x="4206240" y="4370832"/>
            <a:ext cx="3657600" cy="1554480"/>
          </a:xfrm>
          <a:prstGeom prst="rect">
            <a:avLst/>
          </a:prstGeom>
          <a:noFill/>
          <a:ln/>
        </p:spPr>
        <p:txBody>
          <a:bodyPr wrap="square" lIns="0" tIns="0" rIns="0" bIns="0" rtlCol="0" anchor="t"/>
          <a:lstStyle/>
          <a:p>
            <a:pPr indent="0" marL="0">
              <a:buNone/>
            </a:pPr>
            <a:r>
              <a:rPr lang="en-US" sz="1100" dirty="0">
                <a:solidFill>
                  <a:srgbClr val="CFE3F5"/>
                </a:solidFill>
                <a:latin typeface="Courier New" pitchFamily="34" charset="0"/>
                <a:ea typeface="Courier New" pitchFamily="34" charset="-122"/>
                <a:cs typeface="Courier New" pitchFamily="34" charset="-120"/>
              </a:rPr>
              <a:t>SELECT BusinessDate,</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       SUM(TongTien) AS DoanhThu</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FROM vw_ai_quanly</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WHERE BusinessDate &gt;= CURDATE() - 7</a:t>
            </a:r>
            <a:endParaRPr lang="en-US" sz="1100" dirty="0"/>
          </a:p>
          <a:p>
            <a:pPr indent="0" marL="0">
              <a:buNone/>
            </a:pPr>
            <a:r>
              <a:rPr lang="en-US" sz="1100" dirty="0">
                <a:solidFill>
                  <a:srgbClr val="CFE3F5"/>
                </a:solidFill>
                <a:latin typeface="Courier New" pitchFamily="34" charset="0"/>
                <a:ea typeface="Courier New" pitchFamily="34" charset="-122"/>
                <a:cs typeface="Courier New" pitchFamily="34" charset="-120"/>
              </a:rPr>
              <a:t>GROUP BY BusinessDate</a:t>
            </a:r>
            <a:endParaRPr lang="en-US" sz="1100" dirty="0"/>
          </a:p>
        </p:txBody>
      </p:sp>
      <p:sp>
        <p:nvSpPr>
          <p:cNvPr id="42" name="Shape 40"/>
          <p:cNvSpPr/>
          <p:nvPr/>
        </p:nvSpPr>
        <p:spPr>
          <a:xfrm>
            <a:off x="8046720" y="5138928"/>
            <a:ext cx="365760" cy="0"/>
          </a:xfrm>
          <a:prstGeom prst="line">
            <a:avLst/>
          </a:prstGeom>
          <a:noFill/>
          <a:ln w="19050">
            <a:solidFill>
              <a:srgbClr val="BFD7EE"/>
            </a:solidFill>
            <a:prstDash val="solid"/>
            <a:tailEnd type="triangle"/>
          </a:ln>
        </p:spPr>
      </p:sp>
      <p:sp>
        <p:nvSpPr>
          <p:cNvPr id="43" name="Shape 41"/>
          <p:cNvSpPr/>
          <p:nvPr/>
        </p:nvSpPr>
        <p:spPr>
          <a:xfrm>
            <a:off x="8458200" y="4251960"/>
            <a:ext cx="3184855" cy="1783080"/>
          </a:xfrm>
          <a:prstGeom prst="roundRect">
            <a:avLst>
              <a:gd name="adj" fmla="val 5128"/>
            </a:avLst>
          </a:prstGeom>
          <a:solidFill>
            <a:srgbClr val="FFFFFF"/>
          </a:solidFill>
          <a:ln/>
        </p:spPr>
      </p:sp>
      <p:sp>
        <p:nvSpPr>
          <p:cNvPr id="44" name="Text 42"/>
          <p:cNvSpPr txBox="1"/>
          <p:nvPr/>
        </p:nvSpPr>
        <p:spPr>
          <a:xfrm>
            <a:off x="8641080" y="4343400"/>
            <a:ext cx="2819095" cy="1645920"/>
          </a:xfrm>
          <a:prstGeom prst="rect">
            <a:avLst/>
          </a:prstGeom>
          <a:noFill/>
          <a:ln/>
        </p:spPr>
        <p:txBody>
          <a:bodyPr wrap="square" lIns="0" tIns="0" rIns="0" bIns="0" rtlCol="0" anchor="t"/>
          <a:lstStyle/>
          <a:p>
            <a:pPr indent="0" marL="0">
              <a:spcAft>
                <a:spcPts val="200"/>
              </a:spcAft>
              <a:buNone/>
            </a:pPr>
            <a:r>
              <a:rPr lang="en-US" sz="1150" b="1" dirty="0">
                <a:solidFill>
                  <a:srgbClr val="0B2E4F"/>
                </a:solidFill>
                <a:latin typeface="Arial" pitchFamily="34" charset="0"/>
                <a:ea typeface="Arial" pitchFamily="34" charset="-122"/>
                <a:cs typeface="Arial" pitchFamily="34" charset="-120"/>
              </a:rPr>
              <a:t>Câu trả lời gồm</a:t>
            </a:r>
            <a:endParaRPr lang="en-US" sz="1150" dirty="0"/>
          </a:p>
          <a:p>
            <a:pPr marL="152400" indent="-152400">
              <a:spcAft>
                <a:spcPts val="200"/>
              </a:spcAft>
              <a:buSzPct val="100000"/>
              <a:buChar char="•"/>
            </a:pPr>
            <a:r>
              <a:rPr lang="en-US" sz="1150" dirty="0">
                <a:solidFill>
                  <a:srgbClr val="1F2933"/>
                </a:solidFill>
                <a:latin typeface="Arial" pitchFamily="34" charset="0"/>
                <a:ea typeface="Arial" pitchFamily="34" charset="-122"/>
                <a:cs typeface="Arial" pitchFamily="34" charset="-120"/>
              </a:rPr>
              <a:t>Tóm tắt bằng tiếng Việt</a:t>
            </a:r>
            <a:endParaRPr lang="en-US" sz="1150" dirty="0"/>
          </a:p>
          <a:p>
            <a:pPr marL="152400" indent="-152400">
              <a:spcAft>
                <a:spcPts val="200"/>
              </a:spcAft>
              <a:buSzPct val="100000"/>
              <a:buChar char="•"/>
            </a:pPr>
            <a:r>
              <a:rPr lang="en-US" sz="1150" dirty="0">
                <a:solidFill>
                  <a:srgbClr val="1F2933"/>
                </a:solidFill>
                <a:latin typeface="Arial" pitchFamily="34" charset="0"/>
                <a:ea typeface="Arial" pitchFamily="34" charset="-122"/>
                <a:cs typeface="Arial" pitchFamily="34" charset="-120"/>
              </a:rPr>
              <a:t>Bảng số liệu gốc</a:t>
            </a:r>
            <a:endParaRPr lang="en-US" sz="1150" dirty="0"/>
          </a:p>
          <a:p>
            <a:pPr marL="152400" indent="-152400">
              <a:spcAft>
                <a:spcPts val="200"/>
              </a:spcAft>
              <a:buSzPct val="100000"/>
              <a:buChar char="•"/>
            </a:pPr>
            <a:r>
              <a:rPr lang="en-US" sz="1150" dirty="0">
                <a:solidFill>
                  <a:srgbClr val="1F2933"/>
                </a:solidFill>
                <a:latin typeface="Arial" pitchFamily="34" charset="0"/>
                <a:ea typeface="Arial" pitchFamily="34" charset="-122"/>
                <a:cs typeface="Arial" pitchFamily="34" charset="-120"/>
              </a:rPr>
              <a:t>Biểu đồ đường (dữ liệu theo thời gian)</a:t>
            </a:r>
            <a:endParaRPr lang="en-US" sz="1150" dirty="0"/>
          </a:p>
          <a:p>
            <a:pPr marL="152400" indent="-152400">
              <a:spcAft>
                <a:spcPts val="200"/>
              </a:spcAft>
              <a:buSzPct val="100000"/>
              <a:buChar char="•"/>
            </a:pPr>
            <a:r>
              <a:rPr lang="en-US" sz="1150" dirty="0">
                <a:solidFill>
                  <a:srgbClr val="1F2933"/>
                </a:solidFill>
                <a:latin typeface="Arial" pitchFamily="34" charset="0"/>
                <a:ea typeface="Arial" pitchFamily="34" charset="-122"/>
                <a:cs typeface="Arial" pitchFamily="34" charset="-120"/>
              </a:rPr>
              <a:t>Mục “Xem chi tiết”: câu SQL đã chạy</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04  THIẾT KẾ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AI an toàn nhờ nhiều lớp kiểm soát độc lập</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17 / 22</a:t>
            </a:r>
            <a:endParaRPr lang="en-US" sz="900" dirty="0"/>
          </a:p>
        </p:txBody>
      </p:sp>
      <p:sp>
        <p:nvSpPr>
          <p:cNvPr id="6" name="Shape 4"/>
          <p:cNvSpPr/>
          <p:nvPr/>
        </p:nvSpPr>
        <p:spPr>
          <a:xfrm>
            <a:off x="548640" y="1508760"/>
            <a:ext cx="6309360" cy="4709160"/>
          </a:xfrm>
          <a:prstGeom prst="rect">
            <a:avLst/>
          </a:prstGeom>
          <a:solidFill>
            <a:srgbClr val="F3F6F9"/>
          </a:solidFill>
          <a:ln w="9525">
            <a:solidFill>
              <a:srgbClr val="0A6EBD"/>
            </a:solidFill>
            <a:prstDash val="solid"/>
          </a:ln>
        </p:spPr>
      </p:sp>
      <p:sp>
        <p:nvSpPr>
          <p:cNvPr id="7" name="Text 5"/>
          <p:cNvSpPr txBox="1"/>
          <p:nvPr/>
        </p:nvSpPr>
        <p:spPr>
          <a:xfrm>
            <a:off x="777240" y="1645920"/>
            <a:ext cx="5852160" cy="320040"/>
          </a:xfrm>
          <a:prstGeom prst="rect">
            <a:avLst/>
          </a:prstGeom>
          <a:noFill/>
          <a:ln/>
        </p:spPr>
        <p:txBody>
          <a:bodyPr wrap="square" lIns="0" tIns="0" rIns="0" bIns="0" rtlCol="0" anchor="t"/>
          <a:lstStyle/>
          <a:p>
            <a:pPr indent="0" marL="0">
              <a:buNone/>
            </a:pPr>
            <a:r>
              <a:rPr lang="en-US" sz="1350" b="1" dirty="0">
                <a:solidFill>
                  <a:srgbClr val="0B2E4F"/>
                </a:solidFill>
                <a:latin typeface="Arial" pitchFamily="34" charset="0"/>
                <a:ea typeface="Arial" pitchFamily="34" charset="-122"/>
                <a:cs typeface="Arial" pitchFamily="34" charset="-120"/>
              </a:rPr>
              <a:t>Tài khoản CSDL chỉ-đọc, riêng từng vai trò</a:t>
            </a:r>
            <a:endParaRPr lang="en-US" sz="1350" dirty="0"/>
          </a:p>
        </p:txBody>
      </p:sp>
      <p:sp>
        <p:nvSpPr>
          <p:cNvPr id="8" name="Text 6"/>
          <p:cNvSpPr txBox="1"/>
          <p:nvPr/>
        </p:nvSpPr>
        <p:spPr>
          <a:xfrm>
            <a:off x="777240" y="1965960"/>
            <a:ext cx="585216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chỉ được GRANT SELECT trên đúng view của vai trò, không dùng chung</a:t>
            </a:r>
            <a:endParaRPr lang="en-US" sz="1100" dirty="0"/>
          </a:p>
        </p:txBody>
      </p:sp>
      <p:sp>
        <p:nvSpPr>
          <p:cNvPr id="9" name="Shape 7"/>
          <p:cNvSpPr/>
          <p:nvPr/>
        </p:nvSpPr>
        <p:spPr>
          <a:xfrm>
            <a:off x="960120" y="2560320"/>
            <a:ext cx="5486400" cy="3520440"/>
          </a:xfrm>
          <a:prstGeom prst="rect">
            <a:avLst/>
          </a:prstGeom>
          <a:solidFill>
            <a:srgbClr val="E8F1FA"/>
          </a:solidFill>
          <a:ln w="9525">
            <a:solidFill>
              <a:srgbClr val="0A6EBD"/>
            </a:solidFill>
            <a:prstDash val="solid"/>
          </a:ln>
        </p:spPr>
      </p:sp>
      <p:sp>
        <p:nvSpPr>
          <p:cNvPr id="10" name="Text 8"/>
          <p:cNvSpPr txBox="1"/>
          <p:nvPr/>
        </p:nvSpPr>
        <p:spPr>
          <a:xfrm>
            <a:off x="1188720" y="2697480"/>
            <a:ext cx="5029200" cy="320040"/>
          </a:xfrm>
          <a:prstGeom prst="rect">
            <a:avLst/>
          </a:prstGeom>
          <a:noFill/>
          <a:ln/>
        </p:spPr>
        <p:txBody>
          <a:bodyPr wrap="square" lIns="0" tIns="0" rIns="0" bIns="0" rtlCol="0" anchor="t"/>
          <a:lstStyle/>
          <a:p>
            <a:pPr indent="0" marL="0">
              <a:buNone/>
            </a:pPr>
            <a:r>
              <a:rPr lang="en-US" sz="1350" b="1" dirty="0">
                <a:solidFill>
                  <a:srgbClr val="0B2E4F"/>
                </a:solidFill>
                <a:latin typeface="Arial" pitchFamily="34" charset="0"/>
                <a:ea typeface="Arial" pitchFamily="34" charset="-122"/>
                <a:cs typeface="Arial" pitchFamily="34" charset="-120"/>
              </a:rPr>
              <a:t>View theo vai trò</a:t>
            </a:r>
            <a:endParaRPr lang="en-US" sz="1350" dirty="0"/>
          </a:p>
        </p:txBody>
      </p:sp>
      <p:sp>
        <p:nvSpPr>
          <p:cNvPr id="11" name="Text 9"/>
          <p:cNvSpPr txBox="1"/>
          <p:nvPr/>
        </p:nvSpPr>
        <p:spPr>
          <a:xfrm>
            <a:off x="1188720" y="3017520"/>
            <a:ext cx="502920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vw_ai_quanly · vw_ai_thungan · vw_ai_kho; view của Bếp không có doanh thu, giá vốn</a:t>
            </a:r>
            <a:endParaRPr lang="en-US" sz="1100" dirty="0"/>
          </a:p>
        </p:txBody>
      </p:sp>
      <p:sp>
        <p:nvSpPr>
          <p:cNvPr id="12" name="Shape 10"/>
          <p:cNvSpPr/>
          <p:nvPr/>
        </p:nvSpPr>
        <p:spPr>
          <a:xfrm>
            <a:off x="1371600" y="3611880"/>
            <a:ext cx="4663440" cy="2331720"/>
          </a:xfrm>
          <a:prstGeom prst="rect">
            <a:avLst/>
          </a:prstGeom>
          <a:solidFill>
            <a:srgbClr val="BFD7EE"/>
          </a:solidFill>
          <a:ln w="9525">
            <a:solidFill>
              <a:srgbClr val="0A6EBD"/>
            </a:solidFill>
            <a:prstDash val="solid"/>
          </a:ln>
        </p:spPr>
      </p:sp>
      <p:sp>
        <p:nvSpPr>
          <p:cNvPr id="13" name="Text 11"/>
          <p:cNvSpPr txBox="1"/>
          <p:nvPr/>
        </p:nvSpPr>
        <p:spPr>
          <a:xfrm>
            <a:off x="1600200" y="3749040"/>
            <a:ext cx="4206240" cy="320040"/>
          </a:xfrm>
          <a:prstGeom prst="rect">
            <a:avLst/>
          </a:prstGeom>
          <a:noFill/>
          <a:ln/>
        </p:spPr>
        <p:txBody>
          <a:bodyPr wrap="square" lIns="0" tIns="0" rIns="0" bIns="0" rtlCol="0" anchor="t"/>
          <a:lstStyle/>
          <a:p>
            <a:pPr indent="0" marL="0">
              <a:buNone/>
            </a:pPr>
            <a:r>
              <a:rPr lang="en-US" sz="1350" b="1" dirty="0">
                <a:solidFill>
                  <a:srgbClr val="0B2E4F"/>
                </a:solidFill>
                <a:latin typeface="Arial" pitchFamily="34" charset="0"/>
                <a:ea typeface="Arial" pitchFamily="34" charset="-122"/>
                <a:cs typeface="Arial" pitchFamily="34" charset="-120"/>
              </a:rPr>
              <a:t>Kiểm duyệt SQL bằng sqlglot</a:t>
            </a:r>
            <a:endParaRPr lang="en-US" sz="1350" dirty="0"/>
          </a:p>
        </p:txBody>
      </p:sp>
      <p:sp>
        <p:nvSpPr>
          <p:cNvPr id="14" name="Text 12"/>
          <p:cNvSpPr txBox="1"/>
          <p:nvPr/>
        </p:nvSpPr>
        <p:spPr>
          <a:xfrm>
            <a:off x="1600200" y="4069080"/>
            <a:ext cx="420624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chỉ một câu SELECT, chỉ tham chiếu view được phép</a:t>
            </a:r>
            <a:endParaRPr lang="en-US" sz="1100" dirty="0"/>
          </a:p>
        </p:txBody>
      </p:sp>
      <p:sp>
        <p:nvSpPr>
          <p:cNvPr id="15" name="Shape 13"/>
          <p:cNvSpPr/>
          <p:nvPr/>
        </p:nvSpPr>
        <p:spPr>
          <a:xfrm>
            <a:off x="1783080" y="4663440"/>
            <a:ext cx="3840480" cy="1143000"/>
          </a:xfrm>
          <a:prstGeom prst="rect">
            <a:avLst/>
          </a:prstGeom>
          <a:solidFill>
            <a:srgbClr val="0B2E4F"/>
          </a:solidFill>
          <a:ln w="9525">
            <a:solidFill>
              <a:srgbClr val="0B2E4F"/>
            </a:solidFill>
            <a:prstDash val="solid"/>
          </a:ln>
        </p:spPr>
      </p:sp>
      <p:sp>
        <p:nvSpPr>
          <p:cNvPr id="16" name="Text 14"/>
          <p:cNvSpPr txBox="1"/>
          <p:nvPr/>
        </p:nvSpPr>
        <p:spPr>
          <a:xfrm>
            <a:off x="2011680" y="4800600"/>
            <a:ext cx="3383280" cy="32004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Giới hạn thực thi</a:t>
            </a:r>
            <a:endParaRPr lang="en-US" sz="1350" dirty="0"/>
          </a:p>
        </p:txBody>
      </p:sp>
      <p:sp>
        <p:nvSpPr>
          <p:cNvPr id="17" name="Text 15"/>
          <p:cNvSpPr txBox="1"/>
          <p:nvPr/>
        </p:nvSpPr>
        <p:spPr>
          <a:xfrm>
            <a:off x="2011680" y="5120640"/>
            <a:ext cx="3383280" cy="457200"/>
          </a:xfrm>
          <a:prstGeom prst="rect">
            <a:avLst/>
          </a:prstGeom>
          <a:noFill/>
          <a:ln/>
        </p:spPr>
        <p:txBody>
          <a:bodyPr wrap="square" lIns="0" tIns="0" rIns="0" bIns="0" rtlCol="0" anchor="t"/>
          <a:lstStyle/>
          <a:p>
            <a:pPr indent="0" marL="0">
              <a:buNone/>
            </a:pPr>
            <a:r>
              <a:rPr lang="en-US" sz="1100" dirty="0">
                <a:solidFill>
                  <a:srgbClr val="CFE3F5"/>
                </a:solidFill>
                <a:latin typeface="Arial" pitchFamily="34" charset="0"/>
                <a:ea typeface="Arial" pitchFamily="34" charset="-122"/>
                <a:cs typeface="Arial" pitchFamily="34" charset="-120"/>
              </a:rPr>
              <a:t>2 lần sinh SQL · 3 giây · 500 dòng · 50 câu/người/ngày</a:t>
            </a:r>
            <a:endParaRPr lang="en-US" sz="1100" dirty="0"/>
          </a:p>
        </p:txBody>
      </p:sp>
      <p:sp>
        <p:nvSpPr>
          <p:cNvPr id="18" name="Text 16"/>
          <p:cNvSpPr txBox="1"/>
          <p:nvPr/>
        </p:nvSpPr>
        <p:spPr>
          <a:xfrm>
            <a:off x="7315200" y="1508760"/>
            <a:ext cx="4327855" cy="36576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Rủi ro và cách đề tài xử lý</a:t>
            </a:r>
            <a:endParaRPr lang="en-US" sz="1500" dirty="0"/>
          </a:p>
        </p:txBody>
      </p:sp>
      <p:sp>
        <p:nvSpPr>
          <p:cNvPr id="19" name="Text 17"/>
          <p:cNvSpPr txBox="1"/>
          <p:nvPr/>
        </p:nvSpPr>
        <p:spPr>
          <a:xfrm>
            <a:off x="7315200" y="1965960"/>
            <a:ext cx="4327855" cy="292608"/>
          </a:xfrm>
          <a:prstGeom prst="rect">
            <a:avLst/>
          </a:prstGeom>
          <a:noFill/>
          <a:ln/>
        </p:spPr>
        <p:txBody>
          <a:bodyPr wrap="square" lIns="0" tIns="0" rIns="0" bIns="0" rtlCol="0" anchor="t"/>
          <a:lstStyle/>
          <a:p>
            <a:pPr indent="0" marL="0">
              <a:buNone/>
            </a:pPr>
            <a:r>
              <a:rPr lang="en-US" sz="1250" b="1" dirty="0">
                <a:solidFill>
                  <a:srgbClr val="E8590C"/>
                </a:solidFill>
                <a:latin typeface="Arial" pitchFamily="34" charset="0"/>
                <a:ea typeface="Arial" pitchFamily="34" charset="-122"/>
                <a:cs typeface="Arial" pitchFamily="34" charset="-120"/>
              </a:rPr>
              <a:t>LLM sinh lệnh sửa, xóa dữ liệu</a:t>
            </a:r>
            <a:endParaRPr lang="en-US" sz="1250" dirty="0"/>
          </a:p>
        </p:txBody>
      </p:sp>
      <p:sp>
        <p:nvSpPr>
          <p:cNvPr id="20" name="Text 18"/>
          <p:cNvSpPr txBox="1"/>
          <p:nvPr/>
        </p:nvSpPr>
        <p:spPr>
          <a:xfrm>
            <a:off x="7315200" y="2267712"/>
            <a:ext cx="4327855" cy="475488"/>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Chỉ chấp nhận SELECT; tài khoản vốn không có quyền ghi.</a:t>
            </a:r>
            <a:endParaRPr lang="en-US" sz="1150" dirty="0"/>
          </a:p>
        </p:txBody>
      </p:sp>
      <p:sp>
        <p:nvSpPr>
          <p:cNvPr id="21" name="Text 19"/>
          <p:cNvSpPr txBox="1"/>
          <p:nvPr/>
        </p:nvSpPr>
        <p:spPr>
          <a:xfrm>
            <a:off x="7315200" y="2816352"/>
            <a:ext cx="4327855" cy="292608"/>
          </a:xfrm>
          <a:prstGeom prst="rect">
            <a:avLst/>
          </a:prstGeom>
          <a:noFill/>
          <a:ln/>
        </p:spPr>
        <p:txBody>
          <a:bodyPr wrap="square" lIns="0" tIns="0" rIns="0" bIns="0" rtlCol="0" anchor="t"/>
          <a:lstStyle/>
          <a:p>
            <a:pPr indent="0" marL="0">
              <a:buNone/>
            </a:pPr>
            <a:r>
              <a:rPr lang="en-US" sz="1250" b="1" dirty="0">
                <a:solidFill>
                  <a:srgbClr val="E8590C"/>
                </a:solidFill>
                <a:latin typeface="Arial" pitchFamily="34" charset="0"/>
                <a:ea typeface="Arial" pitchFamily="34" charset="-122"/>
                <a:cs typeface="Arial" pitchFamily="34" charset="-120"/>
              </a:rPr>
              <a:t>Người dùng hỏi vượt quyền</a:t>
            </a:r>
            <a:endParaRPr lang="en-US" sz="1250" dirty="0"/>
          </a:p>
        </p:txBody>
      </p:sp>
      <p:sp>
        <p:nvSpPr>
          <p:cNvPr id="22" name="Text 20"/>
          <p:cNvSpPr txBox="1"/>
          <p:nvPr/>
        </p:nvSpPr>
        <p:spPr>
          <a:xfrm>
            <a:off x="7315200" y="3118104"/>
            <a:ext cx="4327855" cy="475488"/>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View riêng theo vai trò; ghi nhật ký toàn bộ câu hỏi và SQL.</a:t>
            </a:r>
            <a:endParaRPr lang="en-US" sz="1150" dirty="0"/>
          </a:p>
        </p:txBody>
      </p:sp>
      <p:sp>
        <p:nvSpPr>
          <p:cNvPr id="23" name="Text 21"/>
          <p:cNvSpPr txBox="1"/>
          <p:nvPr/>
        </p:nvSpPr>
        <p:spPr>
          <a:xfrm>
            <a:off x="7315200" y="3666744"/>
            <a:ext cx="4327855" cy="292608"/>
          </a:xfrm>
          <a:prstGeom prst="rect">
            <a:avLst/>
          </a:prstGeom>
          <a:noFill/>
          <a:ln/>
        </p:spPr>
        <p:txBody>
          <a:bodyPr wrap="square" lIns="0" tIns="0" rIns="0" bIns="0" rtlCol="0" anchor="t"/>
          <a:lstStyle/>
          <a:p>
            <a:pPr indent="0" marL="0">
              <a:buNone/>
            </a:pPr>
            <a:r>
              <a:rPr lang="en-US" sz="1250" b="1" dirty="0">
                <a:solidFill>
                  <a:srgbClr val="E8590C"/>
                </a:solidFill>
                <a:latin typeface="Arial" pitchFamily="34" charset="0"/>
                <a:ea typeface="Arial" pitchFamily="34" charset="-122"/>
                <a:cs typeface="Arial" pitchFamily="34" charset="-120"/>
              </a:rPr>
              <a:t>LLM diễn giải sai số liệu</a:t>
            </a:r>
            <a:endParaRPr lang="en-US" sz="1250" dirty="0"/>
          </a:p>
        </p:txBody>
      </p:sp>
      <p:sp>
        <p:nvSpPr>
          <p:cNvPr id="24" name="Text 22"/>
          <p:cNvSpPr txBox="1"/>
          <p:nvPr/>
        </p:nvSpPr>
        <p:spPr>
          <a:xfrm>
            <a:off x="7315200" y="3968496"/>
            <a:ext cx="4327855" cy="475488"/>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Luôn kèm bảng số liệu gốc và câu SQL để đối chiếu.</a:t>
            </a:r>
            <a:endParaRPr lang="en-US" sz="1150" dirty="0"/>
          </a:p>
        </p:txBody>
      </p:sp>
      <p:sp>
        <p:nvSpPr>
          <p:cNvPr id="25" name="Text 23"/>
          <p:cNvSpPr txBox="1"/>
          <p:nvPr/>
        </p:nvSpPr>
        <p:spPr>
          <a:xfrm>
            <a:off x="7315200" y="4517136"/>
            <a:ext cx="4327855" cy="292608"/>
          </a:xfrm>
          <a:prstGeom prst="rect">
            <a:avLst/>
          </a:prstGeom>
          <a:noFill/>
          <a:ln/>
        </p:spPr>
        <p:txBody>
          <a:bodyPr wrap="square" lIns="0" tIns="0" rIns="0" bIns="0" rtlCol="0" anchor="t"/>
          <a:lstStyle/>
          <a:p>
            <a:pPr indent="0" marL="0">
              <a:buNone/>
            </a:pPr>
            <a:r>
              <a:rPr lang="en-US" sz="1250" b="1" dirty="0">
                <a:solidFill>
                  <a:srgbClr val="E8590C"/>
                </a:solidFill>
                <a:latin typeface="Arial" pitchFamily="34" charset="0"/>
                <a:ea typeface="Arial" pitchFamily="34" charset="-122"/>
                <a:cs typeface="Arial" pitchFamily="34" charset="-120"/>
              </a:rPr>
              <a:t>Lộ dữ liệu qua API bên ngoài</a:t>
            </a:r>
            <a:endParaRPr lang="en-US" sz="1250" dirty="0"/>
          </a:p>
        </p:txBody>
      </p:sp>
      <p:sp>
        <p:nvSpPr>
          <p:cNvPr id="26" name="Text 24"/>
          <p:cNvSpPr txBox="1"/>
          <p:nvPr/>
        </p:nvSpPr>
        <p:spPr>
          <a:xfrm>
            <a:off x="7315200" y="4818888"/>
            <a:ext cx="4327855" cy="475488"/>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Chỉ gửi lược đồ và kết quả tổng hợp; có mô hình tại chỗ dự phòng.</a:t>
            </a:r>
            <a:endParaRPr lang="en-US" sz="1150" dirty="0"/>
          </a:p>
        </p:txBody>
      </p:sp>
      <p:sp>
        <p:nvSpPr>
          <p:cNvPr id="27" name="Text 25"/>
          <p:cNvSpPr txBox="1"/>
          <p:nvPr/>
        </p:nvSpPr>
        <p:spPr>
          <a:xfrm>
            <a:off x="7315200" y="5367528"/>
            <a:ext cx="4327855" cy="292608"/>
          </a:xfrm>
          <a:prstGeom prst="rect">
            <a:avLst/>
          </a:prstGeom>
          <a:noFill/>
          <a:ln/>
        </p:spPr>
        <p:txBody>
          <a:bodyPr wrap="square" lIns="0" tIns="0" rIns="0" bIns="0" rtlCol="0" anchor="t"/>
          <a:lstStyle/>
          <a:p>
            <a:pPr indent="0" marL="0">
              <a:buNone/>
            </a:pPr>
            <a:r>
              <a:rPr lang="en-US" sz="1250" b="1" dirty="0">
                <a:solidFill>
                  <a:srgbClr val="E8590C"/>
                </a:solidFill>
                <a:latin typeface="Arial" pitchFamily="34" charset="0"/>
                <a:ea typeface="Arial" pitchFamily="34" charset="-122"/>
                <a:cs typeface="Arial" pitchFamily="34" charset="-120"/>
              </a:rPr>
              <a:t>Chi phí API tăng</a:t>
            </a:r>
            <a:endParaRPr lang="en-US" sz="1250" dirty="0"/>
          </a:p>
        </p:txBody>
      </p:sp>
      <p:sp>
        <p:nvSpPr>
          <p:cNvPr id="28" name="Text 26"/>
          <p:cNvSpPr txBox="1"/>
          <p:nvPr/>
        </p:nvSpPr>
        <p:spPr>
          <a:xfrm>
            <a:off x="7315200" y="5669280"/>
            <a:ext cx="4327855" cy="475488"/>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Hạn mức câu hỏi mỗi ngày, cache câu hỏi lặp lại.</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04  THIẾT KẾ HỆ THỐNG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Phân quyền theo vai trò</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18 / 22</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863840" cy="914400"/>
        </p:xfrm>
        <a:graphic>
          <a:graphicData uri="http://schemas.openxmlformats.org/drawingml/2006/table">
            <a:tbl>
              <a:tblPr/>
              <a:tblGrid>
                <a:gridCol w="2651760"/>
                <a:gridCol w="1737360"/>
                <a:gridCol w="1920240"/>
                <a:gridCol w="1554480"/>
              </a:tblGrid>
              <a:tr h="603504">
                <a:tc>
                  <a:txBody>
                    <a:bodyPr/>
                    <a:lstStyle/>
                    <a:p>
                      <a:pPr algn="ctr" indent="0" marL="0">
                        <a:buNone/>
                      </a:pP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B2E4F"/>
                          </a:solidFill>
                          <a:latin typeface="Arial" pitchFamily="34" charset="0"/>
                          <a:ea typeface="Arial" pitchFamily="34" charset="-122"/>
                          <a:cs typeface="Arial" pitchFamily="34" charset="-120"/>
                        </a:rPr>
                        <a:t>Quản lý</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B2E4F"/>
                          </a:solidFill>
                          <a:latin typeface="Arial" pitchFamily="34" charset="0"/>
                          <a:ea typeface="Arial" pitchFamily="34" charset="-122"/>
                          <a:cs typeface="Arial" pitchFamily="34" charset="-120"/>
                        </a:rPr>
                        <a:t>Thu ngân / NV order</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B2E4F"/>
                          </a:solidFill>
                          <a:latin typeface="Arial" pitchFamily="34" charset="0"/>
                          <a:ea typeface="Arial" pitchFamily="34" charset="-122"/>
                          <a:cs typeface="Arial" pitchFamily="34" charset="-120"/>
                        </a:rPr>
                        <a:t>Bếp</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603504">
                <a:tc>
                  <a:txBody>
                    <a:bodyPr/>
                    <a:lstStyle/>
                    <a:p>
                      <a:pPr algn="l" indent="0" marL="0">
                        <a:buNone/>
                      </a:pPr>
                      <a:r>
                        <a:rPr lang="en-US" sz="1150" b="1" dirty="0">
                          <a:solidFill>
                            <a:srgbClr val="0B2E4F"/>
                          </a:solidFill>
                          <a:latin typeface="Arial" pitchFamily="34" charset="0"/>
                          <a:ea typeface="Arial" pitchFamily="34" charset="-122"/>
                          <a:cs typeface="Arial" pitchFamily="34" charset="-120"/>
                        </a:rPr>
                        <a:t>Danh mục món, giá, công thức</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Toàn quyền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c>
                  <a:txBody>
                    <a:bodyPr/>
                    <a:lstStyle/>
                    <a:p>
                      <a:pPr algn="ctr" indent="0" marL="0">
                        <a:buNone/>
                      </a:pPr>
                      <a:r>
                        <a:rPr lang="en-US" sz="1150" dirty="0">
                          <a:solidFill>
                            <a:srgbClr val="0B2E4F"/>
                          </a:solidFill>
                          <a:latin typeface="Arial" pitchFamily="34" charset="0"/>
                          <a:ea typeface="Arial" pitchFamily="34" charset="-122"/>
                          <a:cs typeface="Arial" pitchFamily="34" charset="-120"/>
                        </a:rPr>
                        <a:t>Chỉ đọc; bàn: xem, giải phóng</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1FA"/>
                    </a:solidFill>
                  </a:tcPr>
                </a:tc>
                <a:tc>
                  <a:txBody>
                    <a:bodyPr/>
                    <a:lstStyle/>
                    <a:p>
                      <a:pPr algn="ctr" indent="0" marL="0">
                        <a:buNone/>
                      </a:pPr>
                      <a:r>
                        <a:rPr lang="en-US" sz="1150" dirty="0">
                          <a:solidFill>
                            <a:srgbClr val="5B6573"/>
                          </a:solidFill>
                          <a:latin typeface="Arial" pitchFamily="34" charset="0"/>
                          <a:ea typeface="Arial" pitchFamily="34" charset="-122"/>
                          <a:cs typeface="Arial" pitchFamily="34" charset="-120"/>
                        </a:rPr>
                        <a:t>Không</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F6F9"/>
                    </a:solidFill>
                  </a:tcPr>
                </a:tc>
              </a:tr>
              <a:tr h="603504">
                <a:tc>
                  <a:txBody>
                    <a:bodyPr/>
                    <a:lstStyle/>
                    <a:p>
                      <a:pPr algn="l" indent="0" marL="0">
                        <a:buNone/>
                      </a:pPr>
                      <a:r>
                        <a:rPr lang="en-US" sz="1150" b="1" dirty="0">
                          <a:solidFill>
                            <a:srgbClr val="0B2E4F"/>
                          </a:solidFill>
                          <a:latin typeface="Arial" pitchFamily="34" charset="0"/>
                          <a:ea typeface="Arial" pitchFamily="34" charset="-122"/>
                          <a:cs typeface="Arial" pitchFamily="34" charset="-120"/>
                        </a:rPr>
                        <a:t>Order, hóa đơn, thanh toán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Toàn quyền, thêm hủy cả order</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c>
                  <a:txBody>
                    <a:bodyPr/>
                    <a:lstStyle/>
                    <a:p>
                      <a:pPr algn="ctr" indent="0" marL="0">
                        <a:buNone/>
                      </a:pPr>
                      <a:r>
                        <a:rPr lang="en-US" sz="1150" dirty="0">
                          <a:solidFill>
                            <a:srgbClr val="0B2E4F"/>
                          </a:solidFill>
                          <a:latin typeface="Arial" pitchFamily="34" charset="0"/>
                          <a:ea typeface="Arial" pitchFamily="34" charset="-122"/>
                          <a:cs typeface="Arial" pitchFamily="34" charset="-120"/>
                        </a:rPr>
                        <a:t>Tạo, sửa khi mở, hủy món Chờ làm</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1FA"/>
                    </a:solidFill>
                  </a:tcPr>
                </a:tc>
                <a:tc>
                  <a:txBody>
                    <a:bodyPr/>
                    <a:lstStyle/>
                    <a:p>
                      <a:pPr algn="ctr" indent="0" marL="0">
                        <a:buNone/>
                      </a:pPr>
                      <a:r>
                        <a:rPr lang="en-US" sz="1150" dirty="0">
                          <a:solidFill>
                            <a:srgbClr val="5B6573"/>
                          </a:solidFill>
                          <a:latin typeface="Arial" pitchFamily="34" charset="0"/>
                          <a:ea typeface="Arial" pitchFamily="34" charset="-122"/>
                          <a:cs typeface="Arial" pitchFamily="34" charset="-120"/>
                        </a:rPr>
                        <a:t>Không</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F6F9"/>
                    </a:solidFill>
                  </a:tcPr>
                </a:tc>
              </a:tr>
              <a:tr h="603504">
                <a:tc>
                  <a:txBody>
                    <a:bodyPr/>
                    <a:lstStyle/>
                    <a:p>
                      <a:pPr algn="l" indent="0" marL="0">
                        <a:buNone/>
                      </a:pPr>
                      <a:r>
                        <a:rPr lang="en-US" sz="1150" b="1" dirty="0">
                          <a:solidFill>
                            <a:srgbClr val="0B2E4F"/>
                          </a:solidFill>
                          <a:latin typeface="Arial" pitchFamily="34" charset="0"/>
                          <a:ea typeface="Arial" pitchFamily="34" charset="-122"/>
                          <a:cs typeface="Arial" pitchFamily="34" charset="-120"/>
                        </a:rPr>
                        <a:t>Kho: nguyên liệu, phiếu, giao dịch kho</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Toàn quyền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c>
                  <a:txBody>
                    <a:bodyPr/>
                    <a:lstStyle/>
                    <a:p>
                      <a:pPr algn="ctr" indent="0" marL="0">
                        <a:buNone/>
                      </a:pPr>
                      <a:r>
                        <a:rPr lang="en-US" sz="1150" dirty="0">
                          <a:solidFill>
                            <a:srgbClr val="0B2E4F"/>
                          </a:solidFill>
                          <a:latin typeface="Arial" pitchFamily="34" charset="0"/>
                          <a:ea typeface="Arial" pitchFamily="34" charset="-122"/>
                          <a:cs typeface="Arial" pitchFamily="34" charset="-120"/>
                        </a:rPr>
                        <a:t>Chỉ xem cảnh báo hết món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1FA"/>
                    </a:solidFill>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Toàn quyền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r>
              <a:tr h="603504">
                <a:tc>
                  <a:txBody>
                    <a:bodyPr/>
                    <a:lstStyle/>
                    <a:p>
                      <a:pPr algn="l" indent="0" marL="0">
                        <a:buNone/>
                      </a:pPr>
                      <a:r>
                        <a:rPr lang="en-US" sz="1150" b="1" dirty="0">
                          <a:solidFill>
                            <a:srgbClr val="0B2E4F"/>
                          </a:solidFill>
                          <a:latin typeface="Arial" pitchFamily="34" charset="0"/>
                          <a:ea typeface="Arial" pitchFamily="34" charset="-122"/>
                          <a:cs typeface="Arial" pitchFamily="34" charset="-120"/>
                        </a:rPr>
                        <a:t>Báo cáo doanh thu, giá vốn, lợi nhuận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Toàn quyền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c>
                  <a:txBody>
                    <a:bodyPr/>
                    <a:lstStyle/>
                    <a:p>
                      <a:pPr algn="ctr" indent="0" marL="0">
                        <a:buNone/>
                      </a:pPr>
                      <a:r>
                        <a:rPr lang="en-US" sz="1150" dirty="0">
                          <a:solidFill>
                            <a:srgbClr val="0B2E4F"/>
                          </a:solidFill>
                          <a:latin typeface="Arial" pitchFamily="34" charset="0"/>
                          <a:ea typeface="Arial" pitchFamily="34" charset="-122"/>
                          <a:cs typeface="Arial" pitchFamily="34" charset="-120"/>
                        </a:rPr>
                        <a:t>Không (tra doanh thu qua AI)</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1FA"/>
                    </a:solidFill>
                  </a:tcPr>
                </a:tc>
                <a:tc>
                  <a:txBody>
                    <a:bodyPr/>
                    <a:lstStyle/>
                    <a:p>
                      <a:pPr algn="ctr" indent="0" marL="0">
                        <a:buNone/>
                      </a:pPr>
                      <a:r>
                        <a:rPr lang="en-US" sz="1150" dirty="0">
                          <a:solidFill>
                            <a:srgbClr val="5B6573"/>
                          </a:solidFill>
                          <a:latin typeface="Arial" pitchFamily="34" charset="0"/>
                          <a:ea typeface="Arial" pitchFamily="34" charset="-122"/>
                          <a:cs typeface="Arial" pitchFamily="34" charset="-120"/>
                        </a:rPr>
                        <a:t>Không</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F6F9"/>
                    </a:solidFill>
                  </a:tcPr>
                </a:tc>
              </a:tr>
              <a:tr h="603504">
                <a:tc>
                  <a:txBody>
                    <a:bodyPr/>
                    <a:lstStyle/>
                    <a:p>
                      <a:pPr algn="l" indent="0" marL="0">
                        <a:buNone/>
                      </a:pPr>
                      <a:r>
                        <a:rPr lang="en-US" sz="1150" b="1" dirty="0">
                          <a:solidFill>
                            <a:srgbClr val="0B2E4F"/>
                          </a:solidFill>
                          <a:latin typeface="Arial" pitchFamily="34" charset="0"/>
                          <a:ea typeface="Arial" pitchFamily="34" charset="-122"/>
                          <a:cs typeface="Arial" pitchFamily="34" charset="-120"/>
                        </a:rPr>
                        <a:t>Cấu hình, tài khoản, nhật ký</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FFFFFF"/>
                          </a:solidFill>
                          <a:latin typeface="Arial" pitchFamily="34" charset="0"/>
                          <a:ea typeface="Arial" pitchFamily="34" charset="-122"/>
                          <a:cs typeface="Arial" pitchFamily="34" charset="-120"/>
                        </a:rPr>
                        <a:t>Toàn quyền</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c>
                  <a:txBody>
                    <a:bodyPr/>
                    <a:lstStyle/>
                    <a:p>
                      <a:pPr algn="ctr" indent="0" marL="0">
                        <a:buNone/>
                      </a:pPr>
                      <a:r>
                        <a:rPr lang="en-US" sz="1150" dirty="0">
                          <a:solidFill>
                            <a:srgbClr val="5B6573"/>
                          </a:solidFill>
                          <a:latin typeface="Arial" pitchFamily="34" charset="0"/>
                          <a:ea typeface="Arial" pitchFamily="34" charset="-122"/>
                          <a:cs typeface="Arial" pitchFamily="34" charset="-120"/>
                        </a:rPr>
                        <a:t>Không</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F6F9"/>
                    </a:solidFill>
                  </a:tcPr>
                </a:tc>
                <a:tc>
                  <a:txBody>
                    <a:bodyPr/>
                    <a:lstStyle/>
                    <a:p>
                      <a:pPr algn="ctr" indent="0" marL="0">
                        <a:buNone/>
                      </a:pPr>
                      <a:r>
                        <a:rPr lang="en-US" sz="1150" dirty="0">
                          <a:solidFill>
                            <a:srgbClr val="5B6573"/>
                          </a:solidFill>
                          <a:latin typeface="Arial" pitchFamily="34" charset="0"/>
                          <a:ea typeface="Arial" pitchFamily="34" charset="-122"/>
                          <a:cs typeface="Arial" pitchFamily="34" charset="-120"/>
                        </a:rPr>
                        <a:t>Không</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3F6F9"/>
                    </a:solidFill>
                  </a:tcPr>
                </a:tc>
              </a:tr>
              <a:tr h="603504">
                <a:tc>
                  <a:txBody>
                    <a:bodyPr/>
                    <a:lstStyle/>
                    <a:p>
                      <a:pPr algn="l" indent="0" marL="0">
                        <a:buNone/>
                      </a:pPr>
                      <a:r>
                        <a:rPr lang="en-US" sz="1150" b="1" dirty="0">
                          <a:solidFill>
                            <a:srgbClr val="0B2E4F"/>
                          </a:solidFill>
                          <a:latin typeface="Arial" pitchFamily="34" charset="0"/>
                          <a:ea typeface="Arial" pitchFamily="34" charset="-122"/>
                          <a:cs typeface="Arial" pitchFamily="34" charset="-120"/>
                        </a:rPr>
                        <a:t>AI Assistant được đọc</a:t>
                      </a:r>
                      <a:endParaRPr lang="en-US" sz="1150" dirty="0">
                        <a:latin typeface="Arial" charset="0"/>
                        <a:ea typeface="Arial" charset="0"/>
                        <a:cs typeface="Arial"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vw_ai_quanly</a:t>
                      </a:r>
                      <a:endParaRPr lang="en-US" sz="1150" dirty="0">
                        <a:latin typeface="Courier New" charset="0"/>
                        <a:ea typeface="Courier New" charset="0"/>
                        <a:cs typeface="Courier New"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A6EBD"/>
                    </a:solidFill>
                  </a:tcPr>
                </a:tc>
                <a:tc>
                  <a:txBody>
                    <a:bodyPr/>
                    <a:lstStyle/>
                    <a:p>
                      <a:pPr algn="ctr" indent="0" marL="0">
                        <a:buNone/>
                      </a:pPr>
                      <a:r>
                        <a:rPr lang="en-US" sz="1150" dirty="0">
                          <a:solidFill>
                            <a:srgbClr val="0B2E4F"/>
                          </a:solidFill>
                          <a:latin typeface="Courier New" pitchFamily="34" charset="0"/>
                          <a:ea typeface="Courier New" pitchFamily="34" charset="-122"/>
                          <a:cs typeface="Courier New" pitchFamily="34" charset="-120"/>
                        </a:rPr>
                        <a:t>vw_ai_thungan</a:t>
                      </a:r>
                      <a:endParaRPr lang="en-US" sz="1150" dirty="0">
                        <a:latin typeface="Courier New" charset="0"/>
                        <a:ea typeface="Courier New" charset="0"/>
                        <a:cs typeface="Courier New"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1FA"/>
                    </a:solidFill>
                  </a:tcPr>
                </a:tc>
                <a:tc>
                  <a:txBody>
                    <a:bodyPr/>
                    <a:lstStyle/>
                    <a:p>
                      <a:pPr algn="ctr" indent="0" marL="0">
                        <a:buNone/>
                      </a:pPr>
                      <a:r>
                        <a:rPr lang="en-US" sz="1150" dirty="0">
                          <a:solidFill>
                            <a:srgbClr val="0B2E4F"/>
                          </a:solidFill>
                          <a:latin typeface="Courier New" pitchFamily="34" charset="0"/>
                          <a:ea typeface="Courier New" pitchFamily="34" charset="-122"/>
                          <a:cs typeface="Courier New" pitchFamily="34" charset="-120"/>
                        </a:rPr>
                        <a:t>vw_ai_kho</a:t>
                      </a:r>
                      <a:endParaRPr lang="en-US" sz="1150" dirty="0">
                        <a:latin typeface="Courier New" charset="0"/>
                        <a:ea typeface="Courier New" charset="0"/>
                        <a:cs typeface="Courier New" charset="0"/>
                      </a:endParaRPr>
                    </a:p>
                  </a:txBody>
                  <a:tcPr marL="73152" marR="73152"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F1FA"/>
                    </a:solidFill>
                  </a:tcPr>
                </a:tc>
              </a:tr>
            </a:tbl>
          </a:graphicData>
        </a:graphic>
      </p:graphicFrame>
      <p:sp>
        <p:nvSpPr>
          <p:cNvPr id="7" name="Text 4"/>
          <p:cNvSpPr txBox="1"/>
          <p:nvPr/>
        </p:nvSpPr>
        <p:spPr>
          <a:xfrm>
            <a:off x="8778240" y="1508760"/>
            <a:ext cx="2864815" cy="822960"/>
          </a:xfrm>
          <a:prstGeom prst="rect">
            <a:avLst/>
          </a:prstGeom>
          <a:noFill/>
          <a:ln/>
        </p:spPr>
        <p:txBody>
          <a:bodyPr wrap="square" lIns="0" tIns="0" rIns="0" bIns="0" rtlCol="0" anchor="t"/>
          <a:lstStyle/>
          <a:p>
            <a:pPr indent="0" marL="0">
              <a:buNone/>
            </a:pPr>
            <a:r>
              <a:rPr lang="en-US" sz="4800" b="1" dirty="0">
                <a:solidFill>
                  <a:srgbClr val="E8590C"/>
                </a:solidFill>
                <a:latin typeface="Arial" pitchFamily="34" charset="0"/>
                <a:ea typeface="Arial" pitchFamily="34" charset="-122"/>
                <a:cs typeface="Arial" pitchFamily="34" charset="-120"/>
              </a:rPr>
              <a:t>96%</a:t>
            </a:r>
            <a:endParaRPr lang="en-US" sz="4800" dirty="0"/>
          </a:p>
        </p:txBody>
      </p:sp>
      <p:sp>
        <p:nvSpPr>
          <p:cNvPr id="8" name="Text 5"/>
          <p:cNvSpPr txBox="1"/>
          <p:nvPr/>
        </p:nvSpPr>
        <p:spPr>
          <a:xfrm>
            <a:off x="8778240" y="2331720"/>
            <a:ext cx="2864815" cy="82296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người khảo sát cho rằng cần giới hạn quyền xem dữ liệu theo vai trò (G6).</a:t>
            </a:r>
            <a:endParaRPr lang="en-US" sz="1250" dirty="0"/>
          </a:p>
        </p:txBody>
      </p:sp>
      <p:sp>
        <p:nvSpPr>
          <p:cNvPr id="9" name="Shape 6"/>
          <p:cNvSpPr/>
          <p:nvPr/>
        </p:nvSpPr>
        <p:spPr>
          <a:xfrm>
            <a:off x="8778240" y="3337560"/>
            <a:ext cx="2864815" cy="0"/>
          </a:xfrm>
          <a:prstGeom prst="line">
            <a:avLst/>
          </a:prstGeom>
          <a:noFill/>
          <a:ln w="9525">
            <a:solidFill>
              <a:srgbClr val="D5DCE4"/>
            </a:solidFill>
            <a:prstDash val="solid"/>
          </a:ln>
        </p:spPr>
      </p:sp>
      <p:sp>
        <p:nvSpPr>
          <p:cNvPr id="10" name="Text 7"/>
          <p:cNvSpPr txBox="1"/>
          <p:nvPr/>
        </p:nvSpPr>
        <p:spPr>
          <a:xfrm>
            <a:off x="8778240" y="3520440"/>
            <a:ext cx="2864815" cy="2651760"/>
          </a:xfrm>
          <a:prstGeom prst="rect">
            <a:avLst/>
          </a:prstGeom>
          <a:noFill/>
          <a:ln/>
        </p:spPr>
        <p:txBody>
          <a:bodyPr wrap="square" lIns="0" tIns="0" rIns="0" bIns="0" rtlCol="0" anchor="t"/>
          <a:lstStyle/>
          <a:p>
            <a:pPr indent="0" marL="0">
              <a:spcAft>
                <a:spcPts val="600"/>
              </a:spcAft>
              <a:buNone/>
            </a:pPr>
            <a:r>
              <a:rPr lang="en-US" sz="1200" b="1" dirty="0">
                <a:solidFill>
                  <a:srgbClr val="0B2E4F"/>
                </a:solidFill>
                <a:latin typeface="Arial" pitchFamily="34" charset="0"/>
                <a:ea typeface="Arial" pitchFamily="34" charset="-122"/>
                <a:cs typeface="Arial" pitchFamily="34" charset="-120"/>
              </a:rPr>
              <a:t>Hai lớp phân quyền</a:t>
            </a:r>
            <a:endParaRPr lang="en-US" sz="1200" dirty="0"/>
          </a:p>
          <a:p>
            <a:pPr marL="152400" indent="-152400">
              <a:spcAft>
                <a:spcPts val="600"/>
              </a:spcAft>
              <a:buSzPct val="100000"/>
              <a:buChar char="•"/>
            </a:pPr>
            <a:r>
              <a:rPr lang="en-US" sz="1200" dirty="0">
                <a:solidFill>
                  <a:srgbClr val="1F2933"/>
                </a:solidFill>
                <a:latin typeface="Arial" pitchFamily="34" charset="0"/>
                <a:ea typeface="Arial" pitchFamily="34" charset="-122"/>
                <a:cs typeface="Arial" pitchFamily="34" charset="-120"/>
              </a:rPr>
              <a:t>View riêng theo vai trò giới hạn dữ liệu AI được đọc.</a:t>
            </a:r>
            <a:endParaRPr lang="en-US" sz="1200" dirty="0"/>
          </a:p>
          <a:p>
            <a:pPr marL="152400" indent="-152400">
              <a:spcAft>
                <a:spcPts val="600"/>
              </a:spcAft>
              <a:buSzPct val="100000"/>
              <a:buChar char="•"/>
            </a:pPr>
            <a:r>
              <a:rPr lang="en-US" sz="1200" dirty="0">
                <a:solidFill>
                  <a:srgbClr val="1F2933"/>
                </a:solidFill>
                <a:latin typeface="Arial" pitchFamily="34" charset="0"/>
                <a:ea typeface="Arial" pitchFamily="34" charset="-122"/>
                <a:cs typeface="Arial" pitchFamily="34" charset="-120"/>
              </a:rPr>
              <a:t>Mọi thao tác ghi đều kiểm tra quyền ở tầng API; ẩn nút trên giao diện không được tính là phân quyền.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05  KẾ HOẠCH TRIỂN KHAI</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Kế hoạch thực nghiệm và tiêu chí đánh giá</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19 / 22</a:t>
            </a:r>
            <a:endParaRPr lang="en-US" sz="900" dirty="0"/>
          </a:p>
        </p:txBody>
      </p:sp>
      <p:sp>
        <p:nvSpPr>
          <p:cNvPr id="6" name="Text 4"/>
          <p:cNvSpPr txBox="1"/>
          <p:nvPr/>
        </p:nvSpPr>
        <p:spPr>
          <a:xfrm>
            <a:off x="548640" y="1508760"/>
            <a:ext cx="3454298" cy="32004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Bộ dữ liệu đánh giá</a:t>
            </a:r>
            <a:endParaRPr lang="en-US" sz="1500" dirty="0"/>
          </a:p>
        </p:txBody>
      </p:sp>
      <p:sp>
        <p:nvSpPr>
          <p:cNvPr id="7" name="Text 5"/>
          <p:cNvSpPr txBox="1"/>
          <p:nvPr/>
        </p:nvSpPr>
        <p:spPr>
          <a:xfrm>
            <a:off x="548640" y="1874520"/>
            <a:ext cx="3454298" cy="685800"/>
          </a:xfrm>
          <a:prstGeom prst="rect">
            <a:avLst/>
          </a:prstGeom>
          <a:noFill/>
          <a:ln/>
        </p:spPr>
        <p:txBody>
          <a:bodyPr wrap="square" lIns="0" tIns="0" rIns="0" bIns="0" rtlCol="0" anchor="t"/>
          <a:lstStyle/>
          <a:p>
            <a:pPr indent="0" marL="0">
              <a:buNone/>
            </a:pPr>
            <a:r>
              <a:rPr lang="en-US" sz="3800" b="1" dirty="0">
                <a:solidFill>
                  <a:srgbClr val="0A6EBD"/>
                </a:solidFill>
                <a:latin typeface="Arial" pitchFamily="34" charset="0"/>
                <a:ea typeface="Arial" pitchFamily="34" charset="-122"/>
                <a:cs typeface="Arial" pitchFamily="34" charset="-120"/>
              </a:rPr>
              <a:t>50–100</a:t>
            </a:r>
            <a:endParaRPr lang="en-US" sz="3800" dirty="0"/>
          </a:p>
        </p:txBody>
      </p:sp>
      <p:sp>
        <p:nvSpPr>
          <p:cNvPr id="8" name="Text 6"/>
          <p:cNvSpPr txBox="1"/>
          <p:nvPr/>
        </p:nvSpPr>
        <p:spPr>
          <a:xfrm>
            <a:off x="548640" y="2606040"/>
            <a:ext cx="3454298" cy="17373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cặp câu hỏi tiếng Việt – SQL chuẩn, chia 3 mức độ khó</a:t>
            </a:r>
            <a:endParaRPr lang="en-US" sz="1200" dirty="0"/>
          </a:p>
          <a:p>
            <a:pPr indent="0" marL="0">
              <a:buNone/>
            </a:pPr>
            <a:r>
              <a:rPr lang="en-US" sz="600" dirty="0">
                <a:solidFill>
                  <a:srgbClr val="1F2933"/>
                </a:solidFill>
                <a:latin typeface="Arial" pitchFamily="34" charset="0"/>
                <a:ea typeface="Arial" pitchFamily="34" charset="-122"/>
                <a:cs typeface="Arial" pitchFamily="34" charset="-120"/>
              </a:rPr>
              <a:t> </a:t>
            </a:r>
            <a:endParaRPr lang="en-US" sz="1200" dirty="0"/>
          </a:p>
          <a:p>
            <a:pPr indent="0" marL="0">
              <a:buNone/>
            </a:pPr>
            <a:r>
              <a:rPr lang="en-US" sz="1200" dirty="0">
                <a:solidFill>
                  <a:srgbClr val="1F2933"/>
                </a:solidFill>
                <a:latin typeface="Arial" pitchFamily="34" charset="0"/>
                <a:ea typeface="Arial" pitchFamily="34" charset="-122"/>
                <a:cs typeface="Arial" pitchFamily="34" charset="-120"/>
              </a:rPr>
              <a:t>Người soạn SQL chuẩn không đồng thời thiết kế prompt; 15–20 câu được cả 3 thành viên soạn độc lập để tính độ đồng thuận.</a:t>
            </a:r>
            <a:endParaRPr lang="en-US" sz="1200" dirty="0"/>
          </a:p>
        </p:txBody>
      </p:sp>
      <p:sp>
        <p:nvSpPr>
          <p:cNvPr id="9" name="Text 7"/>
          <p:cNvSpPr txBox="1"/>
          <p:nvPr/>
        </p:nvSpPr>
        <p:spPr>
          <a:xfrm>
            <a:off x="4368698" y="1508760"/>
            <a:ext cx="3454298" cy="32004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Ba cấu hình đối chứng</a:t>
            </a:r>
            <a:endParaRPr lang="en-US" sz="1500" dirty="0"/>
          </a:p>
        </p:txBody>
      </p:sp>
      <p:sp>
        <p:nvSpPr>
          <p:cNvPr id="10" name="Shape 8"/>
          <p:cNvSpPr/>
          <p:nvPr/>
        </p:nvSpPr>
        <p:spPr>
          <a:xfrm>
            <a:off x="4368698" y="1920240"/>
            <a:ext cx="594360" cy="640080"/>
          </a:xfrm>
          <a:prstGeom prst="roundRect">
            <a:avLst>
              <a:gd name="adj" fmla="val 9231"/>
            </a:avLst>
          </a:prstGeom>
          <a:solidFill>
            <a:srgbClr val="0A6EBD"/>
          </a:solidFill>
          <a:ln/>
        </p:spPr>
      </p:sp>
      <p:sp>
        <p:nvSpPr>
          <p:cNvPr id="11" name="Text 9"/>
          <p:cNvSpPr txBox="1"/>
          <p:nvPr/>
        </p:nvSpPr>
        <p:spPr>
          <a:xfrm>
            <a:off x="4368698" y="1920240"/>
            <a:ext cx="5943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a:t>
            </a:r>
            <a:endParaRPr lang="en-US" sz="2200" dirty="0"/>
          </a:p>
        </p:txBody>
      </p:sp>
      <p:sp>
        <p:nvSpPr>
          <p:cNvPr id="12" name="Text 10"/>
          <p:cNvSpPr txBox="1"/>
          <p:nvPr/>
        </p:nvSpPr>
        <p:spPr>
          <a:xfrm>
            <a:off x="5100218" y="1920240"/>
            <a:ext cx="2722778" cy="640080"/>
          </a:xfrm>
          <a:prstGeom prst="rect">
            <a:avLst/>
          </a:prstGeom>
          <a:noFill/>
          <a:ln/>
        </p:spPr>
        <p:txBody>
          <a:bodyPr wrap="square" lIns="0" tIns="0" rIns="0" bIns="0" rtlCol="0" anchor="ctr"/>
          <a:lstStyle/>
          <a:p>
            <a:pPr indent="0" marL="0">
              <a:buNone/>
            </a:pPr>
            <a:r>
              <a:rPr lang="en-US" sz="1250" dirty="0">
                <a:solidFill>
                  <a:srgbClr val="1F2933"/>
                </a:solidFill>
                <a:latin typeface="Arial" pitchFamily="34" charset="0"/>
                <a:ea typeface="Arial" pitchFamily="34" charset="-122"/>
                <a:cs typeface="Arial" pitchFamily="34" charset="-120"/>
              </a:rPr>
              <a:t>Chỉ dùng lược đồ view</a:t>
            </a:r>
            <a:endParaRPr lang="en-US" sz="1250" dirty="0"/>
          </a:p>
        </p:txBody>
      </p:sp>
      <p:sp>
        <p:nvSpPr>
          <p:cNvPr id="13" name="Shape 11"/>
          <p:cNvSpPr/>
          <p:nvPr/>
        </p:nvSpPr>
        <p:spPr>
          <a:xfrm>
            <a:off x="4368698" y="2724912"/>
            <a:ext cx="594360" cy="640080"/>
          </a:xfrm>
          <a:prstGeom prst="roundRect">
            <a:avLst>
              <a:gd name="adj" fmla="val 9231"/>
            </a:avLst>
          </a:prstGeom>
          <a:solidFill>
            <a:srgbClr val="E8590C"/>
          </a:solidFill>
          <a:ln/>
        </p:spPr>
      </p:sp>
      <p:sp>
        <p:nvSpPr>
          <p:cNvPr id="14" name="Text 12"/>
          <p:cNvSpPr txBox="1"/>
          <p:nvPr/>
        </p:nvSpPr>
        <p:spPr>
          <a:xfrm>
            <a:off x="4368698" y="2724912"/>
            <a:ext cx="5943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B</a:t>
            </a:r>
            <a:endParaRPr lang="en-US" sz="2200" dirty="0"/>
          </a:p>
        </p:txBody>
      </p:sp>
      <p:sp>
        <p:nvSpPr>
          <p:cNvPr id="15" name="Text 13"/>
          <p:cNvSpPr txBox="1"/>
          <p:nvPr/>
        </p:nvSpPr>
        <p:spPr>
          <a:xfrm>
            <a:off x="5100218" y="2724912"/>
            <a:ext cx="2722778" cy="640080"/>
          </a:xfrm>
          <a:prstGeom prst="rect">
            <a:avLst/>
          </a:prstGeom>
          <a:noFill/>
          <a:ln/>
        </p:spPr>
        <p:txBody>
          <a:bodyPr wrap="square" lIns="0" tIns="0" rIns="0" bIns="0" rtlCol="0" anchor="ctr"/>
          <a:lstStyle/>
          <a:p>
            <a:pPr indent="0" marL="0">
              <a:buNone/>
            </a:pPr>
            <a:r>
              <a:rPr lang="en-US" sz="1250" dirty="0">
                <a:solidFill>
                  <a:srgbClr val="1F2933"/>
                </a:solidFill>
                <a:latin typeface="Arial" pitchFamily="34" charset="0"/>
                <a:ea typeface="Arial" pitchFamily="34" charset="-122"/>
                <a:cs typeface="Arial" pitchFamily="34" charset="-120"/>
              </a:rPr>
              <a:t>Lược đồ + ví dụ few-shot + chuẩn hóa tiếng Việt</a:t>
            </a:r>
            <a:endParaRPr lang="en-US" sz="1250" dirty="0"/>
          </a:p>
        </p:txBody>
      </p:sp>
      <p:sp>
        <p:nvSpPr>
          <p:cNvPr id="16" name="Shape 14"/>
          <p:cNvSpPr/>
          <p:nvPr/>
        </p:nvSpPr>
        <p:spPr>
          <a:xfrm>
            <a:off x="4368698" y="3529584"/>
            <a:ext cx="594360" cy="640080"/>
          </a:xfrm>
          <a:prstGeom prst="roundRect">
            <a:avLst>
              <a:gd name="adj" fmla="val 9231"/>
            </a:avLst>
          </a:prstGeom>
          <a:solidFill>
            <a:srgbClr val="0A6EBD"/>
          </a:solidFill>
          <a:ln/>
        </p:spPr>
      </p:sp>
      <p:sp>
        <p:nvSpPr>
          <p:cNvPr id="17" name="Text 15"/>
          <p:cNvSpPr txBox="1"/>
          <p:nvPr/>
        </p:nvSpPr>
        <p:spPr>
          <a:xfrm>
            <a:off x="4368698" y="3529584"/>
            <a:ext cx="5943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C</a:t>
            </a:r>
            <a:endParaRPr lang="en-US" sz="2200" dirty="0"/>
          </a:p>
        </p:txBody>
      </p:sp>
      <p:sp>
        <p:nvSpPr>
          <p:cNvPr id="18" name="Text 16"/>
          <p:cNvSpPr txBox="1"/>
          <p:nvPr/>
        </p:nvSpPr>
        <p:spPr>
          <a:xfrm>
            <a:off x="5100218" y="3529584"/>
            <a:ext cx="2722778" cy="640080"/>
          </a:xfrm>
          <a:prstGeom prst="rect">
            <a:avLst/>
          </a:prstGeom>
          <a:noFill/>
          <a:ln/>
        </p:spPr>
        <p:txBody>
          <a:bodyPr wrap="square" lIns="0" tIns="0" rIns="0" bIns="0" rtlCol="0" anchor="ctr"/>
          <a:lstStyle/>
          <a:p>
            <a:pPr indent="0" marL="0">
              <a:buNone/>
            </a:pPr>
            <a:r>
              <a:rPr lang="en-US" sz="1250" dirty="0">
                <a:solidFill>
                  <a:srgbClr val="1F2933"/>
                </a:solidFill>
                <a:latin typeface="Arial" pitchFamily="34" charset="0"/>
                <a:ea typeface="Arial" pitchFamily="34" charset="-122"/>
                <a:cs typeface="Arial" pitchFamily="34" charset="-120"/>
              </a:rPr>
              <a:t>Cấu hình B trên một mô hình khác</a:t>
            </a:r>
            <a:endParaRPr lang="en-US" sz="1250" dirty="0"/>
          </a:p>
        </p:txBody>
      </p:sp>
      <p:sp>
        <p:nvSpPr>
          <p:cNvPr id="19" name="Text 17"/>
          <p:cNvSpPr txBox="1"/>
          <p:nvPr/>
        </p:nvSpPr>
        <p:spPr>
          <a:xfrm>
            <a:off x="8188757" y="1508760"/>
            <a:ext cx="3454298" cy="32004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Ngưỡng mục tiêu (MT5)</a:t>
            </a:r>
            <a:endParaRPr lang="en-US" sz="1500" dirty="0"/>
          </a:p>
        </p:txBody>
      </p:sp>
      <p:sp>
        <p:nvSpPr>
          <p:cNvPr id="20" name="Text 18"/>
          <p:cNvSpPr txBox="1"/>
          <p:nvPr/>
        </p:nvSpPr>
        <p:spPr>
          <a:xfrm>
            <a:off x="8188757" y="1874520"/>
            <a:ext cx="1737360" cy="64008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 80%</a:t>
            </a:r>
            <a:endParaRPr lang="en-US" sz="2600" dirty="0"/>
          </a:p>
        </p:txBody>
      </p:sp>
      <p:sp>
        <p:nvSpPr>
          <p:cNvPr id="21" name="Text 19"/>
          <p:cNvSpPr txBox="1"/>
          <p:nvPr/>
        </p:nvSpPr>
        <p:spPr>
          <a:xfrm>
            <a:off x="9971837" y="1874520"/>
            <a:ext cx="1671218" cy="640080"/>
          </a:xfrm>
          <a:prstGeom prst="rect">
            <a:avLst/>
          </a:prstGeom>
          <a:noFill/>
          <a:ln/>
        </p:spPr>
        <p:txBody>
          <a:bodyPr wrap="square" lIns="0" tIns="0" rIns="0" bIns="0" rtlCol="0" anchor="ctr"/>
          <a:lstStyle/>
          <a:p>
            <a:pPr indent="0" marL="0">
              <a:buNone/>
            </a:pPr>
            <a:r>
              <a:rPr lang="en-US" sz="1250" dirty="0">
                <a:solidFill>
                  <a:srgbClr val="1F2933"/>
                </a:solidFill>
                <a:latin typeface="Arial" pitchFamily="34" charset="0"/>
                <a:ea typeface="Arial" pitchFamily="34" charset="-122"/>
                <a:cs typeface="Arial" pitchFamily="34" charset="-120"/>
              </a:rPr>
              <a:t>câu đơn giản và trung bình</a:t>
            </a:r>
            <a:endParaRPr lang="en-US" sz="1250" dirty="0"/>
          </a:p>
        </p:txBody>
      </p:sp>
      <p:sp>
        <p:nvSpPr>
          <p:cNvPr id="22" name="Text 20"/>
          <p:cNvSpPr txBox="1"/>
          <p:nvPr/>
        </p:nvSpPr>
        <p:spPr>
          <a:xfrm>
            <a:off x="8188757" y="2697480"/>
            <a:ext cx="1737360" cy="64008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 55%</a:t>
            </a:r>
            <a:endParaRPr lang="en-US" sz="2600" dirty="0"/>
          </a:p>
        </p:txBody>
      </p:sp>
      <p:sp>
        <p:nvSpPr>
          <p:cNvPr id="23" name="Text 21"/>
          <p:cNvSpPr txBox="1"/>
          <p:nvPr/>
        </p:nvSpPr>
        <p:spPr>
          <a:xfrm>
            <a:off x="9971837" y="2697480"/>
            <a:ext cx="1671218" cy="640080"/>
          </a:xfrm>
          <a:prstGeom prst="rect">
            <a:avLst/>
          </a:prstGeom>
          <a:noFill/>
          <a:ln/>
        </p:spPr>
        <p:txBody>
          <a:bodyPr wrap="square" lIns="0" tIns="0" rIns="0" bIns="0" rtlCol="0" anchor="ctr"/>
          <a:lstStyle/>
          <a:p>
            <a:pPr indent="0" marL="0">
              <a:buNone/>
            </a:pPr>
            <a:r>
              <a:rPr lang="en-US" sz="1250" dirty="0">
                <a:solidFill>
                  <a:srgbClr val="1F2933"/>
                </a:solidFill>
                <a:latin typeface="Arial" pitchFamily="34" charset="0"/>
                <a:ea typeface="Arial" pitchFamily="34" charset="-122"/>
                <a:cs typeface="Arial" pitchFamily="34" charset="-120"/>
              </a:rPr>
              <a:t>câu phức tạp</a:t>
            </a:r>
            <a:endParaRPr lang="en-US" sz="1250" dirty="0"/>
          </a:p>
        </p:txBody>
      </p:sp>
      <p:sp>
        <p:nvSpPr>
          <p:cNvPr id="24" name="Text 22"/>
          <p:cNvSpPr txBox="1"/>
          <p:nvPr/>
        </p:nvSpPr>
        <p:spPr>
          <a:xfrm>
            <a:off x="8188757" y="3520440"/>
            <a:ext cx="1737360" cy="64008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&lt; 8 giây</a:t>
            </a:r>
            <a:endParaRPr lang="en-US" sz="2600" dirty="0"/>
          </a:p>
        </p:txBody>
      </p:sp>
      <p:sp>
        <p:nvSpPr>
          <p:cNvPr id="25" name="Text 23"/>
          <p:cNvSpPr txBox="1"/>
          <p:nvPr/>
        </p:nvSpPr>
        <p:spPr>
          <a:xfrm>
            <a:off x="9971837" y="3520440"/>
            <a:ext cx="1671218" cy="640080"/>
          </a:xfrm>
          <a:prstGeom prst="rect">
            <a:avLst/>
          </a:prstGeom>
          <a:noFill/>
          <a:ln/>
        </p:spPr>
        <p:txBody>
          <a:bodyPr wrap="square" lIns="0" tIns="0" rIns="0" bIns="0" rtlCol="0" anchor="ctr"/>
          <a:lstStyle/>
          <a:p>
            <a:pPr indent="0" marL="0">
              <a:buNone/>
            </a:pPr>
            <a:r>
              <a:rPr lang="en-US" sz="1250" dirty="0">
                <a:solidFill>
                  <a:srgbClr val="1F2933"/>
                </a:solidFill>
                <a:latin typeface="Arial" pitchFamily="34" charset="0"/>
                <a:ea typeface="Arial" pitchFamily="34" charset="-122"/>
                <a:cs typeface="Arial" pitchFamily="34" charset="-120"/>
              </a:rPr>
              <a:t>thời gian phản hồi trung bình</a:t>
            </a:r>
            <a:endParaRPr lang="en-US" sz="1250" dirty="0"/>
          </a:p>
        </p:txBody>
      </p:sp>
      <p:sp>
        <p:nvSpPr>
          <p:cNvPr id="26" name="Text 24"/>
          <p:cNvSpPr txBox="1"/>
          <p:nvPr/>
        </p:nvSpPr>
        <p:spPr>
          <a:xfrm>
            <a:off x="548640" y="4434840"/>
            <a:ext cx="11094415" cy="365760"/>
          </a:xfrm>
          <a:prstGeom prst="rect">
            <a:avLst/>
          </a:prstGeom>
          <a:noFill/>
          <a:ln/>
        </p:spPr>
        <p:txBody>
          <a:bodyPr wrap="square" lIns="0" tIns="0" rIns="0" bIns="0" rtlCol="0" anchor="t"/>
          <a:lstStyle/>
          <a:p>
            <a:pPr indent="0" marL="0">
              <a:buNone/>
            </a:pPr>
            <a:r>
              <a:rPr lang="en-US" sz="1200" i="1" dirty="0">
                <a:solidFill>
                  <a:srgbClr val="5B6573"/>
                </a:solidFill>
                <a:latin typeface="Arial" pitchFamily="34" charset="0"/>
                <a:ea typeface="Arial" pitchFamily="34" charset="-122"/>
                <a:cs typeface="Arial" pitchFamily="34" charset="-120"/>
              </a:rPr>
              <a:t>Đo: độ chính xác thực thi · tỷ lệ SQL lỗi · tỷ lệ từ chối · thời gian phản hồi · tỷ lệ trả lời đúng cả số liệu lẫn diễn giải, tách theo mức độ khó.</a:t>
            </a:r>
            <a:endParaRPr lang="en-US" sz="1200" dirty="0"/>
          </a:p>
        </p:txBody>
      </p:sp>
      <p:sp>
        <p:nvSpPr>
          <p:cNvPr id="27" name="Shape 25"/>
          <p:cNvSpPr/>
          <p:nvPr/>
        </p:nvSpPr>
        <p:spPr>
          <a:xfrm>
            <a:off x="548640" y="4892040"/>
            <a:ext cx="11094415" cy="0"/>
          </a:xfrm>
          <a:prstGeom prst="line">
            <a:avLst/>
          </a:prstGeom>
          <a:noFill/>
          <a:ln w="9525">
            <a:solidFill>
              <a:srgbClr val="D5DCE4"/>
            </a:solidFill>
            <a:prstDash val="solid"/>
          </a:ln>
        </p:spPr>
      </p:sp>
      <p:sp>
        <p:nvSpPr>
          <p:cNvPr id="28" name="Text 26"/>
          <p:cNvSpPr txBox="1"/>
          <p:nvPr/>
        </p:nvSpPr>
        <p:spPr>
          <a:xfrm>
            <a:off x="548640" y="5029200"/>
            <a:ext cx="3454298" cy="32004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Dữ liệu mô phỏng</a:t>
            </a:r>
            <a:endParaRPr lang="en-US" sz="1300" dirty="0"/>
          </a:p>
        </p:txBody>
      </p:sp>
      <p:sp>
        <p:nvSpPr>
          <p:cNvPr id="29" name="Text 27"/>
          <p:cNvSpPr txBox="1"/>
          <p:nvPr/>
        </p:nvSpPr>
        <p:spPr>
          <a:xfrm>
            <a:off x="548640" y="5367528"/>
            <a:ext cx="3454298"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12 tháng, ≥ 20.000 order, 20–40 món; có đỉnh trưa/tối, cuối tuần cao hơn, mùa vụ.</a:t>
            </a:r>
            <a:endParaRPr lang="en-US" sz="1150" dirty="0"/>
          </a:p>
        </p:txBody>
      </p:sp>
      <p:sp>
        <p:nvSpPr>
          <p:cNvPr id="30" name="Text 28"/>
          <p:cNvSpPr txBox="1"/>
          <p:nvPr/>
        </p:nvSpPr>
        <p:spPr>
          <a:xfrm>
            <a:off x="4368698" y="5029200"/>
            <a:ext cx="3454298" cy="32004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Kiểm thử chức năng</a:t>
            </a:r>
            <a:endParaRPr lang="en-US" sz="1300" dirty="0"/>
          </a:p>
        </p:txBody>
      </p:sp>
      <p:sp>
        <p:nvSpPr>
          <p:cNvPr id="31" name="Text 29"/>
          <p:cNvSpPr txBox="1"/>
          <p:nvPr/>
        </p:nvSpPr>
        <p:spPr>
          <a:xfrm>
            <a:off x="4368698" y="5367528"/>
            <a:ext cx="3454298"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Test case theo từng module, gồm kiểm thử phân quyền và phạm vi dữ liệu AI.</a:t>
            </a:r>
            <a:endParaRPr lang="en-US" sz="1150" dirty="0"/>
          </a:p>
        </p:txBody>
      </p:sp>
      <p:sp>
        <p:nvSpPr>
          <p:cNvPr id="32" name="Text 30"/>
          <p:cNvSpPr txBox="1"/>
          <p:nvPr/>
        </p:nvSpPr>
        <p:spPr>
          <a:xfrm>
            <a:off x="8188757" y="5029200"/>
            <a:ext cx="3454298" cy="320040"/>
          </a:xfrm>
          <a:prstGeom prst="rect">
            <a:avLst/>
          </a:prstGeom>
          <a:noFill/>
          <a:ln/>
        </p:spPr>
        <p:txBody>
          <a:bodyPr wrap="square" lIns="0" tIns="0" rIns="0" bIns="0" rtlCol="0" anchor="t"/>
          <a:lstStyle/>
          <a:p>
            <a:pPr indent="0" marL="0">
              <a:buNone/>
            </a:pPr>
            <a:r>
              <a:rPr lang="en-US" sz="1300" b="1" dirty="0">
                <a:solidFill>
                  <a:srgbClr val="0B2E4F"/>
                </a:solidFill>
                <a:latin typeface="Arial" pitchFamily="34" charset="0"/>
                <a:ea typeface="Arial" pitchFamily="34" charset="-122"/>
                <a:cs typeface="Arial" pitchFamily="34" charset="-120"/>
              </a:rPr>
              <a:t>SUS và UAT</a:t>
            </a:r>
            <a:endParaRPr lang="en-US" sz="1300" dirty="0"/>
          </a:p>
        </p:txBody>
      </p:sp>
      <p:sp>
        <p:nvSpPr>
          <p:cNvPr id="33" name="Text 31"/>
          <p:cNvSpPr txBox="1"/>
          <p:nvPr/>
        </p:nvSpPr>
        <p:spPr>
          <a:xfrm>
            <a:off x="8188757" y="5367528"/>
            <a:ext cx="3454298"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SUS với 3–5 người đóng vai quản lý; UAT với người có kinh nghiệm vận hành nhà hàng.</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KẾT LUẬN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Kết quả giai đoạn này và giới hạn phạm vi</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20 / 22</a:t>
            </a:r>
            <a:endParaRPr lang="en-US" sz="900" dirty="0"/>
          </a:p>
        </p:txBody>
      </p:sp>
      <p:sp>
        <p:nvSpPr>
          <p:cNvPr id="6" name="Text 4"/>
          <p:cNvSpPr txBox="1"/>
          <p:nvPr/>
        </p:nvSpPr>
        <p:spPr>
          <a:xfrm>
            <a:off x="548640" y="1508760"/>
            <a:ext cx="6035040"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Đã hoàn thành</a:t>
            </a:r>
            <a:endParaRPr lang="en-US" sz="1600" dirty="0"/>
          </a:p>
        </p:txBody>
      </p:sp>
      <p:sp>
        <p:nvSpPr>
          <p:cNvPr id="7" name="Text 5"/>
          <p:cNvSpPr txBox="1"/>
          <p:nvPr/>
        </p:nvSpPr>
        <p:spPr>
          <a:xfrm>
            <a:off x="548640" y="1965960"/>
            <a:ext cx="164592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51</a:t>
            </a:r>
            <a:endParaRPr lang="en-US" sz="2000" dirty="0"/>
          </a:p>
        </p:txBody>
      </p:sp>
      <p:sp>
        <p:nvSpPr>
          <p:cNvPr id="8" name="Text 6"/>
          <p:cNvSpPr txBox="1"/>
          <p:nvPr/>
        </p:nvSpPr>
        <p:spPr>
          <a:xfrm>
            <a:off x="2286000" y="1965960"/>
            <a:ext cx="4297680" cy="548640"/>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phiếu khảo sát, phát hiện truy vết sang yêu cầu</a:t>
            </a:r>
            <a:endParaRPr lang="en-US" sz="1300" dirty="0"/>
          </a:p>
        </p:txBody>
      </p:sp>
      <p:sp>
        <p:nvSpPr>
          <p:cNvPr id="9" name="Shape 7"/>
          <p:cNvSpPr/>
          <p:nvPr/>
        </p:nvSpPr>
        <p:spPr>
          <a:xfrm>
            <a:off x="548640" y="2642616"/>
            <a:ext cx="6035040" cy="0"/>
          </a:xfrm>
          <a:prstGeom prst="line">
            <a:avLst/>
          </a:prstGeom>
          <a:noFill/>
          <a:ln w="9525">
            <a:solidFill>
              <a:srgbClr val="D5DCE4"/>
            </a:solidFill>
            <a:prstDash val="solid"/>
          </a:ln>
        </p:spPr>
      </p:sp>
      <p:sp>
        <p:nvSpPr>
          <p:cNvPr id="10" name="Text 8"/>
          <p:cNvSpPr txBox="1"/>
          <p:nvPr/>
        </p:nvSpPr>
        <p:spPr>
          <a:xfrm>
            <a:off x="548640" y="2770632"/>
            <a:ext cx="164592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106 + 17</a:t>
            </a:r>
            <a:endParaRPr lang="en-US" sz="2000" dirty="0"/>
          </a:p>
        </p:txBody>
      </p:sp>
      <p:sp>
        <p:nvSpPr>
          <p:cNvPr id="11" name="Text 9"/>
          <p:cNvSpPr txBox="1"/>
          <p:nvPr/>
        </p:nvSpPr>
        <p:spPr>
          <a:xfrm>
            <a:off x="2286000" y="2770632"/>
            <a:ext cx="4297680" cy="548640"/>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yêu cầu chức năng và phi chức năng cho 6 module</a:t>
            </a:r>
            <a:endParaRPr lang="en-US" sz="1300" dirty="0"/>
          </a:p>
        </p:txBody>
      </p:sp>
      <p:sp>
        <p:nvSpPr>
          <p:cNvPr id="12" name="Shape 10"/>
          <p:cNvSpPr/>
          <p:nvPr/>
        </p:nvSpPr>
        <p:spPr>
          <a:xfrm>
            <a:off x="548640" y="3447288"/>
            <a:ext cx="6035040" cy="0"/>
          </a:xfrm>
          <a:prstGeom prst="line">
            <a:avLst/>
          </a:prstGeom>
          <a:noFill/>
          <a:ln w="9525">
            <a:solidFill>
              <a:srgbClr val="D5DCE4"/>
            </a:solidFill>
            <a:prstDash val="solid"/>
          </a:ln>
        </p:spPr>
      </p:sp>
      <p:sp>
        <p:nvSpPr>
          <p:cNvPr id="13" name="Text 11"/>
          <p:cNvSpPr txBox="1"/>
          <p:nvPr/>
        </p:nvSpPr>
        <p:spPr>
          <a:xfrm>
            <a:off x="548640" y="3575304"/>
            <a:ext cx="164592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7 · 5 · 6</a:t>
            </a:r>
            <a:endParaRPr lang="en-US" sz="2000" dirty="0"/>
          </a:p>
        </p:txBody>
      </p:sp>
      <p:sp>
        <p:nvSpPr>
          <p:cNvPr id="14" name="Text 12"/>
          <p:cNvSpPr txBox="1"/>
          <p:nvPr/>
        </p:nvSpPr>
        <p:spPr>
          <a:xfrm>
            <a:off x="2286000" y="3575304"/>
            <a:ext cx="4297680" cy="548640"/>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sơ đồ Use Case · Class Diagram (29 lớp) · Sequence Diagram</a:t>
            </a:r>
            <a:endParaRPr lang="en-US" sz="1300" dirty="0"/>
          </a:p>
        </p:txBody>
      </p:sp>
      <p:sp>
        <p:nvSpPr>
          <p:cNvPr id="15" name="Shape 13"/>
          <p:cNvSpPr/>
          <p:nvPr/>
        </p:nvSpPr>
        <p:spPr>
          <a:xfrm>
            <a:off x="548640" y="4251960"/>
            <a:ext cx="6035040" cy="0"/>
          </a:xfrm>
          <a:prstGeom prst="line">
            <a:avLst/>
          </a:prstGeom>
          <a:noFill/>
          <a:ln w="9525">
            <a:solidFill>
              <a:srgbClr val="D5DCE4"/>
            </a:solidFill>
            <a:prstDash val="solid"/>
          </a:ln>
        </p:spPr>
      </p:sp>
      <p:sp>
        <p:nvSpPr>
          <p:cNvPr id="16" name="Text 14"/>
          <p:cNvSpPr txBox="1"/>
          <p:nvPr/>
        </p:nvSpPr>
        <p:spPr>
          <a:xfrm>
            <a:off x="548640" y="4379976"/>
            <a:ext cx="164592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3 tầng</a:t>
            </a:r>
            <a:endParaRPr lang="en-US" sz="2000" dirty="0"/>
          </a:p>
        </p:txBody>
      </p:sp>
      <p:sp>
        <p:nvSpPr>
          <p:cNvPr id="17" name="Text 15"/>
          <p:cNvSpPr txBox="1"/>
          <p:nvPr/>
        </p:nvSpPr>
        <p:spPr>
          <a:xfrm>
            <a:off x="2286000" y="4379976"/>
            <a:ext cx="4297680" cy="548640"/>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kiến trúc, lược đồ CSDL, cơ chế phân quyền nhiều lớp cho AI</a:t>
            </a:r>
            <a:endParaRPr lang="en-US" sz="1300" dirty="0"/>
          </a:p>
        </p:txBody>
      </p:sp>
      <p:sp>
        <p:nvSpPr>
          <p:cNvPr id="18" name="Shape 16"/>
          <p:cNvSpPr/>
          <p:nvPr/>
        </p:nvSpPr>
        <p:spPr>
          <a:xfrm>
            <a:off x="548640" y="5056632"/>
            <a:ext cx="6035040" cy="0"/>
          </a:xfrm>
          <a:prstGeom prst="line">
            <a:avLst/>
          </a:prstGeom>
          <a:noFill/>
          <a:ln w="9525">
            <a:solidFill>
              <a:srgbClr val="D5DCE4"/>
            </a:solidFill>
            <a:prstDash val="solid"/>
          </a:ln>
        </p:spPr>
      </p:sp>
      <p:sp>
        <p:nvSpPr>
          <p:cNvPr id="19" name="Text 17"/>
          <p:cNvSpPr txBox="1"/>
          <p:nvPr/>
        </p:nvSpPr>
        <p:spPr>
          <a:xfrm>
            <a:off x="548640" y="5184648"/>
            <a:ext cx="1645920" cy="548640"/>
          </a:xfrm>
          <a:prstGeom prst="rect">
            <a:avLst/>
          </a:prstGeom>
          <a:noFill/>
          <a:ln/>
        </p:spPr>
        <p:txBody>
          <a:bodyPr wrap="square" lIns="0" tIns="0" rIns="0" bIns="0" rtlCol="0" anchor="ctr"/>
          <a:lstStyle/>
          <a:p>
            <a:pPr indent="0" marL="0">
              <a:buNone/>
            </a:pPr>
            <a:r>
              <a:rPr lang="en-US" sz="2000" b="1" dirty="0">
                <a:solidFill>
                  <a:srgbClr val="0A6EBD"/>
                </a:solidFill>
                <a:latin typeface="Arial" pitchFamily="34" charset="0"/>
                <a:ea typeface="Arial" pitchFamily="34" charset="-122"/>
                <a:cs typeface="Arial" pitchFamily="34" charset="-120"/>
              </a:rPr>
              <a:t>MT5</a:t>
            </a:r>
            <a:endParaRPr lang="en-US" sz="2000" dirty="0"/>
          </a:p>
        </p:txBody>
      </p:sp>
      <p:sp>
        <p:nvSpPr>
          <p:cNvPr id="20" name="Text 18"/>
          <p:cNvSpPr txBox="1"/>
          <p:nvPr/>
        </p:nvSpPr>
        <p:spPr>
          <a:xfrm>
            <a:off x="2286000" y="5184648"/>
            <a:ext cx="4297680" cy="548640"/>
          </a:xfrm>
          <a:prstGeom prst="rect">
            <a:avLst/>
          </a:prstGeom>
          <a:noFill/>
          <a:ln/>
        </p:spPr>
        <p:txBody>
          <a:bodyPr wrap="square" lIns="0" tIns="0" rIns="0" bIns="0" rtlCol="0" anchor="ctr"/>
          <a:lstStyle/>
          <a:p>
            <a:pPr indent="0" marL="0">
              <a:buNone/>
            </a:pPr>
            <a:r>
              <a:rPr lang="en-US" sz="1300" dirty="0">
                <a:solidFill>
                  <a:srgbClr val="1F2933"/>
                </a:solidFill>
                <a:latin typeface="Arial" pitchFamily="34" charset="0"/>
                <a:ea typeface="Arial" pitchFamily="34" charset="-122"/>
                <a:cs typeface="Arial" pitchFamily="34" charset="-120"/>
              </a:rPr>
              <a:t>kế hoạch thực nghiệm với ngưỡng đo được</a:t>
            </a:r>
            <a:endParaRPr lang="en-US" sz="1300" dirty="0"/>
          </a:p>
        </p:txBody>
      </p:sp>
      <p:sp>
        <p:nvSpPr>
          <p:cNvPr id="21" name="Shape 19"/>
          <p:cNvSpPr/>
          <p:nvPr/>
        </p:nvSpPr>
        <p:spPr>
          <a:xfrm>
            <a:off x="7223760" y="1508760"/>
            <a:ext cx="4419295" cy="4663440"/>
          </a:xfrm>
          <a:prstGeom prst="roundRect">
            <a:avLst>
              <a:gd name="adj" fmla="val 1241"/>
            </a:avLst>
          </a:prstGeom>
          <a:solidFill>
            <a:srgbClr val="F3F6F9"/>
          </a:solidFill>
          <a:ln/>
        </p:spPr>
      </p:sp>
      <p:sp>
        <p:nvSpPr>
          <p:cNvPr id="22" name="Text 20"/>
          <p:cNvSpPr txBox="1"/>
          <p:nvPr/>
        </p:nvSpPr>
        <p:spPr>
          <a:xfrm>
            <a:off x="7498080" y="1691640"/>
            <a:ext cx="3870655" cy="365760"/>
          </a:xfrm>
          <a:prstGeom prst="rect">
            <a:avLst/>
          </a:prstGeom>
          <a:noFill/>
          <a:ln/>
        </p:spPr>
        <p:txBody>
          <a:bodyPr wrap="square" lIns="0" tIns="0" rIns="0" bIns="0" rtlCol="0" anchor="t"/>
          <a:lstStyle/>
          <a:p>
            <a:pPr indent="0" marL="0">
              <a:buNone/>
            </a:pPr>
            <a:r>
              <a:rPr lang="en-US" sz="1500" b="1" dirty="0">
                <a:solidFill>
                  <a:srgbClr val="0B2E4F"/>
                </a:solidFill>
                <a:latin typeface="Arial" pitchFamily="34" charset="0"/>
                <a:ea typeface="Arial" pitchFamily="34" charset="-122"/>
                <a:cs typeface="Arial" pitchFamily="34" charset="-120"/>
              </a:rPr>
              <a:t>Ngoài phạm vi đề tài</a:t>
            </a:r>
            <a:endParaRPr lang="en-US" sz="1500" dirty="0"/>
          </a:p>
        </p:txBody>
      </p:sp>
      <p:sp>
        <p:nvSpPr>
          <p:cNvPr id="23" name="Shape 21"/>
          <p:cNvSpPr/>
          <p:nvPr/>
        </p:nvSpPr>
        <p:spPr>
          <a:xfrm>
            <a:off x="7498080" y="2240280"/>
            <a:ext cx="1866748" cy="438912"/>
          </a:xfrm>
          <a:prstGeom prst="roundRect">
            <a:avLst>
              <a:gd name="adj" fmla="val 50000"/>
            </a:avLst>
          </a:prstGeom>
          <a:solidFill>
            <a:srgbClr val="FFFFFF"/>
          </a:solidFill>
          <a:ln w="12700">
            <a:solidFill>
              <a:srgbClr val="D5DCE4"/>
            </a:solidFill>
            <a:prstDash val="solid"/>
          </a:ln>
        </p:spPr>
      </p:sp>
      <p:sp>
        <p:nvSpPr>
          <p:cNvPr id="24" name="Text 22"/>
          <p:cNvSpPr txBox="1"/>
          <p:nvPr/>
        </p:nvSpPr>
        <p:spPr>
          <a:xfrm>
            <a:off x="7498080" y="2240280"/>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Nhân sự, tiền lương</a:t>
            </a:r>
            <a:endParaRPr lang="en-US" sz="1150" dirty="0"/>
          </a:p>
        </p:txBody>
      </p:sp>
      <p:sp>
        <p:nvSpPr>
          <p:cNvPr id="25" name="Shape 23"/>
          <p:cNvSpPr/>
          <p:nvPr/>
        </p:nvSpPr>
        <p:spPr>
          <a:xfrm>
            <a:off x="9501988" y="2240280"/>
            <a:ext cx="1866748" cy="438912"/>
          </a:xfrm>
          <a:prstGeom prst="roundRect">
            <a:avLst>
              <a:gd name="adj" fmla="val 50000"/>
            </a:avLst>
          </a:prstGeom>
          <a:solidFill>
            <a:srgbClr val="FFFFFF"/>
          </a:solidFill>
          <a:ln w="12700">
            <a:solidFill>
              <a:srgbClr val="D5DCE4"/>
            </a:solidFill>
            <a:prstDash val="solid"/>
          </a:ln>
        </p:spPr>
      </p:sp>
      <p:sp>
        <p:nvSpPr>
          <p:cNvPr id="26" name="Text 24"/>
          <p:cNvSpPr txBox="1"/>
          <p:nvPr/>
        </p:nvSpPr>
        <p:spPr>
          <a:xfrm>
            <a:off x="9501988" y="2240280"/>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CRM</a:t>
            </a:r>
            <a:endParaRPr lang="en-US" sz="1150" dirty="0"/>
          </a:p>
        </p:txBody>
      </p:sp>
      <p:sp>
        <p:nvSpPr>
          <p:cNvPr id="27" name="Shape 25"/>
          <p:cNvSpPr/>
          <p:nvPr/>
        </p:nvSpPr>
        <p:spPr>
          <a:xfrm>
            <a:off x="7498080" y="2807208"/>
            <a:ext cx="1866748" cy="438912"/>
          </a:xfrm>
          <a:prstGeom prst="roundRect">
            <a:avLst>
              <a:gd name="adj" fmla="val 50000"/>
            </a:avLst>
          </a:prstGeom>
          <a:solidFill>
            <a:srgbClr val="FFFFFF"/>
          </a:solidFill>
          <a:ln w="12700">
            <a:solidFill>
              <a:srgbClr val="D5DCE4"/>
            </a:solidFill>
            <a:prstDash val="solid"/>
          </a:ln>
        </p:spPr>
      </p:sp>
      <p:sp>
        <p:nvSpPr>
          <p:cNvPr id="28" name="Text 26"/>
          <p:cNvSpPr txBox="1"/>
          <p:nvPr/>
        </p:nvSpPr>
        <p:spPr>
          <a:xfrm>
            <a:off x="7498080" y="2807208"/>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Khuyến mãi, giảm giá</a:t>
            </a:r>
            <a:endParaRPr lang="en-US" sz="1150" dirty="0"/>
          </a:p>
        </p:txBody>
      </p:sp>
      <p:sp>
        <p:nvSpPr>
          <p:cNvPr id="29" name="Shape 27"/>
          <p:cNvSpPr/>
          <p:nvPr/>
        </p:nvSpPr>
        <p:spPr>
          <a:xfrm>
            <a:off x="9501988" y="2807208"/>
            <a:ext cx="1866748" cy="438912"/>
          </a:xfrm>
          <a:prstGeom prst="roundRect">
            <a:avLst>
              <a:gd name="adj" fmla="val 50000"/>
            </a:avLst>
          </a:prstGeom>
          <a:solidFill>
            <a:srgbClr val="FFFFFF"/>
          </a:solidFill>
          <a:ln w="12700">
            <a:solidFill>
              <a:srgbClr val="D5DCE4"/>
            </a:solidFill>
            <a:prstDash val="solid"/>
          </a:ln>
        </p:spPr>
      </p:sp>
      <p:sp>
        <p:nvSpPr>
          <p:cNvPr id="30" name="Text 28"/>
          <p:cNvSpPr txBox="1"/>
          <p:nvPr/>
        </p:nvSpPr>
        <p:spPr>
          <a:xfrm>
            <a:off x="9501988" y="2807208"/>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Thanh toán thẻ</a:t>
            </a:r>
            <a:endParaRPr lang="en-US" sz="1150" dirty="0"/>
          </a:p>
        </p:txBody>
      </p:sp>
      <p:sp>
        <p:nvSpPr>
          <p:cNvPr id="31" name="Shape 29"/>
          <p:cNvSpPr/>
          <p:nvPr/>
        </p:nvSpPr>
        <p:spPr>
          <a:xfrm>
            <a:off x="7498080" y="3374136"/>
            <a:ext cx="1866748" cy="438912"/>
          </a:xfrm>
          <a:prstGeom prst="roundRect">
            <a:avLst>
              <a:gd name="adj" fmla="val 50000"/>
            </a:avLst>
          </a:prstGeom>
          <a:solidFill>
            <a:srgbClr val="FFFFFF"/>
          </a:solidFill>
          <a:ln w="12700">
            <a:solidFill>
              <a:srgbClr val="D5DCE4"/>
            </a:solidFill>
            <a:prstDash val="solid"/>
          </a:ln>
        </p:spPr>
      </p:sp>
      <p:sp>
        <p:nvSpPr>
          <p:cNvPr id="32" name="Text 30"/>
          <p:cNvSpPr txBox="1"/>
          <p:nvPr/>
        </p:nvSpPr>
        <p:spPr>
          <a:xfrm>
            <a:off x="7498080" y="3374136"/>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VAT tách dòng</a:t>
            </a:r>
            <a:endParaRPr lang="en-US" sz="1150" dirty="0"/>
          </a:p>
        </p:txBody>
      </p:sp>
      <p:sp>
        <p:nvSpPr>
          <p:cNvPr id="33" name="Shape 31"/>
          <p:cNvSpPr/>
          <p:nvPr/>
        </p:nvSpPr>
        <p:spPr>
          <a:xfrm>
            <a:off x="9501988" y="3374136"/>
            <a:ext cx="1866748" cy="438912"/>
          </a:xfrm>
          <a:prstGeom prst="roundRect">
            <a:avLst>
              <a:gd name="adj" fmla="val 50000"/>
            </a:avLst>
          </a:prstGeom>
          <a:solidFill>
            <a:srgbClr val="FFFFFF"/>
          </a:solidFill>
          <a:ln w="12700">
            <a:solidFill>
              <a:srgbClr val="D5DCE4"/>
            </a:solidFill>
            <a:prstDash val="solid"/>
          </a:ln>
        </p:spPr>
      </p:sp>
      <p:sp>
        <p:nvSpPr>
          <p:cNvPr id="34" name="Text 32"/>
          <p:cNvSpPr txBox="1"/>
          <p:nvPr/>
        </p:nvSpPr>
        <p:spPr>
          <a:xfrm>
            <a:off x="9501988" y="3374136"/>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Phân ca, chốt ca</a:t>
            </a:r>
            <a:endParaRPr lang="en-US" sz="1150" dirty="0"/>
          </a:p>
        </p:txBody>
      </p:sp>
      <p:sp>
        <p:nvSpPr>
          <p:cNvPr id="35" name="Shape 33"/>
          <p:cNvSpPr/>
          <p:nvPr/>
        </p:nvSpPr>
        <p:spPr>
          <a:xfrm>
            <a:off x="7498080" y="3941064"/>
            <a:ext cx="1866748" cy="438912"/>
          </a:xfrm>
          <a:prstGeom prst="roundRect">
            <a:avLst>
              <a:gd name="adj" fmla="val 50000"/>
            </a:avLst>
          </a:prstGeom>
          <a:solidFill>
            <a:srgbClr val="FFFFFF"/>
          </a:solidFill>
          <a:ln w="12700">
            <a:solidFill>
              <a:srgbClr val="D5DCE4"/>
            </a:solidFill>
            <a:prstDash val="solid"/>
          </a:ln>
        </p:spPr>
      </p:sp>
      <p:sp>
        <p:nvSpPr>
          <p:cNvPr id="36" name="Text 34"/>
          <p:cNvSpPr txBox="1"/>
          <p:nvPr/>
        </p:nvSpPr>
        <p:spPr>
          <a:xfrm>
            <a:off x="7498080" y="3941064"/>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Nhiều chi nhánh</a:t>
            </a:r>
            <a:endParaRPr lang="en-US" sz="1150" dirty="0"/>
          </a:p>
        </p:txBody>
      </p:sp>
      <p:sp>
        <p:nvSpPr>
          <p:cNvPr id="37" name="Shape 35"/>
          <p:cNvSpPr/>
          <p:nvPr/>
        </p:nvSpPr>
        <p:spPr>
          <a:xfrm>
            <a:off x="9501988" y="3941064"/>
            <a:ext cx="1866748" cy="438912"/>
          </a:xfrm>
          <a:prstGeom prst="roundRect">
            <a:avLst>
              <a:gd name="adj" fmla="val 50000"/>
            </a:avLst>
          </a:prstGeom>
          <a:solidFill>
            <a:srgbClr val="FFFFFF"/>
          </a:solidFill>
          <a:ln w="12700">
            <a:solidFill>
              <a:srgbClr val="D5DCE4"/>
            </a:solidFill>
            <a:prstDash val="solid"/>
          </a:ln>
        </p:spPr>
      </p:sp>
      <p:sp>
        <p:nvSpPr>
          <p:cNvPr id="38" name="Text 36"/>
          <p:cNvSpPr txBox="1"/>
          <p:nvPr/>
        </p:nvSpPr>
        <p:spPr>
          <a:xfrm>
            <a:off x="9501988" y="3941064"/>
            <a:ext cx="1866748" cy="438912"/>
          </a:xfrm>
          <a:prstGeom prst="rect">
            <a:avLst/>
          </a:prstGeom>
          <a:noFill/>
          <a:ln/>
        </p:spPr>
        <p:txBody>
          <a:bodyPr wrap="square" lIns="0" tIns="0" rIns="0" bIns="0" rtlCol="0" anchor="ctr"/>
          <a:lstStyle/>
          <a:p>
            <a:pPr algn="ctr" indent="0" marL="0">
              <a:buNone/>
            </a:pPr>
            <a:r>
              <a:rPr lang="en-US" sz="1150" dirty="0">
                <a:solidFill>
                  <a:srgbClr val="5B6573"/>
                </a:solidFill>
                <a:latin typeface="Arial" pitchFamily="34" charset="0"/>
                <a:ea typeface="Arial" pitchFamily="34" charset="-122"/>
                <a:cs typeface="Arial" pitchFamily="34" charset="-120"/>
              </a:rPr>
              <a:t>Driver máy in nhiệt</a:t>
            </a:r>
            <a:endParaRPr lang="en-US" sz="1150" dirty="0"/>
          </a:p>
        </p:txBody>
      </p:sp>
      <p:sp>
        <p:nvSpPr>
          <p:cNvPr id="39" name="Text 37"/>
          <p:cNvSpPr txBox="1"/>
          <p:nvPr/>
        </p:nvSpPr>
        <p:spPr>
          <a:xfrm>
            <a:off x="7498080" y="4663440"/>
            <a:ext cx="3870655" cy="128016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Khảo sát mới có 7 chủ/quản lý và chọn mẫu thuận tiện; các tỷ lệ chỉ phản ánh nhóm đã tham gia.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KẾT LUẬN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800" b="1" dirty="0">
                <a:solidFill>
                  <a:srgbClr val="0B2E4F"/>
                </a:solidFill>
                <a:latin typeface="Arial" pitchFamily="34" charset="0"/>
                <a:ea typeface="Arial" pitchFamily="34" charset="-122"/>
                <a:cs typeface="Arial" pitchFamily="34" charset="-120"/>
              </a:rPr>
              <a:t>Lộ trình giai đoạn tiếp theo</a:t>
            </a:r>
            <a:endParaRPr lang="en-US" sz="28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sp>
        <p:nvSpPr>
          <p:cNvPr id="5" name="Text 3"/>
          <p:cNvSpPr txBox="1"/>
          <p:nvPr/>
        </p:nvSpPr>
        <p:spPr>
          <a:xfrm>
            <a:off x="9814255" y="6419088"/>
            <a:ext cx="1828800" cy="256032"/>
          </a:xfrm>
          <a:prstGeom prst="rect">
            <a:avLst/>
          </a:prstGeom>
          <a:noFill/>
          <a:ln/>
        </p:spPr>
        <p:txBody>
          <a:bodyPr wrap="square" lIns="0" tIns="0" rIns="0" bIns="0" rtlCol="0" anchor="t"/>
          <a:lstStyle/>
          <a:p>
            <a:pPr algn="r" indent="0" marL="0">
              <a:buNone/>
            </a:pPr>
            <a:r>
              <a:rPr lang="en-US" sz="900" dirty="0">
                <a:solidFill>
                  <a:srgbClr val="5B6573"/>
                </a:solidFill>
                <a:latin typeface="Arial" pitchFamily="34" charset="0"/>
                <a:ea typeface="Arial" pitchFamily="34" charset="-122"/>
                <a:cs typeface="Arial" pitchFamily="34" charset="-120"/>
              </a:rPr>
              <a:t>21 / 22</a:t>
            </a:r>
            <a:endParaRPr lang="en-US" sz="900" dirty="0"/>
          </a:p>
        </p:txBody>
      </p:sp>
      <p:sp>
        <p:nvSpPr>
          <p:cNvPr id="6" name="Shape 4"/>
          <p:cNvSpPr/>
          <p:nvPr/>
        </p:nvSpPr>
        <p:spPr>
          <a:xfrm>
            <a:off x="1371600" y="2651760"/>
            <a:ext cx="3149498" cy="0"/>
          </a:xfrm>
          <a:prstGeom prst="line">
            <a:avLst/>
          </a:prstGeom>
          <a:noFill/>
          <a:ln w="38100">
            <a:solidFill>
              <a:srgbClr val="0A6EBD"/>
            </a:solidFill>
            <a:prstDash val="solid"/>
          </a:ln>
        </p:spPr>
      </p:sp>
      <p:sp>
        <p:nvSpPr>
          <p:cNvPr id="7" name="Shape 5"/>
          <p:cNvSpPr/>
          <p:nvPr/>
        </p:nvSpPr>
        <p:spPr>
          <a:xfrm>
            <a:off x="4521098" y="2651760"/>
            <a:ext cx="6298997" cy="0"/>
          </a:xfrm>
          <a:prstGeom prst="line">
            <a:avLst/>
          </a:prstGeom>
          <a:noFill/>
          <a:ln w="38100">
            <a:solidFill>
              <a:srgbClr val="D5DCE4"/>
            </a:solidFill>
            <a:prstDash val="dash"/>
          </a:ln>
        </p:spPr>
      </p:sp>
      <p:sp>
        <p:nvSpPr>
          <p:cNvPr id="8" name="Shape 6"/>
          <p:cNvSpPr/>
          <p:nvPr/>
        </p:nvSpPr>
        <p:spPr>
          <a:xfrm>
            <a:off x="1188720" y="2468880"/>
            <a:ext cx="365760" cy="365760"/>
          </a:xfrm>
          <a:prstGeom prst="ellipse">
            <a:avLst/>
          </a:prstGeom>
          <a:solidFill>
            <a:srgbClr val="0A6EBD"/>
          </a:solidFill>
          <a:ln w="19050">
            <a:solidFill>
              <a:srgbClr val="0A6EBD"/>
            </a:solidFill>
            <a:prstDash val="solid"/>
          </a:ln>
        </p:spPr>
      </p:sp>
      <p:sp>
        <p:nvSpPr>
          <p:cNvPr id="9" name="Text 7"/>
          <p:cNvSpPr txBox="1"/>
          <p:nvPr/>
        </p:nvSpPr>
        <p:spPr>
          <a:xfrm>
            <a:off x="640080" y="1965960"/>
            <a:ext cx="1463040" cy="274320"/>
          </a:xfrm>
          <a:prstGeom prst="rect">
            <a:avLst/>
          </a:prstGeom>
          <a:noFill/>
          <a:ln/>
        </p:spPr>
        <p:txBody>
          <a:bodyPr wrap="square" lIns="0" tIns="0" rIns="0" bIns="0" rtlCol="0" anchor="t"/>
          <a:lstStyle/>
          <a:p>
            <a:pPr algn="ctr" indent="0" marL="0">
              <a:buNone/>
            </a:pPr>
            <a:r>
              <a:rPr lang="en-US" sz="1000" b="1" dirty="0">
                <a:solidFill>
                  <a:srgbClr val="0A6EBD"/>
                </a:solidFill>
                <a:latin typeface="Arial" pitchFamily="34" charset="0"/>
                <a:ea typeface="Arial" pitchFamily="34" charset="-122"/>
                <a:cs typeface="Arial" pitchFamily="34" charset="-120"/>
              </a:rPr>
              <a:t>Đã xong</a:t>
            </a:r>
            <a:endParaRPr lang="en-US" sz="1000" dirty="0"/>
          </a:p>
        </p:txBody>
      </p:sp>
      <p:sp>
        <p:nvSpPr>
          <p:cNvPr id="10" name="Text 8"/>
          <p:cNvSpPr txBox="1"/>
          <p:nvPr/>
        </p:nvSpPr>
        <p:spPr>
          <a:xfrm>
            <a:off x="594360" y="2971800"/>
            <a:ext cx="1554480" cy="731520"/>
          </a:xfrm>
          <a:prstGeom prst="rect">
            <a:avLst/>
          </a:prstGeom>
          <a:noFill/>
          <a:ln/>
        </p:spPr>
        <p:txBody>
          <a:bodyPr wrap="square" lIns="0" tIns="0" rIns="0" bIns="0" rtlCol="0" anchor="t"/>
          <a:lstStyle/>
          <a:p>
            <a:pPr algn="ctr" indent="0" marL="0">
              <a:buNone/>
            </a:pPr>
            <a:r>
              <a:rPr lang="en-US" sz="1250" b="1" dirty="0">
                <a:solidFill>
                  <a:srgbClr val="0B2E4F"/>
                </a:solidFill>
                <a:latin typeface="Arial" pitchFamily="34" charset="0"/>
                <a:ea typeface="Arial" pitchFamily="34" charset="-122"/>
                <a:cs typeface="Arial" pitchFamily="34" charset="-120"/>
              </a:rPr>
              <a:t>Khảo sát, đặc tả yêu cầu</a:t>
            </a:r>
            <a:endParaRPr lang="en-US" sz="1250" dirty="0"/>
          </a:p>
        </p:txBody>
      </p:sp>
      <p:sp>
        <p:nvSpPr>
          <p:cNvPr id="11" name="Shape 9"/>
          <p:cNvSpPr/>
          <p:nvPr/>
        </p:nvSpPr>
        <p:spPr>
          <a:xfrm>
            <a:off x="2763469" y="2468880"/>
            <a:ext cx="365760" cy="365760"/>
          </a:xfrm>
          <a:prstGeom prst="ellipse">
            <a:avLst/>
          </a:prstGeom>
          <a:solidFill>
            <a:srgbClr val="0A6EBD"/>
          </a:solidFill>
          <a:ln w="19050">
            <a:solidFill>
              <a:srgbClr val="0A6EBD"/>
            </a:solidFill>
            <a:prstDash val="solid"/>
          </a:ln>
        </p:spPr>
      </p:sp>
      <p:sp>
        <p:nvSpPr>
          <p:cNvPr id="12" name="Text 10"/>
          <p:cNvSpPr txBox="1"/>
          <p:nvPr/>
        </p:nvSpPr>
        <p:spPr>
          <a:xfrm>
            <a:off x="2214829" y="1965960"/>
            <a:ext cx="1463040" cy="274320"/>
          </a:xfrm>
          <a:prstGeom prst="rect">
            <a:avLst/>
          </a:prstGeom>
          <a:noFill/>
          <a:ln/>
        </p:spPr>
        <p:txBody>
          <a:bodyPr wrap="square" lIns="0" tIns="0" rIns="0" bIns="0" rtlCol="0" anchor="t"/>
          <a:lstStyle/>
          <a:p>
            <a:pPr algn="ctr" indent="0" marL="0">
              <a:buNone/>
            </a:pPr>
            <a:r>
              <a:rPr lang="en-US" sz="1000" b="1" dirty="0">
                <a:solidFill>
                  <a:srgbClr val="0A6EBD"/>
                </a:solidFill>
                <a:latin typeface="Arial" pitchFamily="34" charset="0"/>
                <a:ea typeface="Arial" pitchFamily="34" charset="-122"/>
                <a:cs typeface="Arial" pitchFamily="34" charset="-120"/>
              </a:rPr>
              <a:t>Đã xong</a:t>
            </a:r>
            <a:endParaRPr lang="en-US" sz="1000" dirty="0"/>
          </a:p>
        </p:txBody>
      </p:sp>
      <p:sp>
        <p:nvSpPr>
          <p:cNvPr id="13" name="Text 11"/>
          <p:cNvSpPr txBox="1"/>
          <p:nvPr/>
        </p:nvSpPr>
        <p:spPr>
          <a:xfrm>
            <a:off x="2169109" y="2971800"/>
            <a:ext cx="1554480" cy="731520"/>
          </a:xfrm>
          <a:prstGeom prst="rect">
            <a:avLst/>
          </a:prstGeom>
          <a:noFill/>
          <a:ln/>
        </p:spPr>
        <p:txBody>
          <a:bodyPr wrap="square" lIns="0" tIns="0" rIns="0" bIns="0" rtlCol="0" anchor="t"/>
          <a:lstStyle/>
          <a:p>
            <a:pPr algn="ctr" indent="0" marL="0">
              <a:buNone/>
            </a:pPr>
            <a:r>
              <a:rPr lang="en-US" sz="1250" b="1" dirty="0">
                <a:solidFill>
                  <a:srgbClr val="0B2E4F"/>
                </a:solidFill>
                <a:latin typeface="Arial" pitchFamily="34" charset="0"/>
                <a:ea typeface="Arial" pitchFamily="34" charset="-122"/>
                <a:cs typeface="Arial" pitchFamily="34" charset="-120"/>
              </a:rPr>
              <a:t>Thiết kế CSDL, kiến trúc</a:t>
            </a:r>
            <a:endParaRPr lang="en-US" sz="1250" dirty="0"/>
          </a:p>
        </p:txBody>
      </p:sp>
      <p:sp>
        <p:nvSpPr>
          <p:cNvPr id="14" name="Shape 12"/>
          <p:cNvSpPr/>
          <p:nvPr/>
        </p:nvSpPr>
        <p:spPr>
          <a:xfrm>
            <a:off x="4338218" y="2468880"/>
            <a:ext cx="365760" cy="365760"/>
          </a:xfrm>
          <a:prstGeom prst="ellipse">
            <a:avLst/>
          </a:prstGeom>
          <a:solidFill>
            <a:srgbClr val="E8590C"/>
          </a:solidFill>
          <a:ln w="19050">
            <a:solidFill>
              <a:srgbClr val="E8590C"/>
            </a:solidFill>
            <a:prstDash val="solid"/>
          </a:ln>
        </p:spPr>
      </p:sp>
      <p:sp>
        <p:nvSpPr>
          <p:cNvPr id="15" name="Text 13"/>
          <p:cNvSpPr txBox="1"/>
          <p:nvPr/>
        </p:nvSpPr>
        <p:spPr>
          <a:xfrm>
            <a:off x="3789578" y="1965960"/>
            <a:ext cx="1463040" cy="274320"/>
          </a:xfrm>
          <a:prstGeom prst="rect">
            <a:avLst/>
          </a:prstGeom>
          <a:noFill/>
          <a:ln/>
        </p:spPr>
        <p:txBody>
          <a:bodyPr wrap="square" lIns="0" tIns="0" rIns="0" bIns="0" rtlCol="0" anchor="t"/>
          <a:lstStyle/>
          <a:p>
            <a:pPr algn="ctr" indent="0" marL="0">
              <a:buNone/>
            </a:pPr>
            <a:r>
              <a:rPr lang="en-US" sz="1000" b="1" dirty="0">
                <a:solidFill>
                  <a:srgbClr val="E8590C"/>
                </a:solidFill>
                <a:latin typeface="Arial" pitchFamily="34" charset="0"/>
                <a:ea typeface="Arial" pitchFamily="34" charset="-122"/>
                <a:cs typeface="Arial" pitchFamily="34" charset="-120"/>
              </a:rPr>
              <a:t>Đang làm</a:t>
            </a:r>
            <a:endParaRPr lang="en-US" sz="1000" dirty="0"/>
          </a:p>
        </p:txBody>
      </p:sp>
      <p:sp>
        <p:nvSpPr>
          <p:cNvPr id="16" name="Text 14"/>
          <p:cNvSpPr txBox="1"/>
          <p:nvPr/>
        </p:nvSpPr>
        <p:spPr>
          <a:xfrm>
            <a:off x="3743858" y="2971800"/>
            <a:ext cx="1554480" cy="731520"/>
          </a:xfrm>
          <a:prstGeom prst="rect">
            <a:avLst/>
          </a:prstGeom>
          <a:noFill/>
          <a:ln/>
        </p:spPr>
        <p:txBody>
          <a:bodyPr wrap="square" lIns="0" tIns="0" rIns="0" bIns="0" rtlCol="0" anchor="t"/>
          <a:lstStyle/>
          <a:p>
            <a:pPr algn="ctr" indent="0" marL="0">
              <a:buNone/>
            </a:pPr>
            <a:r>
              <a:rPr lang="en-US" sz="1250" b="1" dirty="0">
                <a:solidFill>
                  <a:srgbClr val="0B2E4F"/>
                </a:solidFill>
                <a:latin typeface="Arial" pitchFamily="34" charset="0"/>
                <a:ea typeface="Arial" pitchFamily="34" charset="-122"/>
                <a:cs typeface="Arial" pitchFamily="34" charset="-120"/>
              </a:rPr>
              <a:t>Xây dựng module nghiệp vụ</a:t>
            </a:r>
            <a:endParaRPr lang="en-US" sz="1250" dirty="0"/>
          </a:p>
        </p:txBody>
      </p:sp>
      <p:sp>
        <p:nvSpPr>
          <p:cNvPr id="17" name="Shape 15"/>
          <p:cNvSpPr/>
          <p:nvPr/>
        </p:nvSpPr>
        <p:spPr>
          <a:xfrm>
            <a:off x="5912968" y="2468880"/>
            <a:ext cx="365760" cy="365760"/>
          </a:xfrm>
          <a:prstGeom prst="ellipse">
            <a:avLst/>
          </a:prstGeom>
          <a:solidFill>
            <a:srgbClr val="FFFFFF"/>
          </a:solidFill>
          <a:ln w="19050">
            <a:solidFill>
              <a:srgbClr val="5B6573"/>
            </a:solidFill>
            <a:prstDash val="solid"/>
          </a:ln>
        </p:spPr>
      </p:sp>
      <p:sp>
        <p:nvSpPr>
          <p:cNvPr id="18" name="Text 16"/>
          <p:cNvSpPr txBox="1"/>
          <p:nvPr/>
        </p:nvSpPr>
        <p:spPr>
          <a:xfrm>
            <a:off x="5364328" y="1965960"/>
            <a:ext cx="1463040" cy="274320"/>
          </a:xfrm>
          <a:prstGeom prst="rect">
            <a:avLst/>
          </a:prstGeom>
          <a:noFill/>
          <a:ln/>
        </p:spPr>
        <p:txBody>
          <a:bodyPr wrap="square" lIns="0" tIns="0" rIns="0" bIns="0" rtlCol="0" anchor="t"/>
          <a:lstStyle/>
          <a:p>
            <a:pPr algn="ctr" indent="0" marL="0">
              <a:buNone/>
            </a:pPr>
            <a:r>
              <a:rPr lang="en-US" sz="1000" b="1" dirty="0">
                <a:solidFill>
                  <a:srgbClr val="5B6573"/>
                </a:solidFill>
                <a:latin typeface="Arial" pitchFamily="34" charset="0"/>
                <a:ea typeface="Arial" pitchFamily="34" charset="-122"/>
                <a:cs typeface="Arial" pitchFamily="34" charset="-120"/>
              </a:rPr>
              <a:t>Tiếp theo</a:t>
            </a:r>
            <a:endParaRPr lang="en-US" sz="1000" dirty="0"/>
          </a:p>
        </p:txBody>
      </p:sp>
      <p:sp>
        <p:nvSpPr>
          <p:cNvPr id="19" name="Text 17"/>
          <p:cNvSpPr txBox="1"/>
          <p:nvPr/>
        </p:nvSpPr>
        <p:spPr>
          <a:xfrm>
            <a:off x="5318608" y="2971800"/>
            <a:ext cx="1554480" cy="731520"/>
          </a:xfrm>
          <a:prstGeom prst="rect">
            <a:avLst/>
          </a:prstGeom>
          <a:noFill/>
          <a:ln/>
        </p:spPr>
        <p:txBody>
          <a:bodyPr wrap="square" lIns="0" tIns="0" rIns="0" bIns="0" rtlCol="0" anchor="t"/>
          <a:lstStyle/>
          <a:p>
            <a:pPr algn="ctr" indent="0" marL="0">
              <a:buNone/>
            </a:pPr>
            <a:r>
              <a:rPr lang="en-US" sz="1250" dirty="0">
                <a:solidFill>
                  <a:srgbClr val="0B2E4F"/>
                </a:solidFill>
                <a:latin typeface="Arial" pitchFamily="34" charset="0"/>
                <a:ea typeface="Arial" pitchFamily="34" charset="-122"/>
                <a:cs typeface="Arial" pitchFamily="34" charset="-120"/>
              </a:rPr>
              <a:t>Tích hợp AI Assistant</a:t>
            </a:r>
            <a:endParaRPr lang="en-US" sz="1250" dirty="0"/>
          </a:p>
        </p:txBody>
      </p:sp>
      <p:sp>
        <p:nvSpPr>
          <p:cNvPr id="20" name="Shape 18"/>
          <p:cNvSpPr/>
          <p:nvPr/>
        </p:nvSpPr>
        <p:spPr>
          <a:xfrm>
            <a:off x="7487717" y="2468880"/>
            <a:ext cx="365760" cy="365760"/>
          </a:xfrm>
          <a:prstGeom prst="ellipse">
            <a:avLst/>
          </a:prstGeom>
          <a:solidFill>
            <a:srgbClr val="FFFFFF"/>
          </a:solidFill>
          <a:ln w="19050">
            <a:solidFill>
              <a:srgbClr val="5B6573"/>
            </a:solidFill>
            <a:prstDash val="solid"/>
          </a:ln>
        </p:spPr>
      </p:sp>
      <p:sp>
        <p:nvSpPr>
          <p:cNvPr id="21" name="Text 19"/>
          <p:cNvSpPr txBox="1"/>
          <p:nvPr/>
        </p:nvSpPr>
        <p:spPr>
          <a:xfrm>
            <a:off x="6939077" y="1965960"/>
            <a:ext cx="1463040" cy="274320"/>
          </a:xfrm>
          <a:prstGeom prst="rect">
            <a:avLst/>
          </a:prstGeom>
          <a:noFill/>
          <a:ln/>
        </p:spPr>
        <p:txBody>
          <a:bodyPr wrap="square" lIns="0" tIns="0" rIns="0" bIns="0" rtlCol="0" anchor="t"/>
          <a:lstStyle/>
          <a:p>
            <a:pPr algn="ctr" indent="0" marL="0">
              <a:buNone/>
            </a:pPr>
            <a:r>
              <a:rPr lang="en-US" sz="1000" b="1" dirty="0">
                <a:solidFill>
                  <a:srgbClr val="5B6573"/>
                </a:solidFill>
                <a:latin typeface="Arial" pitchFamily="34" charset="0"/>
                <a:ea typeface="Arial" pitchFamily="34" charset="-122"/>
                <a:cs typeface="Arial" pitchFamily="34" charset="-120"/>
              </a:rPr>
              <a:t>Tiếp theo</a:t>
            </a:r>
            <a:endParaRPr lang="en-US" sz="1000" dirty="0"/>
          </a:p>
        </p:txBody>
      </p:sp>
      <p:sp>
        <p:nvSpPr>
          <p:cNvPr id="22" name="Text 20"/>
          <p:cNvSpPr txBox="1"/>
          <p:nvPr/>
        </p:nvSpPr>
        <p:spPr>
          <a:xfrm>
            <a:off x="6893357" y="2971800"/>
            <a:ext cx="1554480" cy="731520"/>
          </a:xfrm>
          <a:prstGeom prst="rect">
            <a:avLst/>
          </a:prstGeom>
          <a:noFill/>
          <a:ln/>
        </p:spPr>
        <p:txBody>
          <a:bodyPr wrap="square" lIns="0" tIns="0" rIns="0" bIns="0" rtlCol="0" anchor="t"/>
          <a:lstStyle/>
          <a:p>
            <a:pPr algn="ctr" indent="0" marL="0">
              <a:buNone/>
            </a:pPr>
            <a:r>
              <a:rPr lang="en-US" sz="1250" dirty="0">
                <a:solidFill>
                  <a:srgbClr val="0B2E4F"/>
                </a:solidFill>
                <a:latin typeface="Arial" pitchFamily="34" charset="0"/>
                <a:ea typeface="Arial" pitchFamily="34" charset="-122"/>
                <a:cs typeface="Arial" pitchFamily="34" charset="-120"/>
              </a:rPr>
              <a:t>Thực nghiệm A/B/C</a:t>
            </a:r>
            <a:endParaRPr lang="en-US" sz="1250" dirty="0"/>
          </a:p>
        </p:txBody>
      </p:sp>
      <p:sp>
        <p:nvSpPr>
          <p:cNvPr id="23" name="Shape 21"/>
          <p:cNvSpPr/>
          <p:nvPr/>
        </p:nvSpPr>
        <p:spPr>
          <a:xfrm>
            <a:off x="9062466" y="2468880"/>
            <a:ext cx="365760" cy="365760"/>
          </a:xfrm>
          <a:prstGeom prst="ellipse">
            <a:avLst/>
          </a:prstGeom>
          <a:solidFill>
            <a:srgbClr val="FFFFFF"/>
          </a:solidFill>
          <a:ln w="19050">
            <a:solidFill>
              <a:srgbClr val="5B6573"/>
            </a:solidFill>
            <a:prstDash val="solid"/>
          </a:ln>
        </p:spPr>
      </p:sp>
      <p:sp>
        <p:nvSpPr>
          <p:cNvPr id="24" name="Text 22"/>
          <p:cNvSpPr txBox="1"/>
          <p:nvPr/>
        </p:nvSpPr>
        <p:spPr>
          <a:xfrm>
            <a:off x="8513826" y="1965960"/>
            <a:ext cx="1463040" cy="274320"/>
          </a:xfrm>
          <a:prstGeom prst="rect">
            <a:avLst/>
          </a:prstGeom>
          <a:noFill/>
          <a:ln/>
        </p:spPr>
        <p:txBody>
          <a:bodyPr wrap="square" lIns="0" tIns="0" rIns="0" bIns="0" rtlCol="0" anchor="t"/>
          <a:lstStyle/>
          <a:p>
            <a:pPr algn="ctr" indent="0" marL="0">
              <a:buNone/>
            </a:pPr>
            <a:r>
              <a:rPr lang="en-US" sz="1000" b="1" dirty="0">
                <a:solidFill>
                  <a:srgbClr val="5B6573"/>
                </a:solidFill>
                <a:latin typeface="Arial" pitchFamily="34" charset="0"/>
                <a:ea typeface="Arial" pitchFamily="34" charset="-122"/>
                <a:cs typeface="Arial" pitchFamily="34" charset="-120"/>
              </a:rPr>
              <a:t>Tiếp theo</a:t>
            </a:r>
            <a:endParaRPr lang="en-US" sz="1000" dirty="0"/>
          </a:p>
        </p:txBody>
      </p:sp>
      <p:sp>
        <p:nvSpPr>
          <p:cNvPr id="25" name="Text 23"/>
          <p:cNvSpPr txBox="1"/>
          <p:nvPr/>
        </p:nvSpPr>
        <p:spPr>
          <a:xfrm>
            <a:off x="8468106" y="2971800"/>
            <a:ext cx="1554480" cy="731520"/>
          </a:xfrm>
          <a:prstGeom prst="rect">
            <a:avLst/>
          </a:prstGeom>
          <a:noFill/>
          <a:ln/>
        </p:spPr>
        <p:txBody>
          <a:bodyPr wrap="square" lIns="0" tIns="0" rIns="0" bIns="0" rtlCol="0" anchor="t"/>
          <a:lstStyle/>
          <a:p>
            <a:pPr algn="ctr" indent="0" marL="0">
              <a:buNone/>
            </a:pPr>
            <a:r>
              <a:rPr lang="en-US" sz="1250" dirty="0">
                <a:solidFill>
                  <a:srgbClr val="0B2E4F"/>
                </a:solidFill>
                <a:latin typeface="Arial" pitchFamily="34" charset="0"/>
                <a:ea typeface="Arial" pitchFamily="34" charset="-122"/>
                <a:cs typeface="Arial" pitchFamily="34" charset="-120"/>
              </a:rPr>
              <a:t>Kiểm thử, SUS, UAT</a:t>
            </a:r>
            <a:endParaRPr lang="en-US" sz="1250" dirty="0"/>
          </a:p>
        </p:txBody>
      </p:sp>
      <p:sp>
        <p:nvSpPr>
          <p:cNvPr id="26" name="Shape 24"/>
          <p:cNvSpPr/>
          <p:nvPr/>
        </p:nvSpPr>
        <p:spPr>
          <a:xfrm>
            <a:off x="10637215" y="2468880"/>
            <a:ext cx="365760" cy="365760"/>
          </a:xfrm>
          <a:prstGeom prst="ellipse">
            <a:avLst/>
          </a:prstGeom>
          <a:solidFill>
            <a:srgbClr val="FFFFFF"/>
          </a:solidFill>
          <a:ln w="19050">
            <a:solidFill>
              <a:srgbClr val="5B6573"/>
            </a:solidFill>
            <a:prstDash val="solid"/>
          </a:ln>
        </p:spPr>
      </p:sp>
      <p:sp>
        <p:nvSpPr>
          <p:cNvPr id="27" name="Text 25"/>
          <p:cNvSpPr txBox="1"/>
          <p:nvPr/>
        </p:nvSpPr>
        <p:spPr>
          <a:xfrm>
            <a:off x="10088575" y="1965960"/>
            <a:ext cx="1463040" cy="274320"/>
          </a:xfrm>
          <a:prstGeom prst="rect">
            <a:avLst/>
          </a:prstGeom>
          <a:noFill/>
          <a:ln/>
        </p:spPr>
        <p:txBody>
          <a:bodyPr wrap="square" lIns="0" tIns="0" rIns="0" bIns="0" rtlCol="0" anchor="t"/>
          <a:lstStyle/>
          <a:p>
            <a:pPr algn="ctr" indent="0" marL="0">
              <a:buNone/>
            </a:pPr>
            <a:r>
              <a:rPr lang="en-US" sz="1000" b="1" dirty="0">
                <a:solidFill>
                  <a:srgbClr val="5B6573"/>
                </a:solidFill>
                <a:latin typeface="Arial" pitchFamily="34" charset="0"/>
                <a:ea typeface="Arial" pitchFamily="34" charset="-122"/>
                <a:cs typeface="Arial" pitchFamily="34" charset="-120"/>
              </a:rPr>
              <a:t>Tiếp theo</a:t>
            </a:r>
            <a:endParaRPr lang="en-US" sz="1000" dirty="0"/>
          </a:p>
        </p:txBody>
      </p:sp>
      <p:sp>
        <p:nvSpPr>
          <p:cNvPr id="28" name="Text 26"/>
          <p:cNvSpPr txBox="1"/>
          <p:nvPr/>
        </p:nvSpPr>
        <p:spPr>
          <a:xfrm>
            <a:off x="10042855" y="2971800"/>
            <a:ext cx="1554480" cy="731520"/>
          </a:xfrm>
          <a:prstGeom prst="rect">
            <a:avLst/>
          </a:prstGeom>
          <a:noFill/>
          <a:ln/>
        </p:spPr>
        <p:txBody>
          <a:bodyPr wrap="square" lIns="0" tIns="0" rIns="0" bIns="0" rtlCol="0" anchor="t"/>
          <a:lstStyle/>
          <a:p>
            <a:pPr algn="ctr" indent="0" marL="0">
              <a:buNone/>
            </a:pPr>
            <a:r>
              <a:rPr lang="en-US" sz="1250" dirty="0">
                <a:solidFill>
                  <a:srgbClr val="0B2E4F"/>
                </a:solidFill>
                <a:latin typeface="Arial" pitchFamily="34" charset="0"/>
                <a:ea typeface="Arial" pitchFamily="34" charset="-122"/>
                <a:cs typeface="Arial" pitchFamily="34" charset="-120"/>
              </a:rPr>
              <a:t>Hoàn thiện báo cáo</a:t>
            </a:r>
            <a:endParaRPr lang="en-US" sz="1250" dirty="0"/>
          </a:p>
        </p:txBody>
      </p:sp>
      <p:sp>
        <p:nvSpPr>
          <p:cNvPr id="29" name="Shape 27"/>
          <p:cNvSpPr/>
          <p:nvPr/>
        </p:nvSpPr>
        <p:spPr>
          <a:xfrm>
            <a:off x="548640" y="4069080"/>
            <a:ext cx="11094415" cy="1920240"/>
          </a:xfrm>
          <a:prstGeom prst="roundRect">
            <a:avLst>
              <a:gd name="adj" fmla="val 2857"/>
            </a:avLst>
          </a:prstGeom>
          <a:solidFill>
            <a:srgbClr val="E8F1FA"/>
          </a:solidFill>
          <a:ln/>
        </p:spPr>
      </p:sp>
      <p:sp>
        <p:nvSpPr>
          <p:cNvPr id="30" name="Text 28"/>
          <p:cNvSpPr txBox="1"/>
          <p:nvPr/>
        </p:nvSpPr>
        <p:spPr>
          <a:xfrm>
            <a:off x="868680" y="4251960"/>
            <a:ext cx="10454335" cy="365760"/>
          </a:xfrm>
          <a:prstGeom prst="rect">
            <a:avLst/>
          </a:prstGeom>
          <a:noFill/>
          <a:ln/>
        </p:spPr>
        <p:txBody>
          <a:bodyPr wrap="square" lIns="0" tIns="0" rIns="0" bIns="0" rtlCol="0" anchor="t"/>
          <a:lstStyle/>
          <a:p>
            <a:pPr indent="0" marL="0">
              <a:buNone/>
            </a:pPr>
            <a:r>
              <a:rPr lang="en-US" sz="1600" b="1" dirty="0">
                <a:solidFill>
                  <a:srgbClr val="0B2E4F"/>
                </a:solidFill>
                <a:latin typeface="Arial" pitchFamily="34" charset="0"/>
                <a:ea typeface="Arial" pitchFamily="34" charset="-122"/>
                <a:cs typeface="Arial" pitchFamily="34" charset="-120"/>
              </a:rPr>
              <a:t>Ở buổi báo cáo tiếp theo, nhóm sẽ trình bày</a:t>
            </a:r>
            <a:endParaRPr lang="en-US" sz="1600" dirty="0"/>
          </a:p>
        </p:txBody>
      </p:sp>
      <p:sp>
        <p:nvSpPr>
          <p:cNvPr id="31" name="Text 29"/>
          <p:cNvSpPr txBox="1"/>
          <p:nvPr/>
        </p:nvSpPr>
        <p:spPr>
          <a:xfrm>
            <a:off x="868680" y="4754880"/>
            <a:ext cx="3240938" cy="320040"/>
          </a:xfrm>
          <a:prstGeom prst="rect">
            <a:avLst/>
          </a:prstGeom>
          <a:noFill/>
          <a:ln/>
        </p:spPr>
        <p:txBody>
          <a:bodyPr wrap="square" lIns="0" tIns="0" rIns="0" bIns="0" rtlCol="0" anchor="t"/>
          <a:lstStyle/>
          <a:p>
            <a:pPr indent="0" marL="0">
              <a:buNone/>
            </a:pPr>
            <a:r>
              <a:rPr lang="en-US" sz="1400" b="1" dirty="0">
                <a:solidFill>
                  <a:srgbClr val="0A6EBD"/>
                </a:solidFill>
                <a:latin typeface="Arial" pitchFamily="34" charset="0"/>
                <a:ea typeface="Arial" pitchFamily="34" charset="-122"/>
                <a:cs typeface="Arial" pitchFamily="34" charset="-120"/>
              </a:rPr>
              <a:t>Hệ thống chạy được</a:t>
            </a:r>
            <a:endParaRPr lang="en-US" sz="1400" dirty="0"/>
          </a:p>
        </p:txBody>
      </p:sp>
      <p:sp>
        <p:nvSpPr>
          <p:cNvPr id="32" name="Text 30"/>
          <p:cNvSpPr txBox="1"/>
          <p:nvPr/>
        </p:nvSpPr>
        <p:spPr>
          <a:xfrm>
            <a:off x="868680" y="5120640"/>
            <a:ext cx="3240938" cy="91440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đủ 6 module, demo theo đúng các luồng nghiệp vụ đã đặc tả</a:t>
            </a:r>
            <a:endParaRPr lang="en-US" sz="1250" dirty="0"/>
          </a:p>
        </p:txBody>
      </p:sp>
      <p:sp>
        <p:nvSpPr>
          <p:cNvPr id="33" name="Text 31"/>
          <p:cNvSpPr txBox="1"/>
          <p:nvPr/>
        </p:nvSpPr>
        <p:spPr>
          <a:xfrm>
            <a:off x="4475378" y="4754880"/>
            <a:ext cx="3240938" cy="320040"/>
          </a:xfrm>
          <a:prstGeom prst="rect">
            <a:avLst/>
          </a:prstGeom>
          <a:noFill/>
          <a:ln/>
        </p:spPr>
        <p:txBody>
          <a:bodyPr wrap="square" lIns="0" tIns="0" rIns="0" bIns="0" rtlCol="0" anchor="t"/>
          <a:lstStyle/>
          <a:p>
            <a:pPr indent="0" marL="0">
              <a:buNone/>
            </a:pPr>
            <a:r>
              <a:rPr lang="en-US" sz="1400" b="1" dirty="0">
                <a:solidFill>
                  <a:srgbClr val="0A6EBD"/>
                </a:solidFill>
                <a:latin typeface="Arial" pitchFamily="34" charset="0"/>
                <a:ea typeface="Arial" pitchFamily="34" charset="-122"/>
                <a:cs typeface="Arial" pitchFamily="34" charset="-120"/>
              </a:rPr>
              <a:t>Kết quả thực nghiệm</a:t>
            </a:r>
            <a:endParaRPr lang="en-US" sz="1400" dirty="0"/>
          </a:p>
        </p:txBody>
      </p:sp>
      <p:sp>
        <p:nvSpPr>
          <p:cNvPr id="34" name="Text 32"/>
          <p:cNvSpPr txBox="1"/>
          <p:nvPr/>
        </p:nvSpPr>
        <p:spPr>
          <a:xfrm>
            <a:off x="4475378" y="5120640"/>
            <a:ext cx="3240938" cy="91440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độ chính xác, thời gian phản hồi của 3 cấu hình A/B/C so với MT5</a:t>
            </a:r>
            <a:endParaRPr lang="en-US" sz="1250" dirty="0"/>
          </a:p>
        </p:txBody>
      </p:sp>
      <p:sp>
        <p:nvSpPr>
          <p:cNvPr id="35" name="Text 33"/>
          <p:cNvSpPr txBox="1"/>
          <p:nvPr/>
        </p:nvSpPr>
        <p:spPr>
          <a:xfrm>
            <a:off x="8082077" y="4754880"/>
            <a:ext cx="3240938" cy="320040"/>
          </a:xfrm>
          <a:prstGeom prst="rect">
            <a:avLst/>
          </a:prstGeom>
          <a:noFill/>
          <a:ln/>
        </p:spPr>
        <p:txBody>
          <a:bodyPr wrap="square" lIns="0" tIns="0" rIns="0" bIns="0" rtlCol="0" anchor="t"/>
          <a:lstStyle/>
          <a:p>
            <a:pPr indent="0" marL="0">
              <a:buNone/>
            </a:pPr>
            <a:r>
              <a:rPr lang="en-US" sz="1400" b="1" dirty="0">
                <a:solidFill>
                  <a:srgbClr val="0A6EBD"/>
                </a:solidFill>
                <a:latin typeface="Arial" pitchFamily="34" charset="0"/>
                <a:ea typeface="Arial" pitchFamily="34" charset="-122"/>
                <a:cs typeface="Arial" pitchFamily="34" charset="-120"/>
              </a:rPr>
              <a:t>Đánh giá người dùng</a:t>
            </a:r>
            <a:endParaRPr lang="en-US" sz="1400" dirty="0"/>
          </a:p>
        </p:txBody>
      </p:sp>
      <p:sp>
        <p:nvSpPr>
          <p:cNvPr id="36" name="Text 34"/>
          <p:cNvSpPr txBox="1"/>
          <p:nvPr/>
        </p:nvSpPr>
        <p:spPr>
          <a:xfrm>
            <a:off x="8082077" y="5120640"/>
            <a:ext cx="3240938" cy="914400"/>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kết quả test case theo module, điểm SUS và biên bản UAT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E4F"/>
        </a:solidFill>
      </p:bgPr>
    </p:bg>
    <p:spTree>
      <p:nvGrpSpPr>
        <p:cNvPr id="1" name=""/>
        <p:cNvGrpSpPr/>
        <p:nvPr/>
      </p:nvGrpSpPr>
      <p:grpSpPr>
        <a:xfrm>
          <a:off x="0" y="0"/>
          <a:ext cx="0" cy="0"/>
          <a:chOff x="0" y="0"/>
          <a:chExt cx="0" cy="0"/>
        </a:xfrm>
      </p:grpSpPr>
      <p:pic>
        <p:nvPicPr>
          <p:cNvPr id="2" name="Image 0" descr="/Users/nmh/work/Mac/NMHx/Personal/KLTN/docs/Images/image1.png">    </p:cNvPr>
          <p:cNvPicPr>
            <a:picLocks noChangeAspect="1"/>
          </p:cNvPicPr>
          <p:nvPr/>
        </p:nvPicPr>
        <p:blipFill>
          <a:blip r:embed="rId1"/>
          <a:stretch>
            <a:fillRect/>
          </a:stretch>
        </p:blipFill>
        <p:spPr>
          <a:xfrm>
            <a:off x="548640" y="548640"/>
            <a:ext cx="640080" cy="690160"/>
          </a:xfrm>
          <a:prstGeom prst="rect">
            <a:avLst/>
          </a:prstGeom>
        </p:spPr>
      </p:pic>
      <p:sp>
        <p:nvSpPr>
          <p:cNvPr id="3" name="Text 0"/>
          <p:cNvSpPr txBox="1"/>
          <p:nvPr/>
        </p:nvSpPr>
        <p:spPr>
          <a:xfrm>
            <a:off x="548640" y="2194560"/>
            <a:ext cx="9144000" cy="10058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Cảm ơn thầy cô đã lắng nghe</a:t>
            </a:r>
            <a:endParaRPr lang="en-US" sz="4400" dirty="0"/>
          </a:p>
        </p:txBody>
      </p:sp>
      <p:sp>
        <p:nvSpPr>
          <p:cNvPr id="4" name="Text 1"/>
          <p:cNvSpPr txBox="1"/>
          <p:nvPr/>
        </p:nvSpPr>
        <p:spPr>
          <a:xfrm>
            <a:off x="548640" y="3246120"/>
            <a:ext cx="9144000" cy="457200"/>
          </a:xfrm>
          <a:prstGeom prst="rect">
            <a:avLst/>
          </a:prstGeom>
          <a:noFill/>
          <a:ln/>
        </p:spPr>
        <p:txBody>
          <a:bodyPr wrap="square" lIns="0" tIns="0" rIns="0" bIns="0" rtlCol="0" anchor="t"/>
          <a:lstStyle/>
          <a:p>
            <a:pPr indent="0" marL="0">
              <a:buNone/>
            </a:pPr>
            <a:r>
              <a:rPr lang="en-US" sz="1800" dirty="0">
                <a:solidFill>
                  <a:srgbClr val="BFD7EE"/>
                </a:solidFill>
                <a:latin typeface="Arial" pitchFamily="34" charset="0"/>
                <a:ea typeface="Arial" pitchFamily="34" charset="-122"/>
                <a:cs typeface="Arial" pitchFamily="34" charset="-120"/>
              </a:rPr>
              <a:t>Nhóm rất mong nhận được câu hỏi và góp ý của hội đồng.</a:t>
            </a:r>
            <a:endParaRPr lang="en-US" sz="1800" dirty="0"/>
          </a:p>
        </p:txBody>
      </p:sp>
      <p:sp>
        <p:nvSpPr>
          <p:cNvPr id="5" name="Shape 2"/>
          <p:cNvSpPr/>
          <p:nvPr/>
        </p:nvSpPr>
        <p:spPr>
          <a:xfrm>
            <a:off x="548640" y="4297680"/>
            <a:ext cx="5029200" cy="0"/>
          </a:xfrm>
          <a:prstGeom prst="line">
            <a:avLst/>
          </a:prstGeom>
          <a:noFill/>
          <a:ln w="9525">
            <a:solidFill>
              <a:srgbClr val="2A5680"/>
            </a:solidFill>
            <a:prstDash val="solid"/>
          </a:ln>
        </p:spPr>
      </p:sp>
      <p:sp>
        <p:nvSpPr>
          <p:cNvPr id="6" name="Text 3"/>
          <p:cNvSpPr txBox="1"/>
          <p:nvPr/>
        </p:nvSpPr>
        <p:spPr>
          <a:xfrm>
            <a:off x="548640" y="4480560"/>
            <a:ext cx="91440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Lê Nam Khánh  ·  Nguyễn Mạnh Hùng  ·  Lê Nho Minh</a:t>
            </a:r>
            <a:endParaRPr lang="en-US" sz="1400" dirty="0"/>
          </a:p>
        </p:txBody>
      </p:sp>
      <p:sp>
        <p:nvSpPr>
          <p:cNvPr id="7" name="Text 4"/>
          <p:cNvSpPr txBox="1"/>
          <p:nvPr/>
        </p:nvSpPr>
        <p:spPr>
          <a:xfrm>
            <a:off x="548640" y="4892040"/>
            <a:ext cx="10058400" cy="365760"/>
          </a:xfrm>
          <a:prstGeom prst="rect">
            <a:avLst/>
          </a:prstGeom>
          <a:noFill/>
          <a:ln/>
        </p:spPr>
        <p:txBody>
          <a:bodyPr wrap="square" lIns="0" tIns="0" rIns="0" bIns="0" rtlCol="0" anchor="t"/>
          <a:lstStyle/>
          <a:p>
            <a:pPr indent="0" marL="0">
              <a:buNone/>
            </a:pPr>
            <a:r>
              <a:rPr lang="en-US" sz="1200" dirty="0">
                <a:solidFill>
                  <a:srgbClr val="BFD7EE"/>
                </a:solidFill>
                <a:latin typeface="Arial" pitchFamily="34" charset="0"/>
                <a:ea typeface="Arial" pitchFamily="34" charset="-122"/>
                <a:cs typeface="Arial" pitchFamily="34" charset="-120"/>
              </a:rPr>
              <a:t>GVHD: ThS. Trịnh Thị Xuân  ·  Khoa Công nghệ Thông tin, Trường Đại học Mở Hà Nội</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377440"/>
            <a:ext cx="7315200" cy="365760"/>
          </a:xfrm>
          <a:prstGeom prst="rect">
            <a:avLst/>
          </a:prstGeom>
          <a:noFill/>
          <a:ln/>
        </p:spPr>
        <p:txBody>
          <a:bodyPr wrap="square" lIns="0" tIns="0" rIns="0" bIns="0" rtlCol="0" anchor="t"/>
          <a:lstStyle/>
          <a:p>
            <a:pPr indent="0" marL="0">
              <a:buNone/>
            </a:pPr>
            <a:r>
              <a:rPr lang="en-US" sz="1300" b="1" spc="300" kern="0" dirty="0">
                <a:solidFill>
                  <a:srgbClr val="0A6EBD"/>
                </a:solidFill>
                <a:latin typeface="Arial" pitchFamily="34" charset="0"/>
                <a:ea typeface="Arial" pitchFamily="34" charset="-122"/>
                <a:cs typeface="Arial" pitchFamily="34" charset="-120"/>
              </a:rPr>
              <a:t>PHỤ LỤC</a:t>
            </a:r>
            <a:endParaRPr lang="en-US" sz="1300" dirty="0"/>
          </a:p>
        </p:txBody>
      </p:sp>
      <p:sp>
        <p:nvSpPr>
          <p:cNvPr id="3" name="Text 1"/>
          <p:cNvSpPr txBox="1"/>
          <p:nvPr/>
        </p:nvSpPr>
        <p:spPr>
          <a:xfrm>
            <a:off x="548640" y="2743200"/>
            <a:ext cx="9144000" cy="822960"/>
          </a:xfrm>
          <a:prstGeom prst="rect">
            <a:avLst/>
          </a:prstGeom>
          <a:noFill/>
          <a:ln/>
        </p:spPr>
        <p:txBody>
          <a:bodyPr wrap="square" lIns="0" tIns="0" rIns="0" bIns="0" rtlCol="0" anchor="t"/>
          <a:lstStyle/>
          <a:p>
            <a:pPr indent="0" marL="0">
              <a:buNone/>
            </a:pPr>
            <a:r>
              <a:rPr lang="en-US" sz="4000" b="1" dirty="0">
                <a:solidFill>
                  <a:srgbClr val="0B2E4F"/>
                </a:solidFill>
                <a:latin typeface="Arial" pitchFamily="34" charset="0"/>
                <a:ea typeface="Arial" pitchFamily="34" charset="-122"/>
                <a:cs typeface="Arial" pitchFamily="34" charset="-120"/>
              </a:rPr>
              <a:t>Sơ đồ chi tiết</a:t>
            </a:r>
            <a:endParaRPr lang="en-US" sz="4000" dirty="0"/>
          </a:p>
        </p:txBody>
      </p:sp>
      <p:sp>
        <p:nvSpPr>
          <p:cNvPr id="4" name="Text 2"/>
          <p:cNvSpPr txBox="1"/>
          <p:nvPr/>
        </p:nvSpPr>
        <p:spPr>
          <a:xfrm>
            <a:off x="548640" y="3611880"/>
            <a:ext cx="9144000" cy="365760"/>
          </a:xfrm>
          <a:prstGeom prst="rect">
            <a:avLst/>
          </a:prstGeom>
          <a:noFill/>
          <a:ln/>
        </p:spPr>
        <p:txBody>
          <a:bodyPr wrap="square" lIns="0" tIns="0" rIns="0" bIns="0" rtlCol="0" anchor="t"/>
          <a:lstStyle/>
          <a:p>
            <a:pPr indent="0" marL="0">
              <a:buNone/>
            </a:pPr>
            <a:r>
              <a:rPr lang="en-US" sz="1500" dirty="0">
                <a:solidFill>
                  <a:srgbClr val="5B6573"/>
                </a:solidFill>
                <a:latin typeface="Arial" pitchFamily="34" charset="0"/>
                <a:ea typeface="Arial" pitchFamily="34" charset="-122"/>
                <a:cs typeface="Arial" pitchFamily="34" charset="-120"/>
              </a:rPr>
              <a:t>Use Case theo module · Class Diagram theo module · Sequence Diagram</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USE CASE</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Quản lý danh mục</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3.png">    </p:cNvPr>
          <p:cNvPicPr>
            <a:picLocks noChangeAspect="1"/>
          </p:cNvPicPr>
          <p:nvPr/>
        </p:nvPicPr>
        <p:blipFill>
          <a:blip r:embed="rId1"/>
          <a:stretch>
            <a:fillRect/>
          </a:stretch>
        </p:blipFill>
        <p:spPr>
          <a:xfrm>
            <a:off x="4264716" y="1371600"/>
            <a:ext cx="3662263" cy="49377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USE CASE</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Bán hàng</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4.png">    </p:cNvPr>
          <p:cNvPicPr>
            <a:picLocks noChangeAspect="1"/>
          </p:cNvPicPr>
          <p:nvPr/>
        </p:nvPicPr>
        <p:blipFill>
          <a:blip r:embed="rId1"/>
          <a:stretch>
            <a:fillRect/>
          </a:stretch>
        </p:blipFill>
        <p:spPr>
          <a:xfrm>
            <a:off x="3222892" y="1566765"/>
            <a:ext cx="5745911" cy="454742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USE CASE</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Quản lý kho</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5.png">    </p:cNvPr>
          <p:cNvPicPr>
            <a:picLocks noChangeAspect="1"/>
          </p:cNvPicPr>
          <p:nvPr/>
        </p:nvPicPr>
        <p:blipFill>
          <a:blip r:embed="rId1"/>
          <a:stretch>
            <a:fillRect/>
          </a:stretch>
        </p:blipFill>
        <p:spPr>
          <a:xfrm>
            <a:off x="3452034" y="1371600"/>
            <a:ext cx="5287628" cy="49377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USE CASE</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Báo cáo</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6.png">    </p:cNvPr>
          <p:cNvPicPr>
            <a:picLocks noChangeAspect="1"/>
          </p:cNvPicPr>
          <p:nvPr/>
        </p:nvPicPr>
        <p:blipFill>
          <a:blip r:embed="rId1"/>
          <a:stretch>
            <a:fillRect/>
          </a:stretch>
        </p:blipFill>
        <p:spPr>
          <a:xfrm>
            <a:off x="2925899" y="1376576"/>
            <a:ext cx="6339898" cy="492780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USE CASE</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Cài đặt</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7.png">    </p:cNvPr>
          <p:cNvPicPr>
            <a:picLocks noChangeAspect="1"/>
          </p:cNvPicPr>
          <p:nvPr/>
        </p:nvPicPr>
        <p:blipFill>
          <a:blip r:embed="rId1"/>
          <a:stretch>
            <a:fillRect/>
          </a:stretch>
        </p:blipFill>
        <p:spPr>
          <a:xfrm>
            <a:off x="4135959" y="1499641"/>
            <a:ext cx="3919777" cy="468167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USE CASE</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AI Assistant</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8.png">    </p:cNvPr>
          <p:cNvPicPr>
            <a:picLocks noChangeAspect="1"/>
          </p:cNvPicPr>
          <p:nvPr/>
        </p:nvPicPr>
        <p:blipFill>
          <a:blip r:embed="rId1"/>
          <a:stretch>
            <a:fillRect/>
          </a:stretch>
        </p:blipFill>
        <p:spPr>
          <a:xfrm>
            <a:off x="548640" y="1581885"/>
            <a:ext cx="11094415" cy="45171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CLASS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Module Cài đặt hệ thống</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9.png">    </p:cNvPr>
          <p:cNvPicPr>
            <a:picLocks noChangeAspect="1"/>
          </p:cNvPicPr>
          <p:nvPr/>
        </p:nvPicPr>
        <p:blipFill>
          <a:blip r:embed="rId1"/>
          <a:stretch>
            <a:fillRect/>
          </a:stretch>
        </p:blipFill>
        <p:spPr>
          <a:xfrm>
            <a:off x="3045130" y="1371600"/>
            <a:ext cx="6101436" cy="49377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CLASS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Module Quản lý danh mục</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0.png">    </p:cNvPr>
          <p:cNvPicPr>
            <a:picLocks noChangeAspect="1"/>
          </p:cNvPicPr>
          <p:nvPr/>
        </p:nvPicPr>
        <p:blipFill>
          <a:blip r:embed="rId1"/>
          <a:stretch>
            <a:fillRect/>
          </a:stretch>
        </p:blipFill>
        <p:spPr>
          <a:xfrm>
            <a:off x="3264893" y="1371600"/>
            <a:ext cx="5661908" cy="49377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CLASS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Module Quản lý bán hàng</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1.png">    </p:cNvPr>
          <p:cNvPicPr>
            <a:picLocks noChangeAspect="1"/>
          </p:cNvPicPr>
          <p:nvPr/>
        </p:nvPicPr>
        <p:blipFill>
          <a:blip r:embed="rId1"/>
          <a:stretch>
            <a:fillRect/>
          </a:stretch>
        </p:blipFill>
        <p:spPr>
          <a:xfrm>
            <a:off x="3952569" y="1371600"/>
            <a:ext cx="4286557" cy="49377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CLASS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Module Quản lý kho</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2.png">    </p:cNvPr>
          <p:cNvPicPr>
            <a:picLocks noChangeAspect="1"/>
          </p:cNvPicPr>
          <p:nvPr/>
        </p:nvPicPr>
        <p:blipFill>
          <a:blip r:embed="rId1"/>
          <a:stretch>
            <a:fillRect/>
          </a:stretch>
        </p:blipFill>
        <p:spPr>
          <a:xfrm>
            <a:off x="3085291" y="1371600"/>
            <a:ext cx="6021113" cy="49377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CLASS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Module AI Assistant</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3.png">    </p:cNvPr>
          <p:cNvPicPr>
            <a:picLocks noChangeAspect="1"/>
          </p:cNvPicPr>
          <p:nvPr/>
        </p:nvPicPr>
        <p:blipFill>
          <a:blip r:embed="rId1"/>
          <a:stretch>
            <a:fillRect/>
          </a:stretch>
        </p:blipFill>
        <p:spPr>
          <a:xfrm>
            <a:off x="1476542" y="1371600"/>
            <a:ext cx="9238611" cy="49377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SEQUENCE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SD-01 Đăng nhập và phân quyền theo vai trò</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4.png">    </p:cNvPr>
          <p:cNvPicPr>
            <a:picLocks noChangeAspect="1"/>
          </p:cNvPicPr>
          <p:nvPr/>
        </p:nvPicPr>
        <p:blipFill>
          <a:blip r:embed="rId1"/>
          <a:stretch>
            <a:fillRect/>
          </a:stretch>
        </p:blipFill>
        <p:spPr>
          <a:xfrm>
            <a:off x="2687747" y="1371600"/>
            <a:ext cx="6816201" cy="49377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SEQUENCE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SD-02 Lập và gửi order xuống bếp</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5.png">    </p:cNvPr>
          <p:cNvPicPr>
            <a:picLocks noChangeAspect="1"/>
          </p:cNvPicPr>
          <p:nvPr/>
        </p:nvPicPr>
        <p:blipFill>
          <a:blip r:embed="rId1"/>
          <a:stretch>
            <a:fillRect/>
          </a:stretch>
        </p:blipFill>
        <p:spPr>
          <a:xfrm>
            <a:off x="2933330" y="1371600"/>
            <a:ext cx="6325035" cy="49377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SEQUENCE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SD-03a Thanh toán QR: tạo mã, webhook và hết hạn</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6.png">    </p:cNvPr>
          <p:cNvPicPr>
            <a:picLocks noChangeAspect="1"/>
          </p:cNvPicPr>
          <p:nvPr/>
        </p:nvPicPr>
        <p:blipFill>
          <a:blip r:embed="rId1"/>
          <a:stretch>
            <a:fillRect/>
          </a:stretch>
        </p:blipFill>
        <p:spPr>
          <a:xfrm>
            <a:off x="3775135" y="1371600"/>
            <a:ext cx="4641425" cy="49377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SEQUENCE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SD-03b Thanh toán QR: đối soát thủ công</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7.png">    </p:cNvPr>
          <p:cNvPicPr>
            <a:picLocks noChangeAspect="1"/>
          </p:cNvPicPr>
          <p:nvPr/>
        </p:nvPicPr>
        <p:blipFill>
          <a:blip r:embed="rId1"/>
          <a:stretch>
            <a:fillRect/>
          </a:stretch>
        </p:blipFill>
        <p:spPr>
          <a:xfrm>
            <a:off x="2834517" y="1371600"/>
            <a:ext cx="6522660" cy="49377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SEQUENCE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SD-04 Nhập kho và tạo lô nguyên liệu</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8.png">    </p:cNvPr>
          <p:cNvPicPr>
            <a:picLocks noChangeAspect="1"/>
          </p:cNvPicPr>
          <p:nvPr/>
        </p:nvPicPr>
        <p:blipFill>
          <a:blip r:embed="rId1"/>
          <a:stretch>
            <a:fillRect/>
          </a:stretch>
        </p:blipFill>
        <p:spPr>
          <a:xfrm>
            <a:off x="2522954" y="1371600"/>
            <a:ext cx="7145787" cy="49377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0A6EBD"/>
                </a:solidFill>
                <a:latin typeface="Arial" pitchFamily="34" charset="0"/>
                <a:ea typeface="Arial" pitchFamily="34" charset="-122"/>
                <a:cs typeface="Arial" pitchFamily="34" charset="-120"/>
              </a:rPr>
              <a:t>PHỤ LỤC  ·  SEQUENCE DIAGRAM</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2200" b="1" dirty="0">
                <a:solidFill>
                  <a:srgbClr val="0B2E4F"/>
                </a:solidFill>
                <a:latin typeface="Arial" pitchFamily="34" charset="0"/>
                <a:ea typeface="Arial" pitchFamily="34" charset="-122"/>
                <a:cs typeface="Arial" pitchFamily="34" charset="-120"/>
              </a:rPr>
              <a:t>SD-05 Hỏi AI Assistant</a:t>
            </a:r>
            <a:endParaRPr lang="en-US" sz="2200" dirty="0"/>
          </a:p>
        </p:txBody>
      </p:sp>
      <p:sp>
        <p:nvSpPr>
          <p:cNvPr id="4" name="Text 2"/>
          <p:cNvSpPr txBox="1"/>
          <p:nvPr/>
        </p:nvSpPr>
        <p:spPr>
          <a:xfrm>
            <a:off x="548640" y="6419088"/>
            <a:ext cx="7315200" cy="256032"/>
          </a:xfrm>
          <a:prstGeom prst="rect">
            <a:avLst/>
          </a:prstGeom>
          <a:noFill/>
          <a:ln/>
        </p:spPr>
        <p:txBody>
          <a:bodyPr wrap="square" lIns="0" tIns="0" rIns="0" bIns="0" rtlCol="0" anchor="t"/>
          <a:lstStyle/>
          <a:p>
            <a:pPr indent="0" marL="0">
              <a:buNone/>
            </a:pPr>
            <a:r>
              <a:rPr lang="en-US" sz="900" dirty="0">
                <a:solidFill>
                  <a:srgbClr val="5B6573"/>
                </a:solidFill>
                <a:latin typeface="Arial" pitchFamily="34" charset="0"/>
                <a:ea typeface="Arial" pitchFamily="34" charset="-122"/>
                <a:cs typeface="Arial" pitchFamily="34" charset="-120"/>
              </a:rPr>
              <a:t>Hệ thống quản lý nhà hàng tích hợp AI  ·  Khóa luận tốt nghiệp 2026</a:t>
            </a:r>
            <a:endParaRPr lang="en-US" sz="900" dirty="0"/>
          </a:p>
        </p:txBody>
      </p:sp>
      <p:pic>
        <p:nvPicPr>
          <p:cNvPr id="5" name="Image 0" descr="/Users/nmh/work/Mac/NMHx/Personal/KLTN/docs/Images/image19.png">    </p:cNvPr>
          <p:cNvPicPr>
            <a:picLocks noChangeAspect="1"/>
          </p:cNvPicPr>
          <p:nvPr/>
        </p:nvPicPr>
        <p:blipFill>
          <a:blip r:embed="rId1"/>
          <a:stretch>
            <a:fillRect/>
          </a:stretch>
        </p:blipFill>
        <p:spPr>
          <a:xfrm>
            <a:off x="2860353" y="1371600"/>
            <a:ext cx="6470989" cy="4937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quản lý nhà hàng tích hợp AI hỗ trợ hoạt động kinh doanh</dc:title>
  <dc:subject>PptxGenJS Presentation</dc:subject>
  <dc:creator>Lê Nam Khánh, Nguyễn Mạnh Hùng, Lê Nho Minh</dc:creator>
  <cp:lastModifiedBy>Lê Nam Khánh, Nguyễn Mạnh Hùng, Lê Nho Minh</cp:lastModifiedBy>
  <cp:revision>1</cp:revision>
  <dcterms:created xsi:type="dcterms:W3CDTF">2026-09-29T16:45:23Z</dcterms:created>
  <dcterms:modified xsi:type="dcterms:W3CDTF">2026-09-29T16:45:23Z</dcterms:modified>
</cp:coreProperties>
</file>